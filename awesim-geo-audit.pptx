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352"/>
    <p:restoredTop sz="94610"/>
  </p:normalViewPr>
  <p:slideViewPr>
    <p:cSldViewPr snapToGrid="0" snapToObjects="1">
      <p:cViewPr varScale="1">
        <p:scale>
          <a:sx n="159" d="100"/>
          <a:sy n="159" d="100"/>
        </p:scale>
        <p:origin x="184" y="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236885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92608" cy="51435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94360" y="1234440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500" dirty="0">
                <a:solidFill>
                  <a:srgbClr val="94A3B8"/>
                </a:solidFill>
              </a:rPr>
              <a:t>GEO AUDIT REPORT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94360" y="1600200"/>
            <a:ext cx="7132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</a:rPr>
              <a:t>Awesim Building</a:t>
            </a:r>
            <a:endParaRPr lang="en-US" sz="4200" dirty="0"/>
          </a:p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</a:rPr>
              <a:t>Consultants</a:t>
            </a:r>
            <a:endParaRPr lang="en-US" sz="4200" dirty="0"/>
          </a:p>
        </p:txBody>
      </p:sp>
      <p:sp>
        <p:nvSpPr>
          <p:cNvPr id="5" name="Shape 3"/>
          <p:cNvSpPr/>
          <p:nvPr/>
        </p:nvSpPr>
        <p:spPr>
          <a:xfrm>
            <a:off x="594360" y="3200400"/>
            <a:ext cx="2834640" cy="71323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3200400"/>
            <a:ext cx="2834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39 / 100  —  CRITICAL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94360" y="406908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Audit: 20 May 2026   ·   22 pages + 400+ articles   ·   awesim.com.au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120640" y="457200"/>
            <a:ext cx="1719072" cy="1261872"/>
          </a:xfrm>
          <a:prstGeom prst="rect">
            <a:avLst/>
          </a:prstGeom>
          <a:solidFill>
            <a:srgbClr val="2D3F5F"/>
          </a:solidFill>
          <a:ln w="12700">
            <a:solidFill>
              <a:srgbClr val="2D3F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5120640" y="457200"/>
            <a:ext cx="1719072" cy="640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120640" y="548640"/>
            <a:ext cx="1719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D97706"/>
                </a:solidFill>
              </a:rPr>
              <a:t>52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5120640" y="1097280"/>
            <a:ext cx="17190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</a:rPr>
              <a:t>/100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120640" y="1325880"/>
            <a:ext cx="17190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4A3B8"/>
                </a:solidFill>
              </a:rPr>
              <a:t>AI Citability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7040880" y="457200"/>
            <a:ext cx="1719072" cy="1261872"/>
          </a:xfrm>
          <a:prstGeom prst="rect">
            <a:avLst/>
          </a:prstGeom>
          <a:solidFill>
            <a:srgbClr val="2D3F5F"/>
          </a:solidFill>
          <a:ln w="12700">
            <a:solidFill>
              <a:srgbClr val="2D3F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7040880" y="457200"/>
            <a:ext cx="1719072" cy="640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040880" y="548640"/>
            <a:ext cx="1719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DC2626"/>
                </a:solidFill>
              </a:rPr>
              <a:t>24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040880" y="1097280"/>
            <a:ext cx="17190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</a:rPr>
              <a:t>/100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040880" y="1325880"/>
            <a:ext cx="17190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4A3B8"/>
                </a:solidFill>
              </a:rPr>
              <a:t>Brand Authority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5120640" y="1874520"/>
            <a:ext cx="1719072" cy="1261872"/>
          </a:xfrm>
          <a:prstGeom prst="rect">
            <a:avLst/>
          </a:prstGeom>
          <a:solidFill>
            <a:srgbClr val="2D3F5F"/>
          </a:solidFill>
          <a:ln w="12700">
            <a:solidFill>
              <a:srgbClr val="2D3F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5120640" y="1874520"/>
            <a:ext cx="1719072" cy="640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120640" y="1965960"/>
            <a:ext cx="1719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D97706"/>
                </a:solidFill>
              </a:rPr>
              <a:t>54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5120640" y="2514600"/>
            <a:ext cx="17190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</a:rPr>
              <a:t>/100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120640" y="2743200"/>
            <a:ext cx="17190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4A3B8"/>
                </a:solidFill>
              </a:rPr>
              <a:t>Content E-E-A-T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7040880" y="1874520"/>
            <a:ext cx="1719072" cy="1261872"/>
          </a:xfrm>
          <a:prstGeom prst="rect">
            <a:avLst/>
          </a:prstGeom>
          <a:solidFill>
            <a:srgbClr val="2D3F5F"/>
          </a:solidFill>
          <a:ln w="12700">
            <a:solidFill>
              <a:srgbClr val="2D3F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7040880" y="1874520"/>
            <a:ext cx="1719072" cy="640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7040880" y="1965960"/>
            <a:ext cx="1719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D97706"/>
                </a:solidFill>
              </a:rPr>
              <a:t>54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7040880" y="2514600"/>
            <a:ext cx="17190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</a:rPr>
              <a:t>/100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7040880" y="2743200"/>
            <a:ext cx="17190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4A3B8"/>
                </a:solidFill>
              </a:rPr>
              <a:t>Technical GEO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5120640" y="3291840"/>
            <a:ext cx="1719072" cy="1261872"/>
          </a:xfrm>
          <a:prstGeom prst="rect">
            <a:avLst/>
          </a:prstGeom>
          <a:solidFill>
            <a:srgbClr val="2D3F5F"/>
          </a:solidFill>
          <a:ln w="12700">
            <a:solidFill>
              <a:srgbClr val="2D3F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5120640" y="3291840"/>
            <a:ext cx="1719072" cy="640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5120640" y="3383280"/>
            <a:ext cx="1719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DC2626"/>
                </a:solidFill>
              </a:rPr>
              <a:t>4</a:t>
            </a:r>
            <a:endParaRPr lang="en-US" sz="2800" dirty="0"/>
          </a:p>
        </p:txBody>
      </p:sp>
      <p:sp>
        <p:nvSpPr>
          <p:cNvPr id="31" name="Text 29"/>
          <p:cNvSpPr/>
          <p:nvPr/>
        </p:nvSpPr>
        <p:spPr>
          <a:xfrm>
            <a:off x="5120640" y="3931920"/>
            <a:ext cx="17190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</a:rPr>
              <a:t>/100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120640" y="4160520"/>
            <a:ext cx="17190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4A3B8"/>
                </a:solidFill>
              </a:rPr>
              <a:t>Schema &amp; Data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7040880" y="3291840"/>
            <a:ext cx="1719072" cy="1261872"/>
          </a:xfrm>
          <a:prstGeom prst="rect">
            <a:avLst/>
          </a:prstGeom>
          <a:solidFill>
            <a:srgbClr val="2D3F5F"/>
          </a:solidFill>
          <a:ln w="12700">
            <a:solidFill>
              <a:srgbClr val="2D3F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7040880" y="3291840"/>
            <a:ext cx="1719072" cy="640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7040880" y="3383280"/>
            <a:ext cx="1719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DC2626"/>
                </a:solidFill>
              </a:rPr>
              <a:t>22</a:t>
            </a:r>
            <a:endParaRPr lang="en-US" sz="2800" dirty="0"/>
          </a:p>
        </p:txBody>
      </p:sp>
      <p:sp>
        <p:nvSpPr>
          <p:cNvPr id="36" name="Text 34"/>
          <p:cNvSpPr/>
          <p:nvPr/>
        </p:nvSpPr>
        <p:spPr>
          <a:xfrm>
            <a:off x="7040880" y="3931920"/>
            <a:ext cx="17190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</a:rPr>
              <a:t>/100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7040880" y="4160520"/>
            <a:ext cx="17190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94A3B8"/>
                </a:solidFill>
              </a:rPr>
              <a:t>Platform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Executive Summary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896112"/>
            <a:ext cx="3977640" cy="40187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896112"/>
            <a:ext cx="3977640" cy="38404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896112"/>
            <a:ext cx="3977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FFFFFF"/>
                </a:solidFill>
              </a:rPr>
              <a:t>STRENGTHS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11480" y="1316736"/>
            <a:ext cx="3749040" cy="3364992"/>
          </a:xfrm>
          <a:prstGeom prst="rect">
            <a:avLst/>
          </a:prstGeom>
          <a:noFill/>
          <a:ln/>
        </p:spPr>
        <p:txBody>
          <a:bodyPr wrap="square" lIns="25400" tIns="0" rIns="0" bIns="0" rtlCol="0" anchor="t"/>
          <a:lstStyle/>
          <a:p>
            <a:pPr marL="342900" indent="-342900">
              <a:spcAft>
                <a:spcPts val="25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35+ years of genuine expertise depth</a:t>
            </a:r>
            <a:endParaRPr lang="en-US" sz="1100" dirty="0"/>
          </a:p>
          <a:p>
            <a:pPr marL="342900" indent="-342900">
              <a:spcAft>
                <a:spcPts val="25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Specific pricing published ($5,000–$15,000 reports; $550/issue Scott Schedules)</a:t>
            </a:r>
            <a:endParaRPr lang="en-US" sz="1100" dirty="0"/>
          </a:p>
          <a:p>
            <a:pPr marL="342900" indent="-342900">
              <a:spcAft>
                <a:spcPts val="25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400+ article library covering NCAT building disputes</a:t>
            </a:r>
            <a:endParaRPr lang="en-US" sz="1100" dirty="0"/>
          </a:p>
          <a:p>
            <a:pPr marL="342900" indent="-342900">
              <a:spcAft>
                <a:spcPts val="25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Regulatory citations — AS 3740:2021, NCAT Procedural Direction 3</a:t>
            </a:r>
            <a:endParaRPr lang="en-US" sz="1100" dirty="0"/>
          </a:p>
          <a:p>
            <a:pPr marL="342900" indent="-342900">
              <a:spcAft>
                <a:spcPts val="25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4 physical offices across NSW</a:t>
            </a:r>
            <a:endParaRPr lang="en-US" sz="1100" dirty="0"/>
          </a:p>
          <a:p>
            <a:pPr marL="342900" indent="-342900">
              <a:spcAft>
                <a:spcPts val="25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Google Business Profile: 4.5+ stars, Trustindex-verified</a:t>
            </a:r>
            <a:endParaRPr lang="en-US" sz="1100" dirty="0"/>
          </a:p>
          <a:p>
            <a:pPr marL="342900" indent="-342900">
              <a:spcAft>
                <a:spcPts val="25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AllExperts.com.au: 273 cases listed — strong domain authority signal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892040" y="896112"/>
            <a:ext cx="397764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892040" y="896112"/>
            <a:ext cx="3977640" cy="38404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892040" y="896112"/>
            <a:ext cx="3977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FFFFFF"/>
                </a:solidFill>
              </a:rPr>
              <a:t>CRITICAL GAPS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0" y="1316736"/>
            <a:ext cx="3749040" cy="3364992"/>
          </a:xfrm>
          <a:prstGeom prst="rect">
            <a:avLst/>
          </a:prstGeom>
          <a:noFill/>
          <a:ln/>
        </p:spPr>
        <p:txBody>
          <a:bodyPr wrap="square" lIns="25400" tIns="0" rIns="0" bIns="0" rtlCol="0" anchor="t"/>
          <a:lstStyle/>
          <a:p>
            <a:pPr marL="342900" indent="-342900">
              <a:spcAft>
                <a:spcPts val="25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Zero schema markup across all 22 pages</a:t>
            </a:r>
            <a:endParaRPr lang="en-US" sz="1100" dirty="0"/>
          </a:p>
          <a:p>
            <a:pPr marL="342900" indent="-342900">
              <a:spcAft>
                <a:spcPts val="25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AIOSEO Pro installed but producing no schema output</a:t>
            </a:r>
            <a:endParaRPr lang="en-US" sz="1100" dirty="0"/>
          </a:p>
          <a:p>
            <a:pPr marL="342900" indent="-342900">
              <a:spcAft>
                <a:spcPts val="25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No brand presence: Reddit 0 mentions, Wikipedia 0, YouTube dormant</a:t>
            </a:r>
            <a:endParaRPr lang="en-US" sz="1100" dirty="0"/>
          </a:p>
          <a:p>
            <a:pPr marL="342900" indent="-342900">
              <a:spcAft>
                <a:spcPts val="25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Two typos in site description propagate site-wide</a:t>
            </a:r>
            <a:endParaRPr lang="en-US" sz="1100" dirty="0"/>
          </a:p>
          <a:p>
            <a:pPr marL="342900" indent="-342900">
              <a:spcAft>
                <a:spcPts val="25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Organisation name duplicated in every schema block</a:t>
            </a:r>
            <a:endParaRPr lang="en-US" sz="1100" dirty="0"/>
          </a:p>
          <a:p>
            <a:pPr marL="342900" indent="-342900">
              <a:spcAft>
                <a:spcPts val="25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No author attribution on 400+ articles</a:t>
            </a:r>
            <a:endParaRPr lang="en-US" sz="1100" dirty="0"/>
          </a:p>
          <a:p>
            <a:pPr marL="342900" indent="-342900">
              <a:spcAft>
                <a:spcPts val="2500"/>
              </a:spcAft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</a:rPr>
              <a:t>llms.txt exists but uses incorrect format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20040" y="4914900"/>
            <a:ext cx="8503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4A3B8"/>
                </a:solidFill>
              </a:rPr>
              <a:t>GEO Audit Report  ·  Awesim Building Consultants  ·  May 2026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Score Breakdown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20040" y="86868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75569"/>
                </a:solidFill>
              </a:rPr>
              <a:t>Category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246120" y="86868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75569"/>
                </a:solidFill>
              </a:rPr>
              <a:t>Score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74920" y="86868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75569"/>
                </a:solidFill>
              </a:rPr>
              <a:t>Weight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172200" y="86868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75569"/>
                </a:solidFill>
              </a:rPr>
              <a:t>Weighted Score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74320" y="1170432"/>
            <a:ext cx="859536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384048" y="1353312"/>
            <a:ext cx="201168" cy="201168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85800" y="1170432"/>
            <a:ext cx="2468880" cy="53035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AI Citability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246120" y="1371600"/>
            <a:ext cx="1645920" cy="16459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246120" y="1371600"/>
            <a:ext cx="855878" cy="1645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246120" y="1120140"/>
            <a:ext cx="1645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97706"/>
                </a:solidFill>
              </a:rPr>
              <a:t>52/100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074920" y="1170432"/>
            <a:ext cx="1005840" cy="53035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</a:rPr>
              <a:t>25%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172200" y="1371600"/>
            <a:ext cx="2286000" cy="16459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6172200" y="1371600"/>
            <a:ext cx="1188720" cy="1645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172200" y="1170432"/>
            <a:ext cx="2286000" cy="200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</a:rPr>
              <a:t>13.0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74320" y="1746504"/>
            <a:ext cx="8595360" cy="53035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384048" y="1929384"/>
            <a:ext cx="201168" cy="20116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85800" y="1746504"/>
            <a:ext cx="2468880" cy="53035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Brand Authority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246120" y="1947672"/>
            <a:ext cx="1645920" cy="16459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3246120" y="1947672"/>
            <a:ext cx="395021" cy="16459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3246120" y="1715864"/>
            <a:ext cx="1645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C2626"/>
                </a:solidFill>
              </a:rPr>
              <a:t>24/100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074920" y="1746504"/>
            <a:ext cx="1005840" cy="53035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</a:rPr>
              <a:t>20%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172200" y="1947672"/>
            <a:ext cx="2286000" cy="16459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6172200" y="1947672"/>
            <a:ext cx="438912" cy="16459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6172200" y="1746504"/>
            <a:ext cx="2286000" cy="271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</a:rPr>
              <a:t>4.8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274320" y="2322576"/>
            <a:ext cx="859536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384048" y="2505456"/>
            <a:ext cx="201168" cy="201168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685800" y="2322576"/>
            <a:ext cx="2468880" cy="53035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Content E-E-A-T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246120" y="2523744"/>
            <a:ext cx="1645920" cy="16459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3246120" y="2523744"/>
            <a:ext cx="888797" cy="1645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3246120" y="2275573"/>
            <a:ext cx="1645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97706"/>
                </a:solidFill>
              </a:rPr>
              <a:t>54/100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074920" y="2322576"/>
            <a:ext cx="1005840" cy="53035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</a:rPr>
              <a:t>20%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172200" y="2523744"/>
            <a:ext cx="2286000" cy="16459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6172200" y="2523744"/>
            <a:ext cx="987552" cy="1645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6172200" y="2322576"/>
            <a:ext cx="2286000" cy="200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</a:rPr>
              <a:t>10.8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274320" y="2898408"/>
            <a:ext cx="8595360" cy="53035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384048" y="3081528"/>
            <a:ext cx="201168" cy="201168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685800" y="2898648"/>
            <a:ext cx="2468880" cy="53035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Technical GEO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246120" y="3099816"/>
            <a:ext cx="1645920" cy="16459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3246120" y="3099816"/>
            <a:ext cx="888797" cy="1645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3255264" y="2898648"/>
            <a:ext cx="1636776" cy="200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97706"/>
                </a:solidFill>
              </a:rPr>
              <a:t>54/100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5074920" y="2898648"/>
            <a:ext cx="1005840" cy="53035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</a:rPr>
              <a:t>15%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6172200" y="3099816"/>
            <a:ext cx="2286000" cy="16459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6172200" y="3099816"/>
            <a:ext cx="740664" cy="1645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6172200" y="2898648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</a:rPr>
              <a:t>8.1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274320" y="3474720"/>
            <a:ext cx="859536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Shape 47"/>
          <p:cNvSpPr/>
          <p:nvPr/>
        </p:nvSpPr>
        <p:spPr>
          <a:xfrm>
            <a:off x="384048" y="3657600"/>
            <a:ext cx="201168" cy="20116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685800" y="3474720"/>
            <a:ext cx="2468880" cy="53035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Schema &amp; Structured Data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3246120" y="3675888"/>
            <a:ext cx="1645920" cy="16459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Shape 50"/>
          <p:cNvSpPr/>
          <p:nvPr/>
        </p:nvSpPr>
        <p:spPr>
          <a:xfrm>
            <a:off x="3246120" y="3675888"/>
            <a:ext cx="128016" cy="16459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3246120" y="3474720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C2626"/>
                </a:solidFill>
              </a:rPr>
              <a:t>4/100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5074920" y="3474720"/>
            <a:ext cx="1005840" cy="53035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</a:rPr>
              <a:t>10%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6172200" y="3675888"/>
            <a:ext cx="2286000" cy="16459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Shape 54"/>
          <p:cNvSpPr/>
          <p:nvPr/>
        </p:nvSpPr>
        <p:spPr>
          <a:xfrm>
            <a:off x="6172200" y="3675888"/>
            <a:ext cx="128016" cy="16459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Text 55"/>
          <p:cNvSpPr/>
          <p:nvPr/>
        </p:nvSpPr>
        <p:spPr>
          <a:xfrm>
            <a:off x="6172200" y="347472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</a:rPr>
              <a:t>0.4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274320" y="4050792"/>
            <a:ext cx="8595360" cy="53035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Shape 57"/>
          <p:cNvSpPr/>
          <p:nvPr/>
        </p:nvSpPr>
        <p:spPr>
          <a:xfrm>
            <a:off x="384048" y="4233672"/>
            <a:ext cx="201168" cy="20116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Text 58"/>
          <p:cNvSpPr/>
          <p:nvPr/>
        </p:nvSpPr>
        <p:spPr>
          <a:xfrm>
            <a:off x="685800" y="4050792"/>
            <a:ext cx="2468880" cy="53035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</a:rPr>
              <a:t>Platform Optimisation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3246120" y="4251960"/>
            <a:ext cx="1645920" cy="16459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Shape 60"/>
          <p:cNvSpPr/>
          <p:nvPr/>
        </p:nvSpPr>
        <p:spPr>
          <a:xfrm>
            <a:off x="3246120" y="4251960"/>
            <a:ext cx="362102" cy="16459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Text 61"/>
          <p:cNvSpPr/>
          <p:nvPr/>
        </p:nvSpPr>
        <p:spPr>
          <a:xfrm>
            <a:off x="3255264" y="4050792"/>
            <a:ext cx="1636776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C2626"/>
                </a:solidFill>
              </a:rPr>
              <a:t>22/100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5074920" y="4050792"/>
            <a:ext cx="1005840" cy="53035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</a:rPr>
              <a:t>10%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6172200" y="4251960"/>
            <a:ext cx="2286000" cy="164592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Shape 64"/>
          <p:cNvSpPr/>
          <p:nvPr/>
        </p:nvSpPr>
        <p:spPr>
          <a:xfrm>
            <a:off x="6172200" y="4251960"/>
            <a:ext cx="201168" cy="16459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Text 65"/>
          <p:cNvSpPr/>
          <p:nvPr/>
        </p:nvSpPr>
        <p:spPr>
          <a:xfrm>
            <a:off x="6172200" y="4050792"/>
            <a:ext cx="2286000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</a:rPr>
              <a:t>2.2</a:t>
            </a:r>
            <a:endParaRPr lang="en-US" sz="1100" dirty="0"/>
          </a:p>
        </p:txBody>
      </p:sp>
      <p:sp>
        <p:nvSpPr>
          <p:cNvPr id="68" name="Shape 66"/>
          <p:cNvSpPr/>
          <p:nvPr/>
        </p:nvSpPr>
        <p:spPr>
          <a:xfrm>
            <a:off x="274320" y="4700016"/>
            <a:ext cx="8595360" cy="56692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Text 67"/>
          <p:cNvSpPr/>
          <p:nvPr/>
        </p:nvSpPr>
        <p:spPr>
          <a:xfrm>
            <a:off x="502920" y="4700016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OVERALL GEO SCORE</a:t>
            </a:r>
            <a:endParaRPr lang="en-US" sz="1300" dirty="0"/>
          </a:p>
        </p:txBody>
      </p:sp>
      <p:sp>
        <p:nvSpPr>
          <p:cNvPr id="70" name="Text 68"/>
          <p:cNvSpPr/>
          <p:nvPr/>
        </p:nvSpPr>
        <p:spPr>
          <a:xfrm>
            <a:off x="5029200" y="4700016"/>
            <a:ext cx="3749040" cy="56692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r">
              <a:buNone/>
            </a:pPr>
            <a:r>
              <a:rPr lang="en-US" sz="1900" b="1" dirty="0">
                <a:solidFill>
                  <a:srgbClr val="DC2626"/>
                </a:solidFill>
              </a:rPr>
              <a:t>39 / 100  —  CRITICAL</a:t>
            </a:r>
            <a:endParaRPr lang="en-US" sz="1900" dirty="0"/>
          </a:p>
        </p:txBody>
      </p:sp>
      <p:sp>
        <p:nvSpPr>
          <p:cNvPr id="71" name="Shape 69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2" name="Text 70"/>
          <p:cNvSpPr/>
          <p:nvPr/>
        </p:nvSpPr>
        <p:spPr>
          <a:xfrm>
            <a:off x="320040" y="4914900"/>
            <a:ext cx="8503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4A3B8"/>
                </a:solidFill>
              </a:rPr>
              <a:t>GEO Audit Report  ·  Awesim Building Consultants  ·  May 2026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Critical Issues — Fix Immediately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420624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914400"/>
            <a:ext cx="438912" cy="17830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960120"/>
            <a:ext cx="438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C1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04672" y="978408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DC2626"/>
                </a:solidFill>
              </a:rPr>
              <a:t>Zero Schema Markup — Score 4/100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04672" y="1389888"/>
            <a:ext cx="3566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All 22 pages have no JSON-LD, Microdata, or RDFa. AIOSEO Pro is installed but producing no schema output. AI systems cannot identify Awesim as a business entity, extract FAQ answers, attribute content to Glen Sim, or surface pricing data in structured responses.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54880" y="914400"/>
            <a:ext cx="420624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754880" y="914400"/>
            <a:ext cx="438912" cy="17830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754880" y="960120"/>
            <a:ext cx="438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C2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285232" y="978408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DC2626"/>
                </a:solidFill>
              </a:rPr>
              <a:t>Typos in Site Description Propagate Site-Wide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285232" y="1389888"/>
            <a:ext cx="3566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"Witnes" and "Sydne" appear in the AIOSEO site description field, baking both errors into every page's schema description, OG tags, and llms.txt header. A single field correction fixes all instances.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74320" y="2834640"/>
            <a:ext cx="420624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274320" y="2834640"/>
            <a:ext cx="438912" cy="17830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274320" y="2880360"/>
            <a:ext cx="438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C3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04672" y="2898648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DC2626"/>
                </a:solidFill>
              </a:rPr>
              <a:t>Organisation Name Duplicated in All Schema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04672" y="3310128"/>
            <a:ext cx="3566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Every page's schema contains "Awesim Awesim Building Consultants" — the word appears twice. AI systems use this name field as the canonical entity label, meaning any citation could reproduce the malformed name.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54880" y="2834640"/>
            <a:ext cx="420624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754880" y="2834640"/>
            <a:ext cx="438912" cy="17830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754880" y="2880360"/>
            <a:ext cx="438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C4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285232" y="2898648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DC2626"/>
                </a:solidFill>
              </a:rPr>
              <a:t>llms.txt Exists But Fails Standard Format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285232" y="3310128"/>
            <a:ext cx="3566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AIOSEO generated a sitemap list rather than the spec-compliant format supported by Anthropic, Perplexity, and other AI crawlers. No description block, no curated section links, no llms-full.txt companion. AI crawlers receive no prioritisation guidance.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320040" y="4914900"/>
            <a:ext cx="8503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4A3B8"/>
                </a:solidFill>
              </a:rPr>
              <a:t>GEO Audit Report  ·  Awesim Building Consultants  ·  May 2026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High Priority Issues — Fix Within 1 Week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822960"/>
            <a:ext cx="859536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822960"/>
            <a:ext cx="402336" cy="5029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822960"/>
            <a:ext cx="4023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H1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68096" y="822960"/>
            <a:ext cx="260604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D97706"/>
                </a:solidFill>
              </a:rPr>
              <a:t>No AI Crawler Directives in robots.txt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429000" y="822960"/>
            <a:ext cx="534924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No explicit Allow rules for GPTBot, ClaudeBot, PerplexityBot, Google-Extended, or CCBot — no crawl prioritisation control.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74320" y="1371600"/>
            <a:ext cx="8595360" cy="502920"/>
          </a:xfrm>
          <a:prstGeom prst="rect">
            <a:avLst/>
          </a:prstGeom>
          <a:solidFill>
            <a:srgbClr val="FFFBF5"/>
          </a:solidFill>
          <a:ln w="1270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274320" y="1371600"/>
            <a:ext cx="402336" cy="5029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74320" y="1371600"/>
            <a:ext cx="4023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H2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68096" y="1371600"/>
            <a:ext cx="260604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D97706"/>
                </a:solidFill>
              </a:rPr>
              <a:t>No Meta Descriptions on Key Pages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429000" y="1371600"/>
            <a:ext cx="534924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Homepage and multiple service pages have no meta description — no summary representation in AI training or retrieval contexts.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74320" y="1920240"/>
            <a:ext cx="859536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274320" y="1920240"/>
            <a:ext cx="402336" cy="5029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274320" y="1920240"/>
            <a:ext cx="4023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H3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68096" y="1920240"/>
            <a:ext cx="260604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D97706"/>
                </a:solidFill>
              </a:rPr>
              <a:t>No FAQPage Schema Despite 15+ FAQ Items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3429000" y="1920240"/>
            <a:ext cx="534924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Expert witness page has 15+ FAQ items in plain HTML. FAQPage schema directly maps to how AI systems answer "how much does an expert witness cost in NSW?"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74320" y="2468880"/>
            <a:ext cx="8595360" cy="502920"/>
          </a:xfrm>
          <a:prstGeom prst="rect">
            <a:avLst/>
          </a:prstGeom>
          <a:solidFill>
            <a:srgbClr val="FFFBF5"/>
          </a:solidFill>
          <a:ln w="1270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274320" y="2468880"/>
            <a:ext cx="402336" cy="5029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274320" y="2468880"/>
            <a:ext cx="4023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H4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768096" y="2468880"/>
            <a:ext cx="260604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D97706"/>
                </a:solidFill>
              </a:rPr>
              <a:t>Author Attribution Vague or Absent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3429000" y="2468880"/>
            <a:ext cx="534924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400+ articles with zero attribution to Glen Sim. One post attributed to "Audra Awesim" — a pseudonym AI systems cannot cross-reference on LinkedIn or NCAT records.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274320" y="3017520"/>
            <a:ext cx="859536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274320" y="3017520"/>
            <a:ext cx="402336" cy="5029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274320" y="3017520"/>
            <a:ext cx="4023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H5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768096" y="3017520"/>
            <a:ext cx="260604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D97706"/>
                </a:solidFill>
              </a:rPr>
              <a:t>No Industry Body Memberships Visible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3429000" y="3017520"/>
            <a:ext cx="534924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MBA NSW accreditation confirmed via third-party search but not displayed on site. AI systems treat professional association membership as a primary authority signal.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74320" y="3566160"/>
            <a:ext cx="8595360" cy="502920"/>
          </a:xfrm>
          <a:prstGeom prst="rect">
            <a:avLst/>
          </a:prstGeom>
          <a:solidFill>
            <a:srgbClr val="FFFBF5"/>
          </a:solidFill>
          <a:ln w="1270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274320" y="3566160"/>
            <a:ext cx="402336" cy="5029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274320" y="3566160"/>
            <a:ext cx="4023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H6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68096" y="3566160"/>
            <a:ext cx="260604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D97706"/>
                </a:solidFill>
              </a:rPr>
              <a:t>OG Image Too Small (208×88px)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3429000" y="3566160"/>
            <a:ext cx="534924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All pages use the logo as OG image — far below the 1200×630px minimum. Renders broken or tiny in AI-powered link previews and social platforms.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274320" y="4114800"/>
            <a:ext cx="859536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274320" y="4114800"/>
            <a:ext cx="402336" cy="5029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274320" y="4114800"/>
            <a:ext cx="4023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H7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768096" y="4114800"/>
            <a:ext cx="260604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D97706"/>
                </a:solidFill>
              </a:rPr>
              <a:t>Multiple Offices Missing from Schema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3429000" y="4114800"/>
            <a:ext cx="534924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</a:rPr>
              <a:t>Organisation schema only lists Sydney CBD. Bankstown, Tweed Heads, and Tamworth offices are invisible — AI cannot surface Awesim for regional queries.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320040" y="4914900"/>
            <a:ext cx="8503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4A3B8"/>
                </a:solidFill>
              </a:rPr>
              <a:t>GEO Audit Report  ·  Awesim Building Consultants  ·  May 2026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Medium Priority Issues — Fix Within 1 Month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8595360" cy="448056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402336" cy="4480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804672"/>
            <a:ext cx="40233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M1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768096" y="804672"/>
            <a:ext cx="2606040" cy="4480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563EB"/>
                </a:solidFill>
              </a:rPr>
              <a:t>No Verified Testimonials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3429000" y="804672"/>
            <a:ext cx="5349240" cy="4480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</a:rPr>
              <a:t>About page has zero actual testimonials — an active negative signal, not a neutral absence.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74320" y="1289304"/>
            <a:ext cx="8595360" cy="448056"/>
          </a:xfrm>
          <a:prstGeom prst="rect">
            <a:avLst/>
          </a:prstGeom>
          <a:solidFill>
            <a:srgbClr val="F0F7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274320" y="1289304"/>
            <a:ext cx="402336" cy="4480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74320" y="1289304"/>
            <a:ext cx="40233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M2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768096" y="1289304"/>
            <a:ext cx="2606040" cy="4480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563EB"/>
                </a:solidFill>
              </a:rPr>
              <a:t>No Case Studies or Documented Outcomes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429000" y="1289304"/>
            <a:ext cx="5349240" cy="4480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</a:rPr>
              <a:t>Content describes capabilities but never documents specific client situations, actions taken, or outcomes achieved.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74320" y="1773936"/>
            <a:ext cx="8595360" cy="448056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274320" y="1773936"/>
            <a:ext cx="402336" cy="4480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274320" y="1773936"/>
            <a:ext cx="40233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M3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68096" y="1773936"/>
            <a:ext cx="2606040" cy="4480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563EB"/>
                </a:solidFill>
              </a:rPr>
              <a:t>Factual Inconsistency: 20 vs 35+ Years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3429000" y="1773936"/>
            <a:ext cx="5349240" cy="4480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</a:rPr>
              <a:t>About page states 20 years; service pages claim 35+. Internal inconsistency is flagged by AI reliability scoring as a credibility failure.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74320" y="2258568"/>
            <a:ext cx="8595360" cy="448056"/>
          </a:xfrm>
          <a:prstGeom prst="rect">
            <a:avLst/>
          </a:prstGeom>
          <a:solidFill>
            <a:srgbClr val="F0F7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274320" y="2258568"/>
            <a:ext cx="402336" cy="4480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274320" y="2258568"/>
            <a:ext cx="40233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M4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768096" y="2258568"/>
            <a:ext cx="2606040" cy="4480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563EB"/>
                </a:solidFill>
              </a:rPr>
              <a:t>Zero Reddit Presence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3429000" y="2258568"/>
            <a:ext cx="5349240" cy="4480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</a:rPr>
              <a:t>No mentions on r/AusLegal, r/AusPropertyChat, or r/australia — where potential clients ask for NCAT building dispute help.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274320" y="2743200"/>
            <a:ext cx="8595360" cy="448056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274320" y="2743200"/>
            <a:ext cx="402336" cy="4480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274320" y="2743200"/>
            <a:ext cx="40233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M5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768096" y="2743200"/>
            <a:ext cx="2606040" cy="4480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563EB"/>
                </a:solidFill>
              </a:rPr>
              <a:t>No Wikidata Entity — Disambiguation Risk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3429000" y="2743200"/>
            <a:ext cx="5349240" cy="4480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</a:rPr>
              <a:t>"Awesim" may be conflated with Ohio Supercomputer's AweSim or Purism AweSIM without a Wikidata Q-number anchoring the brand.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274320" y="3227832"/>
            <a:ext cx="8595360" cy="448056"/>
          </a:xfrm>
          <a:prstGeom prst="rect">
            <a:avLst/>
          </a:prstGeom>
          <a:solidFill>
            <a:srgbClr val="F0F7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274320" y="3227832"/>
            <a:ext cx="402336" cy="4480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274320" y="3227832"/>
            <a:ext cx="40233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M6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768096" y="3227832"/>
            <a:ext cx="2606040" cy="4480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563EB"/>
                </a:solidFill>
              </a:rPr>
              <a:t>Duplicate Social Profiles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3429000" y="3227832"/>
            <a:ext cx="5349240" cy="4480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</a:rPr>
              <a:t>Two Facebook pages, two LinkedIn profiles, two About.me profiles. Duplicate entity signals reduce AI model confidence in the brand.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274320" y="3712464"/>
            <a:ext cx="8595360" cy="448056"/>
          </a:xfrm>
          <a:prstGeom prst="rect">
            <a:avLst/>
          </a:prstGeom>
          <a:solidFill>
            <a:srgbClr val="FFFF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274320" y="3712464"/>
            <a:ext cx="402336" cy="4480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274320" y="3712464"/>
            <a:ext cx="40233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M7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768096" y="3712464"/>
            <a:ext cx="2606040" cy="4480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563EB"/>
                </a:solidFill>
              </a:rPr>
              <a:t>og:locale Set to en_US Not en_AU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3429000" y="3712464"/>
            <a:ext cx="5349240" cy="4480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</a:rPr>
              <a:t>Open Graph locale and JSON-LD inLanguage both set to en_US. AI systems using locale for geographic routing may deprioritise pages for Australian queries.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274320" y="4197096"/>
            <a:ext cx="8595360" cy="448056"/>
          </a:xfrm>
          <a:prstGeom prst="rect">
            <a:avLst/>
          </a:prstGeom>
          <a:solidFill>
            <a:srgbClr val="F0F7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274320" y="4197096"/>
            <a:ext cx="402336" cy="4480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274320" y="4197096"/>
            <a:ext cx="40233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M8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768096" y="4197096"/>
            <a:ext cx="2606040" cy="4480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563EB"/>
                </a:solidFill>
              </a:rPr>
              <a:t>Elementor HTML Bloat (283KB)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3429000" y="4197096"/>
            <a:ext cx="5349240" cy="4480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</a:rPr>
              <a:t>Expert witness page delivers 289,748 bytes of HTML. Increases crawl times and can affect crawl budget allocation.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320040" y="4914900"/>
            <a:ext cx="8503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4A3B8"/>
                </a:solidFill>
              </a:rPr>
              <a:t>GEO Audit Report  ·  Awesim Building Consultants  ·  May 2026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Quick Wins — Do This Week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841248"/>
            <a:ext cx="2724912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A7F3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02336" y="1024128"/>
            <a:ext cx="384048" cy="384048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02336" y="10241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96112" y="932688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59669"/>
                </a:solidFill>
              </a:rPr>
              <a:t>Fix two typos in site description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02336" y="1463040"/>
            <a:ext cx="25237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</a:rPr>
              <a:t>"Witnes" → "Witness", "Sydne" → "Sydney" in AIOSEO. Cascades to fix schema, OG tags, and llms.txt header in one change.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273552" y="841248"/>
            <a:ext cx="2724912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A7F3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401568" y="1024128"/>
            <a:ext cx="384048" cy="384048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401568" y="10241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895344" y="932688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59669"/>
                </a:solidFill>
              </a:rPr>
              <a:t>Fix Organisation name duplication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401568" y="1463040"/>
            <a:ext cx="25237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</a:rPr>
              <a:t>"Awesim Awesim Building Consultants" → "Awesim Building Consultants" in AIOSEO Knowledge Graph settings.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272784" y="841248"/>
            <a:ext cx="2724912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A7F3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6400800" y="1024128"/>
            <a:ext cx="384048" cy="384048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400800" y="10241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894576" y="932688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59669"/>
                </a:solidFill>
              </a:rPr>
              <a:t>Add AI crawler directives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400800" y="1463040"/>
            <a:ext cx="25237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</a:rPr>
              <a:t>Explicit Allow rules for GPTBot, ClaudeBot, PerplexityBot, Google-Extended, CCBot in robots.txt.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74320" y="2350008"/>
            <a:ext cx="2724912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A7F3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02336" y="2532888"/>
            <a:ext cx="384048" cy="384048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02336" y="2532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96112" y="2441448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59669"/>
                </a:solidFill>
              </a:rPr>
              <a:t>Enable AIOSEO schema output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02336" y="2971800"/>
            <a:ext cx="25237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</a:rPr>
              <a:t>Check Schema → Default Schema Type is not "None." May unlock BreadcrumbList and WebSite schema automatically.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273552" y="2350008"/>
            <a:ext cx="2724912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A7F3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3401568" y="2532888"/>
            <a:ext cx="384048" cy="384048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3401568" y="2532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3895344" y="2441448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59669"/>
                </a:solidFill>
              </a:rPr>
              <a:t>Change og:locale to en_AU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3401568" y="2971800"/>
            <a:ext cx="25237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</a:rPr>
              <a:t>In AIOSEO Social settings and update inLanguage to en-AU. Corrects geographic routing signals for Australian queries.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272784" y="2350008"/>
            <a:ext cx="2724912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A7F3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6400800" y="2532888"/>
            <a:ext cx="384048" cy="384048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6400800" y="2532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6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894576" y="2441448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59669"/>
                </a:solidFill>
              </a:rPr>
              <a:t>Create a Wikidata entity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6400800" y="2971800"/>
            <a:ext cx="252374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</a:rPr>
              <a:t>Resolves brand disambiguation against Ohio Supercomputer's "AweSim" program and Purism AweSIM. Free at wikidata.org.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274320" y="3858768"/>
            <a:ext cx="859536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A7F3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402336" y="4087368"/>
            <a:ext cx="384048" cy="384048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402336" y="4087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7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914400" y="393192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59669"/>
                </a:solidFill>
              </a:rPr>
              <a:t>Write homepage meta description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914400" y="4315968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93B"/>
                </a:solidFill>
              </a:rPr>
              <a:t>"Awesim Building Consultants provides Expert Witness Reports, Scott Schedules, and Quantum Meruit Reports for NCAT disputes across NSW. 35+ years experience, offices in Sydney, Bankstown, Tweed Heads and Tamworth."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320040" y="4914900"/>
            <a:ext cx="8503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4A3B8"/>
                </a:solidFill>
              </a:rPr>
              <a:t>GEO Audit Report  ·  Awesim Building Consultants  ·  May 2026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30-Day Action Plan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868680"/>
            <a:ext cx="2084832" cy="59436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74320" y="886968"/>
            <a:ext cx="2084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200" dirty="0">
                <a:solidFill>
                  <a:srgbClr val="FFFFFF"/>
                </a:solidFill>
              </a:rPr>
              <a:t>WEEK 1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74320" y="1161288"/>
            <a:ext cx="2084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</a:rPr>
              <a:t>Fix the Foundation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74320" y="1463040"/>
            <a:ext cx="2084832" cy="3611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47472" y="1527048"/>
            <a:ext cx="1938528" cy="3493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Fix typos in AIOSEO site description</a:t>
            </a:r>
            <a:endParaRPr lang="en-US" sz="9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Fix Organisation name duplication</a:t>
            </a:r>
            <a:endParaRPr lang="en-US" sz="9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Enable AIOSEO schema output — verify with Rich Results Test</a:t>
            </a:r>
            <a:endParaRPr lang="en-US" sz="9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Add AI crawler directives to robots.txt</a:t>
            </a:r>
            <a:endParaRPr lang="en-US" sz="9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Change og:locale to en_AU</a:t>
            </a:r>
            <a:endParaRPr lang="en-US" sz="9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Create Wikidata entity</a:t>
            </a:r>
            <a:endParaRPr lang="en-US" sz="9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Write meta descriptions for homepage, expert witness, Scott Schedule pages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450592" y="868680"/>
            <a:ext cx="2084832" cy="5943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450592" y="886968"/>
            <a:ext cx="2084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200" dirty="0">
                <a:solidFill>
                  <a:srgbClr val="FFFFFF"/>
                </a:solidFill>
              </a:rPr>
              <a:t>WEEK 2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450592" y="1161288"/>
            <a:ext cx="2084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</a:rPr>
              <a:t>Schema Implementation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450592" y="1463040"/>
            <a:ext cx="2084832" cy="3611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2523744" y="1527048"/>
            <a:ext cx="1938528" cy="3493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Add LocalBusiness + Organisation JSON-LD to homepage</a:t>
            </a:r>
            <a:endParaRPr lang="en-US" sz="9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Add FAQPage JSON-LD to /expert-witness-report/</a:t>
            </a:r>
            <a:endParaRPr lang="en-US" sz="9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Add Person JSON-LD for Glen Sim to /about-us-2/</a:t>
            </a:r>
            <a:endParaRPr lang="en-US" sz="9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Add FAQPage JSON-LD to /scott-schedule/</a:t>
            </a:r>
            <a:endParaRPr lang="en-US" sz="9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Upload 1200×630px OG image</a:t>
            </a:r>
            <a:endParaRPr lang="en-US" sz="9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Replace AIOSEO llms.txt with spec-compliant version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626864" y="868680"/>
            <a:ext cx="2084832" cy="59436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626864" y="886968"/>
            <a:ext cx="2084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200" dirty="0">
                <a:solidFill>
                  <a:srgbClr val="FFFFFF"/>
                </a:solidFill>
              </a:rPr>
              <a:t>WEEK 3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626864" y="1161288"/>
            <a:ext cx="2084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</a:rPr>
              <a:t>Author Attribution &amp; E-E-A-T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626864" y="1463040"/>
            <a:ext cx="2084832" cy="3611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700016" y="1527048"/>
            <a:ext cx="1938528" cy="3493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Set Glen Sim as author on all WordPress posts</a:t>
            </a:r>
            <a:endParaRPr lang="en-US" sz="9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Create /team/glen-sim/ author page with full credentials</a:t>
            </a:r>
            <a:endParaRPr lang="en-US" sz="9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Add Article schema with author reference sitewide</a:t>
            </a:r>
            <a:endParaRPr lang="en-US" sz="9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Standardise experience claim (20 vs 35+ inconsistency)</a:t>
            </a:r>
            <a:endParaRPr lang="en-US" sz="9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Consolidate duplicate social profiles (Facebook, LinkedIn, About.me)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803136" y="868680"/>
            <a:ext cx="2084832" cy="59436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803136" y="886968"/>
            <a:ext cx="2084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200" dirty="0">
                <a:solidFill>
                  <a:srgbClr val="FFFFFF"/>
                </a:solidFill>
              </a:rPr>
              <a:t>WEEK 4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803136" y="1161288"/>
            <a:ext cx="2084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</a:rPr>
              <a:t>Brand Authority &amp; Content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803136" y="1463040"/>
            <a:ext cx="2084832" cy="3611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876288" y="1527048"/>
            <a:ext cx="1938528" cy="3493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Email last 50 satisfied clients requesting Google Business Profile reviews</a:t>
            </a:r>
            <a:endParaRPr lang="en-US" sz="9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Script and record first YouTube video — "What is a Scott Schedule?"</a:t>
            </a:r>
            <a:endParaRPr lang="en-US" sz="9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Draft 3 anonymised case studies for /case-studies/ section</a:t>
            </a:r>
            <a:endParaRPr lang="en-US" sz="9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Collect 10 real testimonials with name, suburb, date, and outcome</a:t>
            </a:r>
            <a:endParaRPr lang="en-US" sz="9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E293B"/>
                </a:solidFill>
              </a:rPr>
              <a:t>Name issuing bodies for all accreditations on About page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320040" y="4914900"/>
            <a:ext cx="8503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4A3B8"/>
                </a:solidFill>
              </a:rPr>
              <a:t>GEO Audit Report  ·  Awesim Building Consultants  ·  May 2026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Brand Authority — 24/100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841248"/>
            <a:ext cx="859536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93192" y="960120"/>
            <a:ext cx="182880" cy="18288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85800" y="841248"/>
            <a:ext cx="260604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293B"/>
                </a:solidFill>
              </a:rPr>
              <a:t>YouTube (TheAwesim1)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3337560" y="841248"/>
            <a:ext cx="484632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</a:rPr>
              <a:t>Channel exists — last active circa 2013–2016, dormant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229600" y="841248"/>
            <a:ext cx="594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D97706"/>
                </a:solidFill>
              </a:rPr>
              <a:t>22/100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74320" y="1289304"/>
            <a:ext cx="8595360" cy="4114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93192" y="1408176"/>
            <a:ext cx="182880" cy="18288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85800" y="1289304"/>
            <a:ext cx="260604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293B"/>
                </a:solidFill>
              </a:rPr>
              <a:t>Reddit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337560" y="1289304"/>
            <a:ext cx="484632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</a:rPr>
              <a:t>Zero presence across r/AusLegal, r/AusPropertyChat, r/australia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229600" y="1289304"/>
            <a:ext cx="594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DC2626"/>
                </a:solidFill>
              </a:rPr>
              <a:t>0/100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74320" y="1737360"/>
            <a:ext cx="859536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93192" y="1856232"/>
            <a:ext cx="182880" cy="18288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85800" y="1737360"/>
            <a:ext cx="260604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293B"/>
                </a:solidFill>
              </a:rPr>
              <a:t>Wikipedia / Wikidata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337560" y="1737360"/>
            <a:ext cx="484632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</a:rPr>
              <a:t>No article, no Q-number — active disambiguation risk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229600" y="1737360"/>
            <a:ext cx="594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DC2626"/>
                </a:solidFill>
              </a:rPr>
              <a:t>0/100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74320" y="2185416"/>
            <a:ext cx="8595360" cy="4114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393192" y="2304288"/>
            <a:ext cx="182880" cy="18288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85800" y="2185416"/>
            <a:ext cx="260604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293B"/>
                </a:solidFill>
              </a:rPr>
              <a:t>LinkedIn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3337560" y="2185416"/>
            <a:ext cx="484632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</a:rPr>
              <a:t>Company page: 111 followers — 2 duplicate Glen Sim profiles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229600" y="2185416"/>
            <a:ext cx="594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DC2626"/>
                </a:solidFill>
              </a:rPr>
              <a:t>20/100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274320" y="2633472"/>
            <a:ext cx="859536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393192" y="2752344"/>
            <a:ext cx="182880" cy="182880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685800" y="2633472"/>
            <a:ext cx="260604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293B"/>
                </a:solidFill>
              </a:rPr>
              <a:t>Google Business Profile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3337560" y="2633472"/>
            <a:ext cx="484632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</a:rPr>
              <a:t>4.5+ stars, Trustindex-verified — best current brand asset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229600" y="2633472"/>
            <a:ext cx="594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59669"/>
                </a:solidFill>
              </a:rPr>
              <a:t>Active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274320" y="3081528"/>
            <a:ext cx="8595360" cy="4114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393192" y="3200400"/>
            <a:ext cx="182880" cy="182880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685800" y="3081528"/>
            <a:ext cx="260604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293B"/>
                </a:solidFill>
              </a:rPr>
              <a:t>AllExperts.com.au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3337560" y="3081528"/>
            <a:ext cx="484632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</a:rPr>
              <a:t>273 cases listed — strong domain authority signal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229600" y="3081528"/>
            <a:ext cx="594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59669"/>
                </a:solidFill>
              </a:rPr>
              <a:t>Active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274320" y="3529584"/>
            <a:ext cx="859536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393192" y="3648456"/>
            <a:ext cx="182880" cy="18288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685800" y="3529584"/>
            <a:ext cx="260604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293B"/>
                </a:solidFill>
              </a:rPr>
              <a:t>Houzz / HomeOne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3337560" y="3529584"/>
            <a:ext cx="484632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</a:rPr>
              <a:t>Listings exist, zero reviews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229600" y="3529584"/>
            <a:ext cx="594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D97706"/>
                </a:solidFill>
              </a:rPr>
              <a:t>Weak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274320" y="3977640"/>
            <a:ext cx="8595360" cy="4114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393192" y="4096512"/>
            <a:ext cx="182880" cy="18288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685800" y="3977640"/>
            <a:ext cx="260604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293B"/>
                </a:solidFill>
              </a:rPr>
              <a:t>Facebook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3337560" y="3977640"/>
            <a:ext cx="484632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</a:rPr>
              <a:t>Two separate pages detected — duplication reduces entity confidence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8229600" y="3977640"/>
            <a:ext cx="594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D97706"/>
                </a:solidFill>
              </a:rPr>
              <a:t>Weak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274320" y="4434840"/>
            <a:ext cx="8595360" cy="274320"/>
          </a:xfrm>
          <a:prstGeom prst="rect">
            <a:avLst/>
          </a:prstGeom>
          <a:solidFill>
            <a:srgbClr val="2D3F5F"/>
          </a:solidFill>
          <a:ln w="12700">
            <a:solidFill>
              <a:srgbClr val="2D3F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365760" y="443484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</a:rPr>
              <a:t>Priority actions: Create Wikidata entity  ·  Relaunch YouTube with NCAT explainers  ·  Build authentic Reddit presence in r/AusLegal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320040" y="4914900"/>
            <a:ext cx="8503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4A3B8"/>
                </a:solidFill>
              </a:rPr>
              <a:t>GEO Audit Report  ·  Awesim Building Consultants  ·  May 2026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92608" cy="514350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94360" y="45720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</a:rPr>
              <a:t>The Gap — and the Opportunity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94360" y="1207008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CBD5E1"/>
                </a:solidFill>
              </a:rPr>
              <a:t>Awesim has genuine, deep expertise that AI systems cannot yet discover or cite.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CBD5E1"/>
                </a:solidFill>
              </a:rPr>
              <a:t>Every fix in this audit closes that gap — directly and measurably.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53795" y="2075688"/>
            <a:ext cx="3388815" cy="2011680"/>
          </a:xfrm>
          <a:prstGeom prst="rect">
            <a:avLst/>
          </a:prstGeom>
          <a:solidFill>
            <a:srgbClr val="2D3F5F"/>
          </a:solidFill>
          <a:ln w="12700">
            <a:solidFill>
              <a:srgbClr val="2D3F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653796" y="2089404"/>
            <a:ext cx="3388814" cy="96012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64108" y="2212848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59669"/>
                </a:solidFill>
              </a:rPr>
              <a:t>4/100 → 60+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940027" y="2962656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Schema alone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64108" y="337943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</a:rPr>
              <a:t>Biggest single GEO lever on the site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101392" y="2096783"/>
            <a:ext cx="3731710" cy="1984248"/>
          </a:xfrm>
          <a:prstGeom prst="rect">
            <a:avLst/>
          </a:prstGeom>
          <a:solidFill>
            <a:srgbClr val="2D3F5F"/>
          </a:solidFill>
          <a:ln w="12700">
            <a:solidFill>
              <a:srgbClr val="2D3F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5101392" y="2075688"/>
            <a:ext cx="3731711" cy="13716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760720" y="2201619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59669"/>
                </a:solidFill>
              </a:rPr>
              <a:t>39 → 75+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5760720" y="3047358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12-week trajectory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760720" y="3352479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</a:rPr>
              <a:t>With full 30-day plan executed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94360" y="4754880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475569"/>
                </a:solidFill>
              </a:rPr>
              <a:t>GEO Audit Report  ·  Awesim Building Consultants  ·  May 2026</a:t>
            </a:r>
            <a:endParaRPr lang="en-US" sz="800" dirty="0"/>
          </a:p>
        </p:txBody>
      </p:sp>
      <p:sp>
        <p:nvSpPr>
          <p:cNvPr id="21" name="Text 11">
            <a:extLst>
              <a:ext uri="{FF2B5EF4-FFF2-40B4-BE49-F238E27FC236}">
                <a16:creationId xmlns:a16="http://schemas.microsoft.com/office/drawing/2014/main" id="{C7F80D87-6361-CEF8-6D0A-0ED9265335E3}"/>
              </a:ext>
            </a:extLst>
          </p:cNvPr>
          <p:cNvSpPr/>
          <p:nvPr/>
        </p:nvSpPr>
        <p:spPr>
          <a:xfrm>
            <a:off x="653796" y="3108960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1652</Words>
  <Application>Microsoft Macintosh PowerPoint</Application>
  <PresentationFormat>On-screen Show (16:9)</PresentationFormat>
  <Paragraphs>239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2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GEO Audit Report — Awesim Building Consultants</dc:title>
  <dc:subject>PptxGenJS Presentation</dc:subject>
  <dc:creator>GEO Analysis</dc:creator>
  <cp:lastModifiedBy>Harry Simpson</cp:lastModifiedBy>
  <cp:revision>2</cp:revision>
  <dcterms:created xsi:type="dcterms:W3CDTF">2026-05-20T02:17:58Z</dcterms:created>
  <dcterms:modified xsi:type="dcterms:W3CDTF">2026-05-25T00:22:35Z</dcterms:modified>
</cp:coreProperties>
</file>