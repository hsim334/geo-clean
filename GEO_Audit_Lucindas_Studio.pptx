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0" d="100"/>
          <a:sy n="150" d="100"/>
        </p:scale>
        <p:origin x="4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57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a:effectLst/>
      </p:bgPr>
    </p:bg>
    <p:spTree>
      <p:nvGrpSpPr>
        <p:cNvPr id="1" name=""/>
        <p:cNvGrpSpPr/>
        <p:nvPr/>
      </p:nvGrpSpPr>
      <p:grpSpPr>
        <a:xfrm>
          <a:off x="0" y="0"/>
          <a:ext cx="0" cy="0"/>
          <a:chOff x="0" y="0"/>
          <a:chExt cx="0" cy="0"/>
        </a:xfrm>
      </p:grpSpPr>
      <p:sp>
        <p:nvSpPr>
          <p:cNvPr id="2" name="Shape 0"/>
          <p:cNvSpPr/>
          <p:nvPr/>
        </p:nvSpPr>
        <p:spPr>
          <a:xfrm>
            <a:off x="0" y="0"/>
            <a:ext cx="292608" cy="5143500"/>
          </a:xfrm>
          <a:prstGeom prst="rect">
            <a:avLst/>
          </a:prstGeom>
          <a:solidFill>
            <a:srgbClr val="C94040"/>
          </a:solidFill>
          <a:ln w="12700">
            <a:solidFill>
              <a:srgbClr val="C94040"/>
            </a:solidFill>
            <a:prstDash val="solid"/>
          </a:ln>
        </p:spPr>
        <p:txBody>
          <a:bodyPr/>
          <a:lstStyle/>
          <a:p>
            <a:endParaRPr lang="en-US"/>
          </a:p>
        </p:txBody>
      </p:sp>
      <p:sp>
        <p:nvSpPr>
          <p:cNvPr id="3" name="Shape 1"/>
          <p:cNvSpPr/>
          <p:nvPr/>
        </p:nvSpPr>
        <p:spPr>
          <a:xfrm>
            <a:off x="6812280" y="274320"/>
            <a:ext cx="2011680" cy="1920240"/>
          </a:xfrm>
          <a:prstGeom prst="rect">
            <a:avLst/>
          </a:prstGeom>
          <a:solidFill>
            <a:srgbClr val="122B38"/>
          </a:solidFill>
          <a:ln w="25400">
            <a:solidFill>
              <a:srgbClr val="2EB8A6"/>
            </a:solidFill>
            <a:prstDash val="solid"/>
          </a:ln>
        </p:spPr>
        <p:txBody>
          <a:bodyPr/>
          <a:lstStyle/>
          <a:p>
            <a:endParaRPr lang="en-US"/>
          </a:p>
        </p:txBody>
      </p:sp>
      <p:sp>
        <p:nvSpPr>
          <p:cNvPr id="4" name="Text 2"/>
          <p:cNvSpPr/>
          <p:nvPr/>
        </p:nvSpPr>
        <p:spPr>
          <a:xfrm>
            <a:off x="6812280" y="320040"/>
            <a:ext cx="2011680" cy="1143000"/>
          </a:xfrm>
          <a:prstGeom prst="rect">
            <a:avLst/>
          </a:prstGeom>
          <a:noFill/>
          <a:ln/>
        </p:spPr>
        <p:txBody>
          <a:bodyPr wrap="square" lIns="0" tIns="0" rIns="0" bIns="0" rtlCol="0" anchor="ctr"/>
          <a:lstStyle/>
          <a:p>
            <a:pPr marL="0" indent="0" algn="ctr">
              <a:buNone/>
            </a:pPr>
            <a:r>
              <a:rPr lang="en-US" sz="7200" b="1" dirty="0">
                <a:solidFill>
                  <a:srgbClr val="2EB8A6"/>
                </a:solidFill>
                <a:latin typeface="Georgia" pitchFamily="34" charset="0"/>
                <a:ea typeface="Georgia" pitchFamily="34" charset="-122"/>
                <a:cs typeface="Georgia" pitchFamily="34" charset="-120"/>
              </a:rPr>
              <a:t>40</a:t>
            </a:r>
            <a:endParaRPr lang="en-US" sz="7200" dirty="0"/>
          </a:p>
        </p:txBody>
      </p:sp>
      <p:sp>
        <p:nvSpPr>
          <p:cNvPr id="5" name="Text 3"/>
          <p:cNvSpPr/>
          <p:nvPr/>
        </p:nvSpPr>
        <p:spPr>
          <a:xfrm>
            <a:off x="6812280" y="1444752"/>
            <a:ext cx="2011680" cy="292608"/>
          </a:xfrm>
          <a:prstGeom prst="rect">
            <a:avLst/>
          </a:prstGeom>
          <a:noFill/>
          <a:ln/>
        </p:spPr>
        <p:txBody>
          <a:bodyPr wrap="square" lIns="0" tIns="0" rIns="0" bIns="0" rtlCol="0" anchor="ctr"/>
          <a:lstStyle/>
          <a:p>
            <a:pPr marL="0" indent="0" algn="ctr">
              <a:buNone/>
            </a:pPr>
            <a:r>
              <a:rPr lang="en-US" sz="1000" b="1" kern="0" spc="300" dirty="0">
                <a:solidFill>
                  <a:srgbClr val="7A8A94"/>
                </a:solidFill>
              </a:rPr>
              <a:t>OUT OF 100</a:t>
            </a:r>
            <a:endParaRPr lang="en-US" sz="1000" dirty="0"/>
          </a:p>
        </p:txBody>
      </p:sp>
      <p:sp>
        <p:nvSpPr>
          <p:cNvPr id="6" name="Text 4"/>
          <p:cNvSpPr/>
          <p:nvPr/>
        </p:nvSpPr>
        <p:spPr>
          <a:xfrm>
            <a:off x="6812280" y="1719072"/>
            <a:ext cx="2011680" cy="256032"/>
          </a:xfrm>
          <a:prstGeom prst="rect">
            <a:avLst/>
          </a:prstGeom>
          <a:noFill/>
          <a:ln/>
        </p:spPr>
        <p:txBody>
          <a:bodyPr wrap="square" lIns="0" tIns="0" rIns="0" bIns="0" rtlCol="0" anchor="ctr"/>
          <a:lstStyle/>
          <a:p>
            <a:pPr marL="0" indent="0" algn="ctr">
              <a:buNone/>
            </a:pPr>
            <a:r>
              <a:rPr lang="en-US" sz="850" kern="0" spc="200" dirty="0">
                <a:solidFill>
                  <a:srgbClr val="7A8A94"/>
                </a:solidFill>
              </a:rPr>
              <a:t>OVERALL GEO SCORE</a:t>
            </a:r>
            <a:endParaRPr lang="en-US" sz="850" dirty="0"/>
          </a:p>
        </p:txBody>
      </p:sp>
      <p:sp>
        <p:nvSpPr>
          <p:cNvPr id="7" name="Text 5"/>
          <p:cNvSpPr/>
          <p:nvPr/>
        </p:nvSpPr>
        <p:spPr>
          <a:xfrm>
            <a:off x="594360" y="1143000"/>
            <a:ext cx="5943600" cy="411480"/>
          </a:xfrm>
          <a:prstGeom prst="rect">
            <a:avLst/>
          </a:prstGeom>
          <a:noFill/>
          <a:ln/>
        </p:spPr>
        <p:txBody>
          <a:bodyPr wrap="square" lIns="0" tIns="0" rIns="0" bIns="0" rtlCol="0" anchor="ctr"/>
          <a:lstStyle/>
          <a:p>
            <a:pPr marL="0" indent="0">
              <a:buNone/>
            </a:pPr>
            <a:r>
              <a:rPr lang="en-US" sz="1300" b="1" kern="0" spc="500" dirty="0">
                <a:solidFill>
                  <a:srgbClr val="2EB8A6"/>
                </a:solidFill>
              </a:rPr>
              <a:t>GEO AUDIT REPORT</a:t>
            </a:r>
            <a:endParaRPr lang="en-US" sz="1300" dirty="0"/>
          </a:p>
        </p:txBody>
      </p:sp>
      <p:sp>
        <p:nvSpPr>
          <p:cNvPr id="8" name="Text 6"/>
          <p:cNvSpPr/>
          <p:nvPr/>
        </p:nvSpPr>
        <p:spPr>
          <a:xfrm>
            <a:off x="594360" y="1536192"/>
            <a:ext cx="6035040" cy="109728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Lucinda's Studio</a:t>
            </a:r>
            <a:endParaRPr lang="en-US" sz="4400" dirty="0"/>
          </a:p>
        </p:txBody>
      </p:sp>
      <p:sp>
        <p:nvSpPr>
          <p:cNvPr id="9" name="Text 7"/>
          <p:cNvSpPr/>
          <p:nvPr/>
        </p:nvSpPr>
        <p:spPr>
          <a:xfrm>
            <a:off x="594360" y="2670048"/>
            <a:ext cx="5943600" cy="384048"/>
          </a:xfrm>
          <a:prstGeom prst="rect">
            <a:avLst/>
          </a:prstGeom>
          <a:noFill/>
          <a:ln/>
        </p:spPr>
        <p:txBody>
          <a:bodyPr wrap="square" lIns="0" tIns="0" rIns="0" bIns="0" rtlCol="0" anchor="ctr"/>
          <a:lstStyle/>
          <a:p>
            <a:pPr marL="0" indent="0">
              <a:buNone/>
            </a:pPr>
            <a:r>
              <a:rPr lang="en-US" sz="1500" i="1" dirty="0">
                <a:solidFill>
                  <a:srgbClr val="2EB8A6"/>
                </a:solidFill>
              </a:rPr>
              <a:t>lucindastudio.com.au</a:t>
            </a:r>
            <a:endParaRPr lang="en-US" sz="1500" dirty="0"/>
          </a:p>
        </p:txBody>
      </p:sp>
      <p:sp>
        <p:nvSpPr>
          <p:cNvPr id="10" name="Shape 8"/>
          <p:cNvSpPr/>
          <p:nvPr/>
        </p:nvSpPr>
        <p:spPr>
          <a:xfrm>
            <a:off x="594360" y="3291840"/>
            <a:ext cx="1783080" cy="347472"/>
          </a:xfrm>
          <a:prstGeom prst="rect">
            <a:avLst/>
          </a:prstGeom>
          <a:solidFill>
            <a:srgbClr val="122B38"/>
          </a:solidFill>
          <a:ln w="12700">
            <a:solidFill>
              <a:srgbClr val="2EB8A6"/>
            </a:solidFill>
            <a:prstDash val="solid"/>
          </a:ln>
        </p:spPr>
        <p:txBody>
          <a:bodyPr/>
          <a:lstStyle/>
          <a:p>
            <a:endParaRPr lang="en-US"/>
          </a:p>
        </p:txBody>
      </p:sp>
      <p:sp>
        <p:nvSpPr>
          <p:cNvPr id="11" name="Text 9"/>
          <p:cNvSpPr/>
          <p:nvPr/>
        </p:nvSpPr>
        <p:spPr>
          <a:xfrm>
            <a:off x="594360" y="3291840"/>
            <a:ext cx="1783080" cy="347472"/>
          </a:xfrm>
          <a:prstGeom prst="rect">
            <a:avLst/>
          </a:prstGeom>
          <a:noFill/>
          <a:ln/>
        </p:spPr>
        <p:txBody>
          <a:bodyPr wrap="square" lIns="0" tIns="0" rIns="0" bIns="0" rtlCol="0" anchor="ctr"/>
          <a:lstStyle/>
          <a:p>
            <a:pPr marL="0" indent="0" algn="ctr">
              <a:buNone/>
            </a:pPr>
            <a:r>
              <a:rPr lang="en-US" sz="850" dirty="0">
                <a:solidFill>
                  <a:srgbClr val="2EB8A6"/>
                </a:solidFill>
              </a:rPr>
              <a:t>Netflix: True Spirit</a:t>
            </a:r>
            <a:endParaRPr lang="en-US" sz="850" dirty="0"/>
          </a:p>
        </p:txBody>
      </p:sp>
      <p:sp>
        <p:nvSpPr>
          <p:cNvPr id="12" name="Shape 10"/>
          <p:cNvSpPr/>
          <p:nvPr/>
        </p:nvSpPr>
        <p:spPr>
          <a:xfrm>
            <a:off x="2532888" y="3291840"/>
            <a:ext cx="1783080" cy="347472"/>
          </a:xfrm>
          <a:prstGeom prst="rect">
            <a:avLst/>
          </a:prstGeom>
          <a:solidFill>
            <a:srgbClr val="122B38"/>
          </a:solidFill>
          <a:ln w="12700">
            <a:solidFill>
              <a:srgbClr val="2EB8A6"/>
            </a:solidFill>
            <a:prstDash val="solid"/>
          </a:ln>
        </p:spPr>
        <p:txBody>
          <a:bodyPr/>
          <a:lstStyle/>
          <a:p>
            <a:endParaRPr lang="en-US"/>
          </a:p>
        </p:txBody>
      </p:sp>
      <p:sp>
        <p:nvSpPr>
          <p:cNvPr id="13" name="Text 11"/>
          <p:cNvSpPr/>
          <p:nvPr/>
        </p:nvSpPr>
        <p:spPr>
          <a:xfrm>
            <a:off x="2532888" y="3291840"/>
            <a:ext cx="1783080" cy="347472"/>
          </a:xfrm>
          <a:prstGeom prst="rect">
            <a:avLst/>
          </a:prstGeom>
          <a:noFill/>
          <a:ln/>
        </p:spPr>
        <p:txBody>
          <a:bodyPr wrap="square" lIns="0" tIns="0" rIns="0" bIns="0" rtlCol="0" anchor="ctr"/>
          <a:lstStyle/>
          <a:p>
            <a:pPr marL="0" indent="0" algn="ctr">
              <a:buNone/>
            </a:pPr>
            <a:r>
              <a:rPr lang="en-US" sz="850" dirty="0">
                <a:solidFill>
                  <a:srgbClr val="2EB8A6"/>
                </a:solidFill>
              </a:rPr>
              <a:t>Bluethumb Rising Star 2024</a:t>
            </a:r>
            <a:endParaRPr lang="en-US" sz="850" dirty="0"/>
          </a:p>
        </p:txBody>
      </p:sp>
      <p:sp>
        <p:nvSpPr>
          <p:cNvPr id="14" name="Shape 12"/>
          <p:cNvSpPr/>
          <p:nvPr/>
        </p:nvSpPr>
        <p:spPr>
          <a:xfrm>
            <a:off x="4471416" y="3291840"/>
            <a:ext cx="1783080" cy="347472"/>
          </a:xfrm>
          <a:prstGeom prst="rect">
            <a:avLst/>
          </a:prstGeom>
          <a:solidFill>
            <a:srgbClr val="122B38"/>
          </a:solidFill>
          <a:ln w="12700">
            <a:solidFill>
              <a:srgbClr val="2EB8A6"/>
            </a:solidFill>
            <a:prstDash val="solid"/>
          </a:ln>
        </p:spPr>
        <p:txBody>
          <a:bodyPr/>
          <a:lstStyle/>
          <a:p>
            <a:endParaRPr lang="en-US"/>
          </a:p>
        </p:txBody>
      </p:sp>
      <p:sp>
        <p:nvSpPr>
          <p:cNvPr id="15" name="Text 13"/>
          <p:cNvSpPr/>
          <p:nvPr/>
        </p:nvSpPr>
        <p:spPr>
          <a:xfrm>
            <a:off x="4471416" y="3291840"/>
            <a:ext cx="1783080" cy="347472"/>
          </a:xfrm>
          <a:prstGeom prst="rect">
            <a:avLst/>
          </a:prstGeom>
          <a:noFill/>
          <a:ln/>
        </p:spPr>
        <p:txBody>
          <a:bodyPr wrap="square" lIns="0" tIns="0" rIns="0" bIns="0" rtlCol="0" anchor="ctr"/>
          <a:lstStyle/>
          <a:p>
            <a:pPr marL="0" indent="0" algn="ctr">
              <a:buNone/>
            </a:pPr>
            <a:r>
              <a:rPr lang="en-US" sz="850" dirty="0">
                <a:solidFill>
                  <a:srgbClr val="2EB8A6"/>
                </a:solidFill>
              </a:rPr>
              <a:t>Art Lovers Australia Award 2024</a:t>
            </a:r>
            <a:endParaRPr lang="en-US" sz="850" dirty="0"/>
          </a:p>
        </p:txBody>
      </p:sp>
      <p:sp>
        <p:nvSpPr>
          <p:cNvPr id="16" name="Shape 14"/>
          <p:cNvSpPr/>
          <p:nvPr/>
        </p:nvSpPr>
        <p:spPr>
          <a:xfrm>
            <a:off x="6409944" y="3291840"/>
            <a:ext cx="1783080" cy="347472"/>
          </a:xfrm>
          <a:prstGeom prst="rect">
            <a:avLst/>
          </a:prstGeom>
          <a:solidFill>
            <a:srgbClr val="122B38"/>
          </a:solidFill>
          <a:ln w="12700">
            <a:solidFill>
              <a:srgbClr val="2EB8A6"/>
            </a:solidFill>
            <a:prstDash val="solid"/>
          </a:ln>
        </p:spPr>
        <p:txBody>
          <a:bodyPr/>
          <a:lstStyle/>
          <a:p>
            <a:endParaRPr lang="en-US"/>
          </a:p>
        </p:txBody>
      </p:sp>
      <p:sp>
        <p:nvSpPr>
          <p:cNvPr id="17" name="Text 15"/>
          <p:cNvSpPr/>
          <p:nvPr/>
        </p:nvSpPr>
        <p:spPr>
          <a:xfrm>
            <a:off x="6409944" y="3291840"/>
            <a:ext cx="1783080" cy="347472"/>
          </a:xfrm>
          <a:prstGeom prst="rect">
            <a:avLst/>
          </a:prstGeom>
          <a:noFill/>
          <a:ln/>
        </p:spPr>
        <p:txBody>
          <a:bodyPr wrap="square" lIns="0" tIns="0" rIns="0" bIns="0" rtlCol="0" anchor="ctr"/>
          <a:lstStyle/>
          <a:p>
            <a:pPr marL="0" indent="0" algn="ctr">
              <a:buNone/>
            </a:pPr>
            <a:r>
              <a:rPr lang="en-US" sz="850" dirty="0">
                <a:solidFill>
                  <a:srgbClr val="2EB8A6"/>
                </a:solidFill>
              </a:rPr>
              <a:t>Intl. Collections: UK · Spain · USA</a:t>
            </a:r>
            <a:endParaRPr lang="en-US" sz="850" dirty="0"/>
          </a:p>
        </p:txBody>
      </p:sp>
      <p:sp>
        <p:nvSpPr>
          <p:cNvPr id="18" name="Shape 16"/>
          <p:cNvSpPr/>
          <p:nvPr/>
        </p:nvSpPr>
        <p:spPr>
          <a:xfrm>
            <a:off x="0" y="4480560"/>
            <a:ext cx="9144000" cy="662940"/>
          </a:xfrm>
          <a:prstGeom prst="rect">
            <a:avLst/>
          </a:prstGeom>
          <a:solidFill>
            <a:srgbClr val="122B38"/>
          </a:solidFill>
          <a:ln w="12700">
            <a:solidFill>
              <a:srgbClr val="122B38"/>
            </a:solidFill>
            <a:prstDash val="solid"/>
          </a:ln>
        </p:spPr>
        <p:txBody>
          <a:bodyPr/>
          <a:lstStyle/>
          <a:p>
            <a:endParaRPr lang="en-US"/>
          </a:p>
        </p:txBody>
      </p:sp>
      <p:sp>
        <p:nvSpPr>
          <p:cNvPr id="19" name="Text 17"/>
          <p:cNvSpPr/>
          <p:nvPr/>
        </p:nvSpPr>
        <p:spPr>
          <a:xfrm>
            <a:off x="594360" y="4498848"/>
            <a:ext cx="8229600" cy="457200"/>
          </a:xfrm>
          <a:prstGeom prst="rect">
            <a:avLst/>
          </a:prstGeom>
          <a:noFill/>
          <a:ln/>
        </p:spPr>
        <p:txBody>
          <a:bodyPr wrap="square" lIns="0" tIns="0" rIns="0" bIns="0" rtlCol="0" anchor="ctr"/>
          <a:lstStyle/>
          <a:p>
            <a:pPr marL="0" indent="0">
              <a:buNone/>
            </a:pPr>
            <a:r>
              <a:rPr lang="en-US" sz="1100" dirty="0">
                <a:solidFill>
                  <a:srgbClr val="7A8A94"/>
                </a:solidFill>
              </a:rPr>
              <a:t>Audit Date: 18 May 2026   |   12 Pages Analyzed   |   Business Type: Artist / Services Hybrid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EXECUTIVE SUMMARY</a:t>
            </a:r>
            <a:endParaRPr lang="en-US" sz="1900" dirty="0"/>
          </a:p>
        </p:txBody>
      </p:sp>
      <p:sp>
        <p:nvSpPr>
          <p:cNvPr id="4" name="Shape 2"/>
          <p:cNvSpPr/>
          <p:nvPr/>
        </p:nvSpPr>
        <p:spPr>
          <a:xfrm>
            <a:off x="320040" y="960120"/>
            <a:ext cx="2468880" cy="3566160"/>
          </a:xfrm>
          <a:prstGeom prst="rect">
            <a:avLst/>
          </a:prstGeom>
          <a:solidFill>
            <a:srgbClr val="1B3A4B"/>
          </a:solidFill>
          <a:ln w="12700">
            <a:solidFill>
              <a:srgbClr val="1B3A4B"/>
            </a:solidFill>
            <a:prstDash val="solid"/>
          </a:ln>
          <a:effectLst>
            <a:outerShdw blurRad="101600" dist="38100" dir="8100000" algn="bl" rotWithShape="0">
              <a:srgbClr val="000000">
                <a:alpha val="10000"/>
              </a:srgbClr>
            </a:outerShdw>
          </a:effectLst>
        </p:spPr>
        <p:txBody>
          <a:bodyPr/>
          <a:lstStyle/>
          <a:p>
            <a:endParaRPr lang="en-US"/>
          </a:p>
        </p:txBody>
      </p:sp>
      <p:sp>
        <p:nvSpPr>
          <p:cNvPr id="5" name="Text 3"/>
          <p:cNvSpPr/>
          <p:nvPr/>
        </p:nvSpPr>
        <p:spPr>
          <a:xfrm>
            <a:off x="320040" y="1051560"/>
            <a:ext cx="2468880" cy="347472"/>
          </a:xfrm>
          <a:prstGeom prst="rect">
            <a:avLst/>
          </a:prstGeom>
          <a:noFill/>
          <a:ln/>
        </p:spPr>
        <p:txBody>
          <a:bodyPr wrap="square" lIns="0" tIns="0" rIns="0" bIns="0" rtlCol="0" anchor="ctr"/>
          <a:lstStyle/>
          <a:p>
            <a:pPr marL="0" indent="0" algn="ctr">
              <a:buNone/>
            </a:pPr>
            <a:r>
              <a:rPr lang="en-US" sz="1200" b="1" kern="0" spc="600" dirty="0">
                <a:solidFill>
                  <a:srgbClr val="C94040"/>
                </a:solidFill>
              </a:rPr>
              <a:t>POOR</a:t>
            </a:r>
            <a:endParaRPr lang="en-US" sz="1200" dirty="0"/>
          </a:p>
        </p:txBody>
      </p:sp>
      <p:sp>
        <p:nvSpPr>
          <p:cNvPr id="6" name="Text 4"/>
          <p:cNvSpPr/>
          <p:nvPr/>
        </p:nvSpPr>
        <p:spPr>
          <a:xfrm>
            <a:off x="320040" y="1371600"/>
            <a:ext cx="2468880" cy="1325880"/>
          </a:xfrm>
          <a:prstGeom prst="rect">
            <a:avLst/>
          </a:prstGeom>
          <a:noFill/>
          <a:ln/>
        </p:spPr>
        <p:txBody>
          <a:bodyPr wrap="square" lIns="0" tIns="0" rIns="0" bIns="0" rtlCol="0" anchor="ctr"/>
          <a:lstStyle/>
          <a:p>
            <a:pPr marL="0" indent="0" algn="ctr">
              <a:buNone/>
            </a:pPr>
            <a:r>
              <a:rPr lang="en-US" sz="8600" b="1" dirty="0">
                <a:solidFill>
                  <a:srgbClr val="FFFFFF"/>
                </a:solidFill>
                <a:latin typeface="Georgia" pitchFamily="34" charset="0"/>
                <a:ea typeface="Georgia" pitchFamily="34" charset="-122"/>
                <a:cs typeface="Georgia" pitchFamily="34" charset="-120"/>
              </a:rPr>
              <a:t>40</a:t>
            </a:r>
            <a:endParaRPr lang="en-US" sz="8600" dirty="0"/>
          </a:p>
        </p:txBody>
      </p:sp>
      <p:sp>
        <p:nvSpPr>
          <p:cNvPr id="7" name="Text 5"/>
          <p:cNvSpPr/>
          <p:nvPr/>
        </p:nvSpPr>
        <p:spPr>
          <a:xfrm>
            <a:off x="320040" y="2679192"/>
            <a:ext cx="2468880" cy="347472"/>
          </a:xfrm>
          <a:prstGeom prst="rect">
            <a:avLst/>
          </a:prstGeom>
          <a:noFill/>
          <a:ln/>
        </p:spPr>
        <p:txBody>
          <a:bodyPr wrap="square" lIns="0" tIns="0" rIns="0" bIns="0" rtlCol="0" anchor="ctr"/>
          <a:lstStyle/>
          <a:p>
            <a:pPr marL="0" indent="0" algn="ctr">
              <a:buNone/>
            </a:pPr>
            <a:r>
              <a:rPr lang="en-US" sz="1800" dirty="0">
                <a:solidFill>
                  <a:srgbClr val="7A8A94"/>
                </a:solidFill>
              </a:rPr>
              <a:t>/ 100</a:t>
            </a:r>
            <a:endParaRPr lang="en-US" sz="1800" dirty="0"/>
          </a:p>
        </p:txBody>
      </p:sp>
      <p:sp>
        <p:nvSpPr>
          <p:cNvPr id="8" name="Text 6"/>
          <p:cNvSpPr/>
          <p:nvPr/>
        </p:nvSpPr>
        <p:spPr>
          <a:xfrm>
            <a:off x="320040" y="3063240"/>
            <a:ext cx="2468880" cy="292608"/>
          </a:xfrm>
          <a:prstGeom prst="rect">
            <a:avLst/>
          </a:prstGeom>
          <a:noFill/>
          <a:ln/>
        </p:spPr>
        <p:txBody>
          <a:bodyPr wrap="square" lIns="0" tIns="0" rIns="0" bIns="0" rtlCol="0" anchor="ctr"/>
          <a:lstStyle/>
          <a:p>
            <a:pPr marL="0" indent="0" algn="ctr">
              <a:buNone/>
            </a:pPr>
            <a:r>
              <a:rPr lang="en-US" sz="1100" dirty="0">
                <a:solidFill>
                  <a:srgbClr val="2EB8A6"/>
                </a:solidFill>
              </a:rPr>
              <a:t>Overall GEO Score</a:t>
            </a:r>
            <a:endParaRPr lang="en-US" sz="1100" dirty="0"/>
          </a:p>
        </p:txBody>
      </p:sp>
      <p:sp>
        <p:nvSpPr>
          <p:cNvPr id="9" name="Shape 7"/>
          <p:cNvSpPr/>
          <p:nvPr/>
        </p:nvSpPr>
        <p:spPr>
          <a:xfrm>
            <a:off x="502920" y="3456432"/>
            <a:ext cx="2103120" cy="256032"/>
          </a:xfrm>
          <a:prstGeom prst="rect">
            <a:avLst/>
          </a:prstGeom>
          <a:solidFill>
            <a:srgbClr val="122B38"/>
          </a:solidFill>
          <a:ln w="12700">
            <a:solidFill>
              <a:srgbClr val="2EB8A6"/>
            </a:solidFill>
            <a:prstDash val="solid"/>
          </a:ln>
        </p:spPr>
        <p:txBody>
          <a:bodyPr/>
          <a:lstStyle/>
          <a:p>
            <a:endParaRPr lang="en-US"/>
          </a:p>
        </p:txBody>
      </p:sp>
      <p:sp>
        <p:nvSpPr>
          <p:cNvPr id="10" name="Text 8"/>
          <p:cNvSpPr/>
          <p:nvPr/>
        </p:nvSpPr>
        <p:spPr>
          <a:xfrm>
            <a:off x="502920" y="3456432"/>
            <a:ext cx="2103120" cy="256032"/>
          </a:xfrm>
          <a:prstGeom prst="rect">
            <a:avLst/>
          </a:prstGeom>
          <a:noFill/>
          <a:ln/>
        </p:spPr>
        <p:txBody>
          <a:bodyPr wrap="square" lIns="0" tIns="0" rIns="0" bIns="0" rtlCol="0" anchor="ctr"/>
          <a:lstStyle/>
          <a:p>
            <a:pPr marL="0" indent="0" algn="ctr">
              <a:buNone/>
            </a:pPr>
            <a:r>
              <a:rPr lang="en-US" sz="900" dirty="0">
                <a:solidFill>
                  <a:srgbClr val="2EB8A6"/>
                </a:solidFill>
              </a:rPr>
              <a:t>Netflix: Featured</a:t>
            </a:r>
            <a:endParaRPr lang="en-US" sz="900" dirty="0"/>
          </a:p>
        </p:txBody>
      </p:sp>
      <p:sp>
        <p:nvSpPr>
          <p:cNvPr id="11" name="Shape 9"/>
          <p:cNvSpPr/>
          <p:nvPr/>
        </p:nvSpPr>
        <p:spPr>
          <a:xfrm>
            <a:off x="502920" y="3794760"/>
            <a:ext cx="2103120" cy="256032"/>
          </a:xfrm>
          <a:prstGeom prst="rect">
            <a:avLst/>
          </a:prstGeom>
          <a:solidFill>
            <a:srgbClr val="122B38"/>
          </a:solidFill>
          <a:ln w="12700">
            <a:solidFill>
              <a:srgbClr val="2EB8A6"/>
            </a:solidFill>
            <a:prstDash val="solid"/>
          </a:ln>
        </p:spPr>
        <p:txBody>
          <a:bodyPr/>
          <a:lstStyle/>
          <a:p>
            <a:endParaRPr lang="en-US"/>
          </a:p>
        </p:txBody>
      </p:sp>
      <p:sp>
        <p:nvSpPr>
          <p:cNvPr id="12" name="Text 10"/>
          <p:cNvSpPr/>
          <p:nvPr/>
        </p:nvSpPr>
        <p:spPr>
          <a:xfrm>
            <a:off x="502920" y="3794760"/>
            <a:ext cx="2103120" cy="256032"/>
          </a:xfrm>
          <a:prstGeom prst="rect">
            <a:avLst/>
          </a:prstGeom>
          <a:noFill/>
          <a:ln/>
        </p:spPr>
        <p:txBody>
          <a:bodyPr wrap="square" lIns="0" tIns="0" rIns="0" bIns="0" rtlCol="0" anchor="ctr"/>
          <a:lstStyle/>
          <a:p>
            <a:pPr marL="0" indent="0" algn="ctr">
              <a:buNone/>
            </a:pPr>
            <a:r>
              <a:rPr lang="en-US" sz="900" dirty="0">
                <a:solidFill>
                  <a:srgbClr val="2EB8A6"/>
                </a:solidFill>
              </a:rPr>
              <a:t>Awards: 2024–25</a:t>
            </a:r>
            <a:endParaRPr lang="en-US" sz="900" dirty="0"/>
          </a:p>
        </p:txBody>
      </p:sp>
      <p:sp>
        <p:nvSpPr>
          <p:cNvPr id="13" name="Shape 11"/>
          <p:cNvSpPr/>
          <p:nvPr/>
        </p:nvSpPr>
        <p:spPr>
          <a:xfrm>
            <a:off x="502920" y="4133088"/>
            <a:ext cx="2103120" cy="256032"/>
          </a:xfrm>
          <a:prstGeom prst="rect">
            <a:avLst/>
          </a:prstGeom>
          <a:solidFill>
            <a:srgbClr val="122B38"/>
          </a:solidFill>
          <a:ln w="12700">
            <a:solidFill>
              <a:srgbClr val="2EB8A6"/>
            </a:solidFill>
            <a:prstDash val="solid"/>
          </a:ln>
        </p:spPr>
        <p:txBody>
          <a:bodyPr/>
          <a:lstStyle/>
          <a:p>
            <a:endParaRPr lang="en-US"/>
          </a:p>
        </p:txBody>
      </p:sp>
      <p:sp>
        <p:nvSpPr>
          <p:cNvPr id="14" name="Text 12"/>
          <p:cNvSpPr/>
          <p:nvPr/>
        </p:nvSpPr>
        <p:spPr>
          <a:xfrm>
            <a:off x="502920" y="4133088"/>
            <a:ext cx="2103120" cy="256032"/>
          </a:xfrm>
          <a:prstGeom prst="rect">
            <a:avLst/>
          </a:prstGeom>
          <a:noFill/>
          <a:ln/>
        </p:spPr>
        <p:txBody>
          <a:bodyPr wrap="square" lIns="0" tIns="0" rIns="0" bIns="0" rtlCol="0" anchor="ctr"/>
          <a:lstStyle/>
          <a:p>
            <a:pPr marL="0" indent="0" algn="ctr">
              <a:buNone/>
            </a:pPr>
            <a:r>
              <a:rPr lang="en-US" sz="900" dirty="0">
                <a:solidFill>
                  <a:srgbClr val="2EB8A6"/>
                </a:solidFill>
              </a:rPr>
              <a:t>Collections: Intl.</a:t>
            </a:r>
            <a:endParaRPr lang="en-US" sz="900" dirty="0"/>
          </a:p>
        </p:txBody>
      </p:sp>
      <p:sp>
        <p:nvSpPr>
          <p:cNvPr id="15" name="Text 13"/>
          <p:cNvSpPr/>
          <p:nvPr/>
        </p:nvSpPr>
        <p:spPr>
          <a:xfrm>
            <a:off x="3063240" y="1005840"/>
            <a:ext cx="5760720" cy="475488"/>
          </a:xfrm>
          <a:prstGeom prst="rect">
            <a:avLst/>
          </a:prstGeom>
          <a:noFill/>
          <a:ln/>
        </p:spPr>
        <p:txBody>
          <a:bodyPr wrap="square" lIns="0" tIns="0" rIns="0" bIns="0" rtlCol="0" anchor="ctr"/>
          <a:lstStyle/>
          <a:p>
            <a:pPr marL="0" indent="0">
              <a:buNone/>
            </a:pPr>
            <a:r>
              <a:rPr lang="en-US" sz="1350" b="1" dirty="0">
                <a:solidFill>
                  <a:srgbClr val="1E2A35"/>
                </a:solidFill>
              </a:rPr>
              <a:t>The gap between real-world authority and AI citability is the defining challenge of this audit.</a:t>
            </a:r>
            <a:endParaRPr lang="en-US" sz="1350" dirty="0"/>
          </a:p>
        </p:txBody>
      </p:sp>
      <p:sp>
        <p:nvSpPr>
          <p:cNvPr id="16" name="Text 14"/>
          <p:cNvSpPr/>
          <p:nvPr/>
        </p:nvSpPr>
        <p:spPr>
          <a:xfrm>
            <a:off x="3063240" y="1554480"/>
            <a:ext cx="5760720" cy="1737360"/>
          </a:xfrm>
          <a:prstGeom prst="rect">
            <a:avLst/>
          </a:prstGeom>
          <a:noFill/>
          <a:ln/>
        </p:spPr>
        <p:txBody>
          <a:bodyPr wrap="square" lIns="0" tIns="0" rIns="0" bIns="0" rtlCol="0" anchor="t"/>
          <a:lstStyle/>
          <a:p>
            <a:pPr marL="0" indent="0">
              <a:buNone/>
            </a:pPr>
            <a:r>
              <a:rPr lang="en-US" sz="1200" dirty="0">
                <a:solidFill>
                  <a:srgbClr val="1E2A35"/>
                </a:solidFill>
              </a:rPr>
              <a:t>Lucinda Leveille is an accomplished Australian landscape painter with Netflix screen appearances, multiple 2024–2025 industry awards, international collections, and respected art publication features. Yet her website fails to translate any of this authority into AI-visible signals.</a:t>
            </a:r>
            <a:endParaRPr lang="en-US" sz="1200" dirty="0"/>
          </a:p>
          <a:p>
            <a:pPr marL="0" indent="0">
              <a:buNone/>
            </a:pPr>
            <a:endParaRPr lang="en-US" sz="1200" dirty="0"/>
          </a:p>
          <a:p>
            <a:pPr marL="0" indent="0">
              <a:buNone/>
            </a:pPr>
            <a:r>
              <a:rPr lang="en-US" sz="1200" dirty="0">
                <a:solidFill>
                  <a:srgbClr val="1E2A35"/>
                </a:solidFill>
              </a:rPr>
              <a:t>The site actively blocks automated crawlers (HTTP 403), carries no structured data, has no llms.txt file, and presents content primarily as images rather than quotable text. Every time an AI system is asked about Australian landscape painting or Lucinda specifically, it finds and cites external sites — not hers.</a:t>
            </a:r>
            <a:endParaRPr lang="en-US" sz="1200" dirty="0"/>
          </a:p>
        </p:txBody>
      </p:sp>
      <p:sp>
        <p:nvSpPr>
          <p:cNvPr id="17" name="Shape 15"/>
          <p:cNvSpPr/>
          <p:nvPr/>
        </p:nvSpPr>
        <p:spPr>
          <a:xfrm>
            <a:off x="3063240" y="3429000"/>
            <a:ext cx="1783080" cy="1097280"/>
          </a:xfrm>
          <a:prstGeom prst="rect">
            <a:avLst/>
          </a:prstGeom>
          <a:solidFill>
            <a:srgbClr val="FFFFFF"/>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8" name="Shape 16"/>
          <p:cNvSpPr/>
          <p:nvPr/>
        </p:nvSpPr>
        <p:spPr>
          <a:xfrm>
            <a:off x="3063240" y="3429000"/>
            <a:ext cx="1783080" cy="73152"/>
          </a:xfrm>
          <a:prstGeom prst="rect">
            <a:avLst/>
          </a:prstGeom>
          <a:solidFill>
            <a:srgbClr val="C94040"/>
          </a:solidFill>
          <a:ln w="12700">
            <a:solidFill>
              <a:srgbClr val="C94040"/>
            </a:solidFill>
            <a:prstDash val="solid"/>
          </a:ln>
        </p:spPr>
        <p:txBody>
          <a:bodyPr/>
          <a:lstStyle/>
          <a:p>
            <a:endParaRPr lang="en-US"/>
          </a:p>
        </p:txBody>
      </p:sp>
      <p:sp>
        <p:nvSpPr>
          <p:cNvPr id="19" name="Text 17"/>
          <p:cNvSpPr/>
          <p:nvPr/>
        </p:nvSpPr>
        <p:spPr>
          <a:xfrm>
            <a:off x="3172968" y="3538728"/>
            <a:ext cx="1554480" cy="384048"/>
          </a:xfrm>
          <a:prstGeom prst="rect">
            <a:avLst/>
          </a:prstGeom>
          <a:noFill/>
          <a:ln/>
        </p:spPr>
        <p:txBody>
          <a:bodyPr wrap="square" lIns="0" tIns="0" rIns="0" bIns="0" rtlCol="0" anchor="ctr"/>
          <a:lstStyle/>
          <a:p>
            <a:pPr marL="0" indent="0">
              <a:buNone/>
            </a:pPr>
            <a:r>
              <a:rPr lang="en-US" sz="1300" b="1" dirty="0">
                <a:solidFill>
                  <a:srgbClr val="1E2A35"/>
                </a:solidFill>
              </a:rPr>
              <a:t>3 Critical Issues</a:t>
            </a:r>
            <a:endParaRPr lang="en-US" sz="1300" dirty="0"/>
          </a:p>
        </p:txBody>
      </p:sp>
      <p:sp>
        <p:nvSpPr>
          <p:cNvPr id="20" name="Text 18"/>
          <p:cNvSpPr/>
          <p:nvPr/>
        </p:nvSpPr>
        <p:spPr>
          <a:xfrm>
            <a:off x="3172968" y="3931920"/>
            <a:ext cx="1554480" cy="274320"/>
          </a:xfrm>
          <a:prstGeom prst="rect">
            <a:avLst/>
          </a:prstGeom>
          <a:noFill/>
          <a:ln/>
        </p:spPr>
        <p:txBody>
          <a:bodyPr wrap="square" lIns="0" tIns="0" rIns="0" bIns="0" rtlCol="0" anchor="ctr"/>
          <a:lstStyle/>
          <a:p>
            <a:pPr marL="0" indent="0">
              <a:buNone/>
            </a:pPr>
            <a:r>
              <a:rPr lang="en-US" sz="1000" dirty="0">
                <a:solidFill>
                  <a:srgbClr val="7A8A94"/>
                </a:solidFill>
              </a:rPr>
              <a:t>Require immediate attention</a:t>
            </a:r>
            <a:endParaRPr lang="en-US" sz="1000" dirty="0"/>
          </a:p>
        </p:txBody>
      </p:sp>
      <p:sp>
        <p:nvSpPr>
          <p:cNvPr id="21" name="Shape 19"/>
          <p:cNvSpPr/>
          <p:nvPr/>
        </p:nvSpPr>
        <p:spPr>
          <a:xfrm>
            <a:off x="5029200" y="3429000"/>
            <a:ext cx="1783080" cy="1097280"/>
          </a:xfrm>
          <a:prstGeom prst="rect">
            <a:avLst/>
          </a:prstGeom>
          <a:solidFill>
            <a:srgbClr val="FFFFFF"/>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22" name="Shape 20"/>
          <p:cNvSpPr/>
          <p:nvPr/>
        </p:nvSpPr>
        <p:spPr>
          <a:xfrm>
            <a:off x="5029200" y="3429000"/>
            <a:ext cx="1783080" cy="73152"/>
          </a:xfrm>
          <a:prstGeom prst="rect">
            <a:avLst/>
          </a:prstGeom>
          <a:solidFill>
            <a:srgbClr val="D4891A"/>
          </a:solidFill>
          <a:ln w="12700">
            <a:solidFill>
              <a:srgbClr val="D4891A"/>
            </a:solidFill>
            <a:prstDash val="solid"/>
          </a:ln>
        </p:spPr>
        <p:txBody>
          <a:bodyPr/>
          <a:lstStyle/>
          <a:p>
            <a:endParaRPr lang="en-US"/>
          </a:p>
        </p:txBody>
      </p:sp>
      <p:sp>
        <p:nvSpPr>
          <p:cNvPr id="23" name="Text 21"/>
          <p:cNvSpPr/>
          <p:nvPr/>
        </p:nvSpPr>
        <p:spPr>
          <a:xfrm>
            <a:off x="5138928" y="3538728"/>
            <a:ext cx="1554480" cy="384048"/>
          </a:xfrm>
          <a:prstGeom prst="rect">
            <a:avLst/>
          </a:prstGeom>
          <a:noFill/>
          <a:ln/>
        </p:spPr>
        <p:txBody>
          <a:bodyPr wrap="square" lIns="0" tIns="0" rIns="0" bIns="0" rtlCol="0" anchor="ctr"/>
          <a:lstStyle/>
          <a:p>
            <a:pPr marL="0" indent="0">
              <a:buNone/>
            </a:pPr>
            <a:r>
              <a:rPr lang="en-US" sz="1300" b="1" dirty="0">
                <a:solidFill>
                  <a:srgbClr val="1E2A35"/>
                </a:solidFill>
              </a:rPr>
              <a:t>4 High Priority</a:t>
            </a:r>
            <a:endParaRPr lang="en-US" sz="1300" dirty="0"/>
          </a:p>
        </p:txBody>
      </p:sp>
      <p:sp>
        <p:nvSpPr>
          <p:cNvPr id="24" name="Text 22"/>
          <p:cNvSpPr/>
          <p:nvPr/>
        </p:nvSpPr>
        <p:spPr>
          <a:xfrm>
            <a:off x="5138928" y="3931920"/>
            <a:ext cx="1554480" cy="274320"/>
          </a:xfrm>
          <a:prstGeom prst="rect">
            <a:avLst/>
          </a:prstGeom>
          <a:noFill/>
          <a:ln/>
        </p:spPr>
        <p:txBody>
          <a:bodyPr wrap="square" lIns="0" tIns="0" rIns="0" bIns="0" rtlCol="0" anchor="ctr"/>
          <a:lstStyle/>
          <a:p>
            <a:pPr marL="0" indent="0">
              <a:buNone/>
            </a:pPr>
            <a:r>
              <a:rPr lang="en-US" sz="1000" dirty="0">
                <a:solidFill>
                  <a:srgbClr val="7A8A94"/>
                </a:solidFill>
              </a:rPr>
              <a:t>Fix within 30 days</a:t>
            </a:r>
            <a:endParaRPr lang="en-US" sz="1000" dirty="0"/>
          </a:p>
        </p:txBody>
      </p:sp>
      <p:sp>
        <p:nvSpPr>
          <p:cNvPr id="25" name="Shape 23"/>
          <p:cNvSpPr/>
          <p:nvPr/>
        </p:nvSpPr>
        <p:spPr>
          <a:xfrm>
            <a:off x="6995160" y="3429000"/>
            <a:ext cx="1783080" cy="1097280"/>
          </a:xfrm>
          <a:prstGeom prst="rect">
            <a:avLst/>
          </a:prstGeom>
          <a:solidFill>
            <a:srgbClr val="FFFFFF"/>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26" name="Shape 24"/>
          <p:cNvSpPr/>
          <p:nvPr/>
        </p:nvSpPr>
        <p:spPr>
          <a:xfrm>
            <a:off x="6995160" y="3429000"/>
            <a:ext cx="1783080" cy="73152"/>
          </a:xfrm>
          <a:prstGeom prst="rect">
            <a:avLst/>
          </a:prstGeom>
          <a:solidFill>
            <a:srgbClr val="1D6E63"/>
          </a:solidFill>
          <a:ln w="12700">
            <a:solidFill>
              <a:srgbClr val="1D6E63"/>
            </a:solidFill>
            <a:prstDash val="solid"/>
          </a:ln>
        </p:spPr>
        <p:txBody>
          <a:bodyPr/>
          <a:lstStyle/>
          <a:p>
            <a:endParaRPr lang="en-US"/>
          </a:p>
        </p:txBody>
      </p:sp>
      <p:sp>
        <p:nvSpPr>
          <p:cNvPr id="27" name="Text 25"/>
          <p:cNvSpPr/>
          <p:nvPr/>
        </p:nvSpPr>
        <p:spPr>
          <a:xfrm>
            <a:off x="7104888" y="3538728"/>
            <a:ext cx="1554480" cy="384048"/>
          </a:xfrm>
          <a:prstGeom prst="rect">
            <a:avLst/>
          </a:prstGeom>
          <a:noFill/>
          <a:ln/>
        </p:spPr>
        <p:txBody>
          <a:bodyPr wrap="square" lIns="0" tIns="0" rIns="0" bIns="0" rtlCol="0" anchor="ctr"/>
          <a:lstStyle/>
          <a:p>
            <a:pPr marL="0" indent="0">
              <a:buNone/>
            </a:pPr>
            <a:r>
              <a:rPr lang="en-US" sz="1300" b="1" dirty="0">
                <a:solidFill>
                  <a:srgbClr val="1E2A35"/>
                </a:solidFill>
              </a:rPr>
              <a:t>5 Medium Priority</a:t>
            </a:r>
            <a:endParaRPr lang="en-US" sz="1300" dirty="0"/>
          </a:p>
        </p:txBody>
      </p:sp>
      <p:sp>
        <p:nvSpPr>
          <p:cNvPr id="28" name="Text 26"/>
          <p:cNvSpPr/>
          <p:nvPr/>
        </p:nvSpPr>
        <p:spPr>
          <a:xfrm>
            <a:off x="7104888" y="3931920"/>
            <a:ext cx="1554480" cy="274320"/>
          </a:xfrm>
          <a:prstGeom prst="rect">
            <a:avLst/>
          </a:prstGeom>
          <a:noFill/>
          <a:ln/>
        </p:spPr>
        <p:txBody>
          <a:bodyPr wrap="square" lIns="0" tIns="0" rIns="0" bIns="0" rtlCol="0" anchor="ctr"/>
          <a:lstStyle/>
          <a:p>
            <a:pPr marL="0" indent="0">
              <a:buNone/>
            </a:pPr>
            <a:r>
              <a:rPr lang="en-US" sz="1000" dirty="0">
                <a:solidFill>
                  <a:srgbClr val="7A8A94"/>
                </a:solidFill>
              </a:rPr>
              <a:t>Address within 90 days</a:t>
            </a:r>
            <a:endParaRPr lang="en-US" sz="1000" dirty="0"/>
          </a:p>
        </p:txBody>
      </p:sp>
      <p:sp>
        <p:nvSpPr>
          <p:cNvPr id="29" name="Shape 27"/>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30" name="Text 28"/>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SCORE BREAKDOWN</a:t>
            </a:r>
            <a:endParaRPr lang="en-US" sz="1900" dirty="0"/>
          </a:p>
        </p:txBody>
      </p:sp>
      <p:sp>
        <p:nvSpPr>
          <p:cNvPr id="4" name="Text 2"/>
          <p:cNvSpPr/>
          <p:nvPr/>
        </p:nvSpPr>
        <p:spPr>
          <a:xfrm>
            <a:off x="365760" y="1042416"/>
            <a:ext cx="2331720" cy="347472"/>
          </a:xfrm>
          <a:prstGeom prst="rect">
            <a:avLst/>
          </a:prstGeom>
          <a:noFill/>
          <a:ln/>
        </p:spPr>
        <p:txBody>
          <a:bodyPr wrap="square" lIns="0" tIns="0" rIns="0" bIns="0" rtlCol="0" anchor="ctr"/>
          <a:lstStyle/>
          <a:p>
            <a:pPr marL="0" indent="0">
              <a:buNone/>
            </a:pPr>
            <a:r>
              <a:rPr lang="en-US" sz="1150" dirty="0">
                <a:solidFill>
                  <a:srgbClr val="1E2A35"/>
                </a:solidFill>
              </a:rPr>
              <a:t>Schema &amp; Structured Data</a:t>
            </a:r>
            <a:endParaRPr lang="en-US" sz="1150" dirty="0"/>
          </a:p>
        </p:txBody>
      </p:sp>
      <p:sp>
        <p:nvSpPr>
          <p:cNvPr id="5" name="Shape 3"/>
          <p:cNvSpPr/>
          <p:nvPr/>
        </p:nvSpPr>
        <p:spPr>
          <a:xfrm>
            <a:off x="2788920" y="1088136"/>
            <a:ext cx="4892040" cy="256032"/>
          </a:xfrm>
          <a:prstGeom prst="rect">
            <a:avLst/>
          </a:prstGeom>
          <a:solidFill>
            <a:srgbClr val="DDD5CC"/>
          </a:solidFill>
          <a:ln w="12700">
            <a:solidFill>
              <a:srgbClr val="DDD5CC"/>
            </a:solidFill>
            <a:prstDash val="solid"/>
          </a:ln>
        </p:spPr>
        <p:txBody>
          <a:bodyPr/>
          <a:lstStyle/>
          <a:p>
            <a:endParaRPr lang="en-US"/>
          </a:p>
        </p:txBody>
      </p:sp>
      <p:sp>
        <p:nvSpPr>
          <p:cNvPr id="6" name="Shape 4"/>
          <p:cNvSpPr/>
          <p:nvPr/>
        </p:nvSpPr>
        <p:spPr>
          <a:xfrm>
            <a:off x="2788920" y="1088136"/>
            <a:ext cx="880567" cy="256032"/>
          </a:xfrm>
          <a:prstGeom prst="rect">
            <a:avLst/>
          </a:prstGeom>
          <a:solidFill>
            <a:srgbClr val="C94040"/>
          </a:solidFill>
          <a:ln w="12700">
            <a:solidFill>
              <a:srgbClr val="C94040"/>
            </a:solidFill>
            <a:prstDash val="solid"/>
          </a:ln>
        </p:spPr>
        <p:txBody>
          <a:bodyPr/>
          <a:lstStyle/>
          <a:p>
            <a:endParaRPr lang="en-US"/>
          </a:p>
        </p:txBody>
      </p:sp>
      <p:sp>
        <p:nvSpPr>
          <p:cNvPr id="7" name="Text 5"/>
          <p:cNvSpPr/>
          <p:nvPr/>
        </p:nvSpPr>
        <p:spPr>
          <a:xfrm>
            <a:off x="7790688" y="1042416"/>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18/100</a:t>
            </a:r>
            <a:endParaRPr lang="en-US" sz="1200" dirty="0"/>
          </a:p>
        </p:txBody>
      </p:sp>
      <p:sp>
        <p:nvSpPr>
          <p:cNvPr id="8" name="Text 6"/>
          <p:cNvSpPr/>
          <p:nvPr/>
        </p:nvSpPr>
        <p:spPr>
          <a:xfrm>
            <a:off x="8577072" y="1042416"/>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10%</a:t>
            </a:r>
            <a:endParaRPr lang="en-US" sz="1000" dirty="0"/>
          </a:p>
        </p:txBody>
      </p:sp>
      <p:sp>
        <p:nvSpPr>
          <p:cNvPr id="9" name="Text 7"/>
          <p:cNvSpPr/>
          <p:nvPr/>
        </p:nvSpPr>
        <p:spPr>
          <a:xfrm>
            <a:off x="365760" y="1609344"/>
            <a:ext cx="2331720" cy="347472"/>
          </a:xfrm>
          <a:prstGeom prst="rect">
            <a:avLst/>
          </a:prstGeom>
          <a:noFill/>
          <a:ln/>
        </p:spPr>
        <p:txBody>
          <a:bodyPr wrap="square" lIns="0" tIns="0" rIns="0" bIns="0" rtlCol="0" anchor="ctr"/>
          <a:lstStyle/>
          <a:p>
            <a:pPr marL="0" indent="0">
              <a:buNone/>
            </a:pPr>
            <a:r>
              <a:rPr lang="en-US" sz="1150" dirty="0">
                <a:solidFill>
                  <a:srgbClr val="1E2A35"/>
                </a:solidFill>
              </a:rPr>
              <a:t>Technical GEO</a:t>
            </a:r>
            <a:endParaRPr lang="en-US" sz="1150" dirty="0"/>
          </a:p>
        </p:txBody>
      </p:sp>
      <p:sp>
        <p:nvSpPr>
          <p:cNvPr id="10" name="Shape 8"/>
          <p:cNvSpPr/>
          <p:nvPr/>
        </p:nvSpPr>
        <p:spPr>
          <a:xfrm>
            <a:off x="2788920" y="1655064"/>
            <a:ext cx="4892040" cy="256032"/>
          </a:xfrm>
          <a:prstGeom prst="rect">
            <a:avLst/>
          </a:prstGeom>
          <a:solidFill>
            <a:srgbClr val="DDD5CC"/>
          </a:solidFill>
          <a:ln w="12700">
            <a:solidFill>
              <a:srgbClr val="DDD5CC"/>
            </a:solidFill>
            <a:prstDash val="solid"/>
          </a:ln>
        </p:spPr>
        <p:txBody>
          <a:bodyPr/>
          <a:lstStyle/>
          <a:p>
            <a:endParaRPr lang="en-US"/>
          </a:p>
        </p:txBody>
      </p:sp>
      <p:sp>
        <p:nvSpPr>
          <p:cNvPr id="11" name="Shape 9"/>
          <p:cNvSpPr/>
          <p:nvPr/>
        </p:nvSpPr>
        <p:spPr>
          <a:xfrm>
            <a:off x="2788920" y="1655064"/>
            <a:ext cx="1369771" cy="256032"/>
          </a:xfrm>
          <a:prstGeom prst="rect">
            <a:avLst/>
          </a:prstGeom>
          <a:solidFill>
            <a:srgbClr val="C94040"/>
          </a:solidFill>
          <a:ln w="12700">
            <a:solidFill>
              <a:srgbClr val="C94040"/>
            </a:solidFill>
            <a:prstDash val="solid"/>
          </a:ln>
        </p:spPr>
        <p:txBody>
          <a:bodyPr/>
          <a:lstStyle/>
          <a:p>
            <a:endParaRPr lang="en-US"/>
          </a:p>
        </p:txBody>
      </p:sp>
      <p:sp>
        <p:nvSpPr>
          <p:cNvPr id="12" name="Text 10"/>
          <p:cNvSpPr/>
          <p:nvPr/>
        </p:nvSpPr>
        <p:spPr>
          <a:xfrm>
            <a:off x="7790688" y="1609344"/>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28/100</a:t>
            </a:r>
            <a:endParaRPr lang="en-US" sz="1200" dirty="0"/>
          </a:p>
        </p:txBody>
      </p:sp>
      <p:sp>
        <p:nvSpPr>
          <p:cNvPr id="13" name="Text 11"/>
          <p:cNvSpPr/>
          <p:nvPr/>
        </p:nvSpPr>
        <p:spPr>
          <a:xfrm>
            <a:off x="8577072" y="1609344"/>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15%</a:t>
            </a:r>
            <a:endParaRPr lang="en-US" sz="1000" dirty="0"/>
          </a:p>
        </p:txBody>
      </p:sp>
      <p:sp>
        <p:nvSpPr>
          <p:cNvPr id="14" name="Text 12"/>
          <p:cNvSpPr/>
          <p:nvPr/>
        </p:nvSpPr>
        <p:spPr>
          <a:xfrm>
            <a:off x="365760" y="2176272"/>
            <a:ext cx="2331720" cy="347472"/>
          </a:xfrm>
          <a:prstGeom prst="rect">
            <a:avLst/>
          </a:prstGeom>
          <a:noFill/>
          <a:ln/>
        </p:spPr>
        <p:txBody>
          <a:bodyPr wrap="square" lIns="0" tIns="0" rIns="0" bIns="0" rtlCol="0" anchor="ctr"/>
          <a:lstStyle/>
          <a:p>
            <a:pPr marL="0" indent="0">
              <a:buNone/>
            </a:pPr>
            <a:r>
              <a:rPr lang="en-US" sz="1150" dirty="0">
                <a:solidFill>
                  <a:srgbClr val="1E2A35"/>
                </a:solidFill>
              </a:rPr>
              <a:t>AI Citability</a:t>
            </a:r>
            <a:endParaRPr lang="en-US" sz="1150" dirty="0"/>
          </a:p>
        </p:txBody>
      </p:sp>
      <p:sp>
        <p:nvSpPr>
          <p:cNvPr id="15" name="Shape 13"/>
          <p:cNvSpPr/>
          <p:nvPr/>
        </p:nvSpPr>
        <p:spPr>
          <a:xfrm>
            <a:off x="2788920" y="2221992"/>
            <a:ext cx="4892040" cy="256032"/>
          </a:xfrm>
          <a:prstGeom prst="rect">
            <a:avLst/>
          </a:prstGeom>
          <a:solidFill>
            <a:srgbClr val="DDD5CC"/>
          </a:solidFill>
          <a:ln w="12700">
            <a:solidFill>
              <a:srgbClr val="DDD5CC"/>
            </a:solidFill>
            <a:prstDash val="solid"/>
          </a:ln>
        </p:spPr>
        <p:txBody>
          <a:bodyPr/>
          <a:lstStyle/>
          <a:p>
            <a:endParaRPr lang="en-US"/>
          </a:p>
        </p:txBody>
      </p:sp>
      <p:sp>
        <p:nvSpPr>
          <p:cNvPr id="16" name="Shape 14"/>
          <p:cNvSpPr/>
          <p:nvPr/>
        </p:nvSpPr>
        <p:spPr>
          <a:xfrm>
            <a:off x="2788920" y="2221992"/>
            <a:ext cx="1565453" cy="256032"/>
          </a:xfrm>
          <a:prstGeom prst="rect">
            <a:avLst/>
          </a:prstGeom>
          <a:solidFill>
            <a:srgbClr val="C94040"/>
          </a:solidFill>
          <a:ln w="12700">
            <a:solidFill>
              <a:srgbClr val="C94040"/>
            </a:solidFill>
            <a:prstDash val="solid"/>
          </a:ln>
        </p:spPr>
        <p:txBody>
          <a:bodyPr/>
          <a:lstStyle/>
          <a:p>
            <a:endParaRPr lang="en-US"/>
          </a:p>
        </p:txBody>
      </p:sp>
      <p:sp>
        <p:nvSpPr>
          <p:cNvPr id="17" name="Text 15"/>
          <p:cNvSpPr/>
          <p:nvPr/>
        </p:nvSpPr>
        <p:spPr>
          <a:xfrm>
            <a:off x="7790688" y="2176272"/>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32/100</a:t>
            </a:r>
            <a:endParaRPr lang="en-US" sz="1200" dirty="0"/>
          </a:p>
        </p:txBody>
      </p:sp>
      <p:sp>
        <p:nvSpPr>
          <p:cNvPr id="18" name="Text 16"/>
          <p:cNvSpPr/>
          <p:nvPr/>
        </p:nvSpPr>
        <p:spPr>
          <a:xfrm>
            <a:off x="8577072" y="2176272"/>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25%</a:t>
            </a:r>
            <a:endParaRPr lang="en-US" sz="1000" dirty="0"/>
          </a:p>
        </p:txBody>
      </p:sp>
      <p:sp>
        <p:nvSpPr>
          <p:cNvPr id="19" name="Text 17"/>
          <p:cNvSpPr/>
          <p:nvPr/>
        </p:nvSpPr>
        <p:spPr>
          <a:xfrm>
            <a:off x="365760" y="2743200"/>
            <a:ext cx="2331720" cy="347472"/>
          </a:xfrm>
          <a:prstGeom prst="rect">
            <a:avLst/>
          </a:prstGeom>
          <a:noFill/>
          <a:ln/>
        </p:spPr>
        <p:txBody>
          <a:bodyPr wrap="square" lIns="0" tIns="0" rIns="0" bIns="0" rtlCol="0" anchor="ctr"/>
          <a:lstStyle/>
          <a:p>
            <a:pPr marL="0" indent="0">
              <a:buNone/>
            </a:pPr>
            <a:r>
              <a:rPr lang="en-US" sz="1150" dirty="0">
                <a:solidFill>
                  <a:srgbClr val="1E2A35"/>
                </a:solidFill>
              </a:rPr>
              <a:t>Content E-E-A-T</a:t>
            </a:r>
            <a:endParaRPr lang="en-US" sz="1150" dirty="0"/>
          </a:p>
        </p:txBody>
      </p:sp>
      <p:sp>
        <p:nvSpPr>
          <p:cNvPr id="20" name="Shape 18"/>
          <p:cNvSpPr/>
          <p:nvPr/>
        </p:nvSpPr>
        <p:spPr>
          <a:xfrm>
            <a:off x="2788920" y="2788920"/>
            <a:ext cx="4892040" cy="256032"/>
          </a:xfrm>
          <a:prstGeom prst="rect">
            <a:avLst/>
          </a:prstGeom>
          <a:solidFill>
            <a:srgbClr val="DDD5CC"/>
          </a:solidFill>
          <a:ln w="12700">
            <a:solidFill>
              <a:srgbClr val="DDD5CC"/>
            </a:solidFill>
            <a:prstDash val="solid"/>
          </a:ln>
        </p:spPr>
        <p:txBody>
          <a:bodyPr/>
          <a:lstStyle/>
          <a:p>
            <a:endParaRPr lang="en-US"/>
          </a:p>
        </p:txBody>
      </p:sp>
      <p:sp>
        <p:nvSpPr>
          <p:cNvPr id="21" name="Shape 19"/>
          <p:cNvSpPr/>
          <p:nvPr/>
        </p:nvSpPr>
        <p:spPr>
          <a:xfrm>
            <a:off x="2788920" y="2788920"/>
            <a:ext cx="2250338" cy="256032"/>
          </a:xfrm>
          <a:prstGeom prst="rect">
            <a:avLst/>
          </a:prstGeom>
          <a:solidFill>
            <a:srgbClr val="D4891A"/>
          </a:solidFill>
          <a:ln w="12700">
            <a:solidFill>
              <a:srgbClr val="D4891A"/>
            </a:solidFill>
            <a:prstDash val="solid"/>
          </a:ln>
        </p:spPr>
        <p:txBody>
          <a:bodyPr/>
          <a:lstStyle/>
          <a:p>
            <a:endParaRPr lang="en-US"/>
          </a:p>
        </p:txBody>
      </p:sp>
      <p:sp>
        <p:nvSpPr>
          <p:cNvPr id="22" name="Text 20"/>
          <p:cNvSpPr/>
          <p:nvPr/>
        </p:nvSpPr>
        <p:spPr>
          <a:xfrm>
            <a:off x="7790688" y="2743200"/>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46/100</a:t>
            </a:r>
            <a:endParaRPr lang="en-US" sz="1200" dirty="0"/>
          </a:p>
        </p:txBody>
      </p:sp>
      <p:sp>
        <p:nvSpPr>
          <p:cNvPr id="23" name="Text 21"/>
          <p:cNvSpPr/>
          <p:nvPr/>
        </p:nvSpPr>
        <p:spPr>
          <a:xfrm>
            <a:off x="8577072" y="2743200"/>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20%</a:t>
            </a:r>
            <a:endParaRPr lang="en-US" sz="1000" dirty="0"/>
          </a:p>
        </p:txBody>
      </p:sp>
      <p:sp>
        <p:nvSpPr>
          <p:cNvPr id="24" name="Text 22"/>
          <p:cNvSpPr/>
          <p:nvPr/>
        </p:nvSpPr>
        <p:spPr>
          <a:xfrm>
            <a:off x="365760" y="3310128"/>
            <a:ext cx="2331720" cy="347472"/>
          </a:xfrm>
          <a:prstGeom prst="rect">
            <a:avLst/>
          </a:prstGeom>
          <a:noFill/>
          <a:ln/>
        </p:spPr>
        <p:txBody>
          <a:bodyPr wrap="square" lIns="0" tIns="0" rIns="0" bIns="0" rtlCol="0" anchor="ctr"/>
          <a:lstStyle/>
          <a:p>
            <a:pPr marL="0" indent="0">
              <a:buNone/>
            </a:pPr>
            <a:r>
              <a:rPr lang="en-US" sz="1150" dirty="0">
                <a:solidFill>
                  <a:srgbClr val="1E2A35"/>
                </a:solidFill>
              </a:rPr>
              <a:t>Brand Authority</a:t>
            </a:r>
            <a:endParaRPr lang="en-US" sz="1150" dirty="0"/>
          </a:p>
        </p:txBody>
      </p:sp>
      <p:sp>
        <p:nvSpPr>
          <p:cNvPr id="25" name="Shape 23"/>
          <p:cNvSpPr/>
          <p:nvPr/>
        </p:nvSpPr>
        <p:spPr>
          <a:xfrm>
            <a:off x="2788920" y="3355848"/>
            <a:ext cx="4892040" cy="256032"/>
          </a:xfrm>
          <a:prstGeom prst="rect">
            <a:avLst/>
          </a:prstGeom>
          <a:solidFill>
            <a:srgbClr val="DDD5CC"/>
          </a:solidFill>
          <a:ln w="12700">
            <a:solidFill>
              <a:srgbClr val="DDD5CC"/>
            </a:solidFill>
            <a:prstDash val="solid"/>
          </a:ln>
        </p:spPr>
        <p:txBody>
          <a:bodyPr/>
          <a:lstStyle/>
          <a:p>
            <a:endParaRPr lang="en-US"/>
          </a:p>
        </p:txBody>
      </p:sp>
      <p:sp>
        <p:nvSpPr>
          <p:cNvPr id="26" name="Shape 24"/>
          <p:cNvSpPr/>
          <p:nvPr/>
        </p:nvSpPr>
        <p:spPr>
          <a:xfrm>
            <a:off x="2788920" y="3355848"/>
            <a:ext cx="2690622" cy="256032"/>
          </a:xfrm>
          <a:prstGeom prst="rect">
            <a:avLst/>
          </a:prstGeom>
          <a:solidFill>
            <a:srgbClr val="D4891A"/>
          </a:solidFill>
          <a:ln w="12700">
            <a:solidFill>
              <a:srgbClr val="D4891A"/>
            </a:solidFill>
            <a:prstDash val="solid"/>
          </a:ln>
        </p:spPr>
        <p:txBody>
          <a:bodyPr/>
          <a:lstStyle/>
          <a:p>
            <a:endParaRPr lang="en-US"/>
          </a:p>
        </p:txBody>
      </p:sp>
      <p:sp>
        <p:nvSpPr>
          <p:cNvPr id="27" name="Text 25"/>
          <p:cNvSpPr/>
          <p:nvPr/>
        </p:nvSpPr>
        <p:spPr>
          <a:xfrm>
            <a:off x="7790688" y="3310128"/>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55/100</a:t>
            </a:r>
            <a:endParaRPr lang="en-US" sz="1200" dirty="0"/>
          </a:p>
        </p:txBody>
      </p:sp>
      <p:sp>
        <p:nvSpPr>
          <p:cNvPr id="28" name="Text 26"/>
          <p:cNvSpPr/>
          <p:nvPr/>
        </p:nvSpPr>
        <p:spPr>
          <a:xfrm>
            <a:off x="8577072" y="3310128"/>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20%</a:t>
            </a:r>
            <a:endParaRPr lang="en-US" sz="1000" dirty="0"/>
          </a:p>
        </p:txBody>
      </p:sp>
      <p:sp>
        <p:nvSpPr>
          <p:cNvPr id="29" name="Text 27"/>
          <p:cNvSpPr/>
          <p:nvPr/>
        </p:nvSpPr>
        <p:spPr>
          <a:xfrm>
            <a:off x="365760" y="3877056"/>
            <a:ext cx="2331720" cy="347472"/>
          </a:xfrm>
          <a:prstGeom prst="rect">
            <a:avLst/>
          </a:prstGeom>
          <a:noFill/>
          <a:ln/>
        </p:spPr>
        <p:txBody>
          <a:bodyPr wrap="square" lIns="0" tIns="0" rIns="0" bIns="0" rtlCol="0" anchor="ctr"/>
          <a:lstStyle/>
          <a:p>
            <a:pPr marL="0" indent="0">
              <a:buNone/>
            </a:pPr>
            <a:r>
              <a:rPr lang="en-US" sz="1150" dirty="0">
                <a:solidFill>
                  <a:srgbClr val="1E2A35"/>
                </a:solidFill>
              </a:rPr>
              <a:t>Platform Optimization</a:t>
            </a:r>
            <a:endParaRPr lang="en-US" sz="1150" dirty="0"/>
          </a:p>
        </p:txBody>
      </p:sp>
      <p:sp>
        <p:nvSpPr>
          <p:cNvPr id="30" name="Shape 28"/>
          <p:cNvSpPr/>
          <p:nvPr/>
        </p:nvSpPr>
        <p:spPr>
          <a:xfrm>
            <a:off x="2788920" y="3922776"/>
            <a:ext cx="4892040" cy="256032"/>
          </a:xfrm>
          <a:prstGeom prst="rect">
            <a:avLst/>
          </a:prstGeom>
          <a:solidFill>
            <a:srgbClr val="DDD5CC"/>
          </a:solidFill>
          <a:ln w="12700">
            <a:solidFill>
              <a:srgbClr val="DDD5CC"/>
            </a:solidFill>
            <a:prstDash val="solid"/>
          </a:ln>
        </p:spPr>
        <p:txBody>
          <a:bodyPr/>
          <a:lstStyle/>
          <a:p>
            <a:endParaRPr lang="en-US"/>
          </a:p>
        </p:txBody>
      </p:sp>
      <p:sp>
        <p:nvSpPr>
          <p:cNvPr id="31" name="Shape 29"/>
          <p:cNvSpPr/>
          <p:nvPr/>
        </p:nvSpPr>
        <p:spPr>
          <a:xfrm>
            <a:off x="2788920" y="3922776"/>
            <a:ext cx="2837383" cy="256032"/>
          </a:xfrm>
          <a:prstGeom prst="rect">
            <a:avLst/>
          </a:prstGeom>
          <a:solidFill>
            <a:srgbClr val="2EB8A6"/>
          </a:solidFill>
          <a:ln w="12700">
            <a:solidFill>
              <a:srgbClr val="2EB8A6"/>
            </a:solidFill>
            <a:prstDash val="solid"/>
          </a:ln>
        </p:spPr>
        <p:txBody>
          <a:bodyPr/>
          <a:lstStyle/>
          <a:p>
            <a:endParaRPr lang="en-US"/>
          </a:p>
        </p:txBody>
      </p:sp>
      <p:sp>
        <p:nvSpPr>
          <p:cNvPr id="32" name="Text 30"/>
          <p:cNvSpPr/>
          <p:nvPr/>
        </p:nvSpPr>
        <p:spPr>
          <a:xfrm>
            <a:off x="7790688" y="3877056"/>
            <a:ext cx="749808" cy="347472"/>
          </a:xfrm>
          <a:prstGeom prst="rect">
            <a:avLst/>
          </a:prstGeom>
          <a:noFill/>
          <a:ln/>
        </p:spPr>
        <p:txBody>
          <a:bodyPr wrap="square" lIns="0" tIns="0" rIns="0" bIns="0" rtlCol="0" anchor="ctr"/>
          <a:lstStyle/>
          <a:p>
            <a:pPr marL="0" indent="0">
              <a:buNone/>
            </a:pPr>
            <a:r>
              <a:rPr lang="en-US" sz="1200" b="1" dirty="0">
                <a:solidFill>
                  <a:srgbClr val="1E2A35"/>
                </a:solidFill>
              </a:rPr>
              <a:t>58/100</a:t>
            </a:r>
            <a:endParaRPr lang="en-US" sz="1200" dirty="0"/>
          </a:p>
        </p:txBody>
      </p:sp>
      <p:sp>
        <p:nvSpPr>
          <p:cNvPr id="33" name="Text 31"/>
          <p:cNvSpPr/>
          <p:nvPr/>
        </p:nvSpPr>
        <p:spPr>
          <a:xfrm>
            <a:off x="8577072" y="3877056"/>
            <a:ext cx="658368" cy="347472"/>
          </a:xfrm>
          <a:prstGeom prst="rect">
            <a:avLst/>
          </a:prstGeom>
          <a:noFill/>
          <a:ln/>
        </p:spPr>
        <p:txBody>
          <a:bodyPr wrap="square" lIns="0" tIns="0" rIns="0" bIns="0" rtlCol="0" anchor="ctr"/>
          <a:lstStyle/>
          <a:p>
            <a:pPr marL="0" indent="0">
              <a:buNone/>
            </a:pPr>
            <a:r>
              <a:rPr lang="en-US" sz="1000" dirty="0">
                <a:solidFill>
                  <a:srgbClr val="7A8A94"/>
                </a:solidFill>
              </a:rPr>
              <a:t>Wt: 10%</a:t>
            </a:r>
            <a:endParaRPr lang="en-US" sz="1000" dirty="0"/>
          </a:p>
        </p:txBody>
      </p:sp>
      <p:sp>
        <p:nvSpPr>
          <p:cNvPr id="34" name="Shape 32"/>
          <p:cNvSpPr/>
          <p:nvPr/>
        </p:nvSpPr>
        <p:spPr>
          <a:xfrm>
            <a:off x="320040" y="4434840"/>
            <a:ext cx="8503920" cy="438912"/>
          </a:xfrm>
          <a:prstGeom prst="rect">
            <a:avLst/>
          </a:prstGeom>
          <a:solidFill>
            <a:srgbClr val="1B3A4B"/>
          </a:solidFill>
          <a:ln w="12700">
            <a:solidFill>
              <a:srgbClr val="1B3A4B"/>
            </a:solidFill>
            <a:prstDash val="solid"/>
          </a:ln>
        </p:spPr>
        <p:txBody>
          <a:bodyPr/>
          <a:lstStyle/>
          <a:p>
            <a:endParaRPr lang="en-US"/>
          </a:p>
        </p:txBody>
      </p:sp>
      <p:sp>
        <p:nvSpPr>
          <p:cNvPr id="35" name="Text 33"/>
          <p:cNvSpPr/>
          <p:nvPr/>
        </p:nvSpPr>
        <p:spPr>
          <a:xfrm>
            <a:off x="502920" y="4434840"/>
            <a:ext cx="5029200" cy="438912"/>
          </a:xfrm>
          <a:prstGeom prst="rect">
            <a:avLst/>
          </a:prstGeom>
          <a:noFill/>
          <a:ln/>
        </p:spPr>
        <p:txBody>
          <a:bodyPr wrap="square" lIns="0" tIns="0" rIns="0" bIns="0" rtlCol="0" anchor="ctr"/>
          <a:lstStyle/>
          <a:p>
            <a:pPr marL="0" indent="0">
              <a:buNone/>
            </a:pPr>
            <a:r>
              <a:rPr lang="en-US" sz="1300" b="1" kern="0" spc="200" dirty="0">
                <a:solidFill>
                  <a:srgbClr val="FFFFFF"/>
                </a:solidFill>
              </a:rPr>
              <a:t>OVERALL WEIGHTED GEO SCORE</a:t>
            </a:r>
            <a:endParaRPr lang="en-US" sz="1300" dirty="0"/>
          </a:p>
        </p:txBody>
      </p:sp>
      <p:sp>
        <p:nvSpPr>
          <p:cNvPr id="36" name="Text 34"/>
          <p:cNvSpPr/>
          <p:nvPr/>
        </p:nvSpPr>
        <p:spPr>
          <a:xfrm>
            <a:off x="5577840" y="4434840"/>
            <a:ext cx="3108960" cy="438912"/>
          </a:xfrm>
          <a:prstGeom prst="rect">
            <a:avLst/>
          </a:prstGeom>
          <a:noFill/>
          <a:ln/>
        </p:spPr>
        <p:txBody>
          <a:bodyPr wrap="square" lIns="0" tIns="0" rIns="0" bIns="0" rtlCol="0" anchor="ctr"/>
          <a:lstStyle/>
          <a:p>
            <a:pPr marL="0" indent="0" algn="r">
              <a:buNone/>
            </a:pPr>
            <a:r>
              <a:rPr lang="en-US" sz="1400" b="1" dirty="0">
                <a:solidFill>
                  <a:srgbClr val="C94040"/>
                </a:solidFill>
              </a:rPr>
              <a:t>40 / 100  —  POOR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94040"/>
          </a:solidFill>
          <a:ln w="12700">
            <a:solidFill>
              <a:srgbClr val="C94040"/>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CRITICAL ISSUES — FIX IMMEDIATELY</a:t>
            </a:r>
            <a:endParaRPr lang="en-US" sz="1900" dirty="0"/>
          </a:p>
        </p:txBody>
      </p:sp>
      <p:sp>
        <p:nvSpPr>
          <p:cNvPr id="4" name="Shape 2"/>
          <p:cNvSpPr/>
          <p:nvPr/>
        </p:nvSpPr>
        <p:spPr>
          <a:xfrm>
            <a:off x="274320" y="896112"/>
            <a:ext cx="438912" cy="1170432"/>
          </a:xfrm>
          <a:prstGeom prst="rect">
            <a:avLst/>
          </a:prstGeom>
          <a:solidFill>
            <a:srgbClr val="C94040"/>
          </a:solidFill>
          <a:ln w="12700">
            <a:solidFill>
              <a:srgbClr val="C94040"/>
            </a:solidFill>
            <a:prstDash val="solid"/>
          </a:ln>
        </p:spPr>
        <p:txBody>
          <a:bodyPr/>
          <a:lstStyle/>
          <a:p>
            <a:endParaRPr lang="en-US"/>
          </a:p>
        </p:txBody>
      </p:sp>
      <p:sp>
        <p:nvSpPr>
          <p:cNvPr id="5" name="Text 3"/>
          <p:cNvSpPr/>
          <p:nvPr/>
        </p:nvSpPr>
        <p:spPr>
          <a:xfrm>
            <a:off x="274320" y="896112"/>
            <a:ext cx="438912" cy="1170432"/>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6" name="Shape 4"/>
          <p:cNvSpPr/>
          <p:nvPr/>
        </p:nvSpPr>
        <p:spPr>
          <a:xfrm>
            <a:off x="786384" y="896112"/>
            <a:ext cx="8065008" cy="1170432"/>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7" name="Text 5"/>
          <p:cNvSpPr/>
          <p:nvPr/>
        </p:nvSpPr>
        <p:spPr>
          <a:xfrm>
            <a:off x="960120" y="969264"/>
            <a:ext cx="7772400" cy="320040"/>
          </a:xfrm>
          <a:prstGeom prst="rect">
            <a:avLst/>
          </a:prstGeom>
          <a:noFill/>
          <a:ln/>
        </p:spPr>
        <p:txBody>
          <a:bodyPr wrap="square" lIns="0" tIns="0" rIns="0" bIns="0" rtlCol="0" anchor="ctr"/>
          <a:lstStyle/>
          <a:p>
            <a:pPr marL="0" indent="0">
              <a:buNone/>
            </a:pPr>
            <a:r>
              <a:rPr lang="en-US" sz="1250" b="1" dirty="0">
                <a:solidFill>
                  <a:srgbClr val="C94040"/>
                </a:solidFill>
              </a:rPr>
              <a:t>Site Actively Blocks Automated Fetch Tools (HTTP 403)</a:t>
            </a:r>
            <a:endParaRPr lang="en-US" sz="1250" dirty="0"/>
          </a:p>
        </p:txBody>
      </p:sp>
      <p:sp>
        <p:nvSpPr>
          <p:cNvPr id="8" name="Text 6"/>
          <p:cNvSpPr/>
          <p:nvPr/>
        </p:nvSpPr>
        <p:spPr>
          <a:xfrm>
            <a:off x="960120" y="1280160"/>
            <a:ext cx="7772400" cy="347472"/>
          </a:xfrm>
          <a:prstGeom prst="rect">
            <a:avLst/>
          </a:prstGeom>
          <a:noFill/>
          <a:ln/>
        </p:spPr>
        <p:txBody>
          <a:bodyPr wrap="square" lIns="0" tIns="0" rIns="0" bIns="0" rtlCol="0" anchor="ctr"/>
          <a:lstStyle/>
          <a:p>
            <a:pPr marL="0" indent="0">
              <a:buNone/>
            </a:pPr>
            <a:r>
              <a:rPr lang="en-US" sz="1050" dirty="0">
                <a:solidFill>
                  <a:srgbClr val="1E2A35"/>
                </a:solidFill>
              </a:rPr>
              <a:t>Server returns HTTP 403 to all non-browser requests. GPTBot, ClaudeBot, PerplexityBot, and CommonCrawl are all blocked — AI training and retrieval systems cannot index the site.</a:t>
            </a:r>
            <a:endParaRPr lang="en-US" sz="1050" dirty="0"/>
          </a:p>
        </p:txBody>
      </p:sp>
      <p:sp>
        <p:nvSpPr>
          <p:cNvPr id="9" name="Text 7"/>
          <p:cNvSpPr/>
          <p:nvPr/>
        </p:nvSpPr>
        <p:spPr>
          <a:xfrm>
            <a:off x="960120" y="1645920"/>
            <a:ext cx="7772400" cy="329184"/>
          </a:xfrm>
          <a:prstGeom prst="rect">
            <a:avLst/>
          </a:prstGeom>
          <a:noFill/>
          <a:ln/>
        </p:spPr>
        <p:txBody>
          <a:bodyPr wrap="square" lIns="0" tIns="0" rIns="0" bIns="0" rtlCol="0" anchor="ctr"/>
          <a:lstStyle/>
          <a:p>
            <a:pPr marL="0" indent="0">
              <a:buNone/>
            </a:pPr>
            <a:r>
              <a:rPr lang="en-US" sz="1000" i="1" dirty="0">
                <a:solidFill>
                  <a:srgbClr val="1D6E63"/>
                </a:solidFill>
              </a:rPr>
              <a:t>FIX:  Whitelist AI agents in your security plugin: GPTBot, ClaudeBot, PerplexityBot, Google-Extended, CCBot, anthropic-ai, OAI-SearchBot. Verify with: curl -A "GPTBot" https://lucindastudio.com.au</a:t>
            </a:r>
            <a:endParaRPr lang="en-US" sz="1000" dirty="0"/>
          </a:p>
        </p:txBody>
      </p:sp>
      <p:sp>
        <p:nvSpPr>
          <p:cNvPr id="10" name="Shape 8"/>
          <p:cNvSpPr/>
          <p:nvPr/>
        </p:nvSpPr>
        <p:spPr>
          <a:xfrm>
            <a:off x="274320" y="2267712"/>
            <a:ext cx="438912" cy="1170432"/>
          </a:xfrm>
          <a:prstGeom prst="rect">
            <a:avLst/>
          </a:prstGeom>
          <a:solidFill>
            <a:srgbClr val="C94040"/>
          </a:solidFill>
          <a:ln w="12700">
            <a:solidFill>
              <a:srgbClr val="C94040"/>
            </a:solidFill>
            <a:prstDash val="solid"/>
          </a:ln>
        </p:spPr>
        <p:txBody>
          <a:bodyPr/>
          <a:lstStyle/>
          <a:p>
            <a:endParaRPr lang="en-US"/>
          </a:p>
        </p:txBody>
      </p:sp>
      <p:sp>
        <p:nvSpPr>
          <p:cNvPr id="11" name="Text 9"/>
          <p:cNvSpPr/>
          <p:nvPr/>
        </p:nvSpPr>
        <p:spPr>
          <a:xfrm>
            <a:off x="274320" y="2267712"/>
            <a:ext cx="438912" cy="1170432"/>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2" name="Shape 10"/>
          <p:cNvSpPr/>
          <p:nvPr/>
        </p:nvSpPr>
        <p:spPr>
          <a:xfrm>
            <a:off x="786384" y="2267712"/>
            <a:ext cx="8065008" cy="1170432"/>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3" name="Text 11"/>
          <p:cNvSpPr/>
          <p:nvPr/>
        </p:nvSpPr>
        <p:spPr>
          <a:xfrm>
            <a:off x="960120" y="2340864"/>
            <a:ext cx="7772400" cy="320040"/>
          </a:xfrm>
          <a:prstGeom prst="rect">
            <a:avLst/>
          </a:prstGeom>
          <a:noFill/>
          <a:ln/>
        </p:spPr>
        <p:txBody>
          <a:bodyPr wrap="square" lIns="0" tIns="0" rIns="0" bIns="0" rtlCol="0" anchor="ctr"/>
          <a:lstStyle/>
          <a:p>
            <a:pPr marL="0" indent="0">
              <a:buNone/>
            </a:pPr>
            <a:r>
              <a:rPr lang="en-US" sz="1250" b="1" dirty="0">
                <a:solidFill>
                  <a:srgbClr val="C94040"/>
                </a:solidFill>
              </a:rPr>
              <a:t>No llms.txt File</a:t>
            </a:r>
            <a:endParaRPr lang="en-US" sz="1250" dirty="0"/>
          </a:p>
        </p:txBody>
      </p:sp>
      <p:sp>
        <p:nvSpPr>
          <p:cNvPr id="14" name="Text 12"/>
          <p:cNvSpPr/>
          <p:nvPr/>
        </p:nvSpPr>
        <p:spPr>
          <a:xfrm>
            <a:off x="960120" y="2651760"/>
            <a:ext cx="7772400" cy="347472"/>
          </a:xfrm>
          <a:prstGeom prst="rect">
            <a:avLst/>
          </a:prstGeom>
          <a:noFill/>
          <a:ln/>
        </p:spPr>
        <p:txBody>
          <a:bodyPr wrap="square" lIns="0" tIns="0" rIns="0" bIns="0" rtlCol="0" anchor="ctr"/>
          <a:lstStyle/>
          <a:p>
            <a:pPr marL="0" indent="0">
              <a:buNone/>
            </a:pPr>
            <a:r>
              <a:rPr lang="en-US" sz="1050" dirty="0">
                <a:solidFill>
                  <a:srgbClr val="1E2A35"/>
                </a:solidFill>
              </a:rPr>
              <a:t>llms.txt is the emerging standard for telling AI systems what your site is, what content is available, and how to cite you correctly. Every site without one is invisible to AI systems that check for it.</a:t>
            </a:r>
            <a:endParaRPr lang="en-US" sz="1050" dirty="0"/>
          </a:p>
        </p:txBody>
      </p:sp>
      <p:sp>
        <p:nvSpPr>
          <p:cNvPr id="15" name="Text 13"/>
          <p:cNvSpPr/>
          <p:nvPr/>
        </p:nvSpPr>
        <p:spPr>
          <a:xfrm>
            <a:off x="960120" y="3017520"/>
            <a:ext cx="7772400" cy="329184"/>
          </a:xfrm>
          <a:prstGeom prst="rect">
            <a:avLst/>
          </a:prstGeom>
          <a:noFill/>
          <a:ln/>
        </p:spPr>
        <p:txBody>
          <a:bodyPr wrap="square" lIns="0" tIns="0" rIns="0" bIns="0" rtlCol="0" anchor="ctr"/>
          <a:lstStyle/>
          <a:p>
            <a:pPr marL="0" indent="0">
              <a:buNone/>
            </a:pPr>
            <a:r>
              <a:rPr lang="en-US" sz="1000" i="1" dirty="0">
                <a:solidFill>
                  <a:srgbClr val="1D6E63"/>
                </a:solidFill>
              </a:rPr>
              <a:t>FIX:  Create /llms.txt in the WordPress root with a structured description of Lucinda, her work, and site content.</a:t>
            </a:r>
            <a:endParaRPr lang="en-US" sz="1000" dirty="0"/>
          </a:p>
        </p:txBody>
      </p:sp>
      <p:sp>
        <p:nvSpPr>
          <p:cNvPr id="16" name="Shape 14"/>
          <p:cNvSpPr/>
          <p:nvPr/>
        </p:nvSpPr>
        <p:spPr>
          <a:xfrm>
            <a:off x="274320" y="3639312"/>
            <a:ext cx="438912" cy="1170432"/>
          </a:xfrm>
          <a:prstGeom prst="rect">
            <a:avLst/>
          </a:prstGeom>
          <a:solidFill>
            <a:srgbClr val="C94040"/>
          </a:solidFill>
          <a:ln w="12700">
            <a:solidFill>
              <a:srgbClr val="C94040"/>
            </a:solidFill>
            <a:prstDash val="solid"/>
          </a:ln>
        </p:spPr>
        <p:txBody>
          <a:bodyPr/>
          <a:lstStyle/>
          <a:p>
            <a:endParaRPr lang="en-US"/>
          </a:p>
        </p:txBody>
      </p:sp>
      <p:sp>
        <p:nvSpPr>
          <p:cNvPr id="17" name="Text 15"/>
          <p:cNvSpPr/>
          <p:nvPr/>
        </p:nvSpPr>
        <p:spPr>
          <a:xfrm>
            <a:off x="274320" y="3639312"/>
            <a:ext cx="438912" cy="1170432"/>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8" name="Shape 16"/>
          <p:cNvSpPr/>
          <p:nvPr/>
        </p:nvSpPr>
        <p:spPr>
          <a:xfrm>
            <a:off x="786384" y="3639312"/>
            <a:ext cx="8065008" cy="1170432"/>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9" name="Text 17"/>
          <p:cNvSpPr/>
          <p:nvPr/>
        </p:nvSpPr>
        <p:spPr>
          <a:xfrm>
            <a:off x="960120" y="3712464"/>
            <a:ext cx="7772400" cy="320040"/>
          </a:xfrm>
          <a:prstGeom prst="rect">
            <a:avLst/>
          </a:prstGeom>
          <a:noFill/>
          <a:ln/>
        </p:spPr>
        <p:txBody>
          <a:bodyPr wrap="square" lIns="0" tIns="0" rIns="0" bIns="0" rtlCol="0" anchor="ctr"/>
          <a:lstStyle/>
          <a:p>
            <a:pPr marL="0" indent="0">
              <a:buNone/>
            </a:pPr>
            <a:r>
              <a:rPr lang="en-US" sz="1250" b="1" dirty="0">
                <a:solidFill>
                  <a:srgbClr val="C94040"/>
                </a:solidFill>
              </a:rPr>
              <a:t>Complete Absence of Structured Data / Schema Markup</a:t>
            </a:r>
            <a:endParaRPr lang="en-US" sz="1250" dirty="0"/>
          </a:p>
        </p:txBody>
      </p:sp>
      <p:sp>
        <p:nvSpPr>
          <p:cNvPr id="20" name="Text 18"/>
          <p:cNvSpPr/>
          <p:nvPr/>
        </p:nvSpPr>
        <p:spPr>
          <a:xfrm>
            <a:off x="960120" y="4023360"/>
            <a:ext cx="7772400" cy="347472"/>
          </a:xfrm>
          <a:prstGeom prst="rect">
            <a:avLst/>
          </a:prstGeom>
          <a:noFill/>
          <a:ln/>
        </p:spPr>
        <p:txBody>
          <a:bodyPr wrap="square" lIns="0" tIns="0" rIns="0" bIns="0" rtlCol="0" anchor="ctr"/>
          <a:lstStyle/>
          <a:p>
            <a:pPr marL="0" indent="0">
              <a:buNone/>
            </a:pPr>
            <a:r>
              <a:rPr lang="en-US" sz="1050" dirty="0">
                <a:solidFill>
                  <a:srgbClr val="1E2A35"/>
                </a:solidFill>
              </a:rPr>
              <a:t>No Person, Organization, Product, FAQ, Article, or Event schema detected across any indexed pages. AI systems cannot confidently identify Lucinda Leveille as a recognized entity.</a:t>
            </a:r>
            <a:endParaRPr lang="en-US" sz="1050" dirty="0"/>
          </a:p>
        </p:txBody>
      </p:sp>
      <p:sp>
        <p:nvSpPr>
          <p:cNvPr id="21" name="Text 19"/>
          <p:cNvSpPr/>
          <p:nvPr/>
        </p:nvSpPr>
        <p:spPr>
          <a:xfrm>
            <a:off x="960120" y="4389120"/>
            <a:ext cx="7772400" cy="329184"/>
          </a:xfrm>
          <a:prstGeom prst="rect">
            <a:avLst/>
          </a:prstGeom>
          <a:noFill/>
          <a:ln/>
        </p:spPr>
        <p:txBody>
          <a:bodyPr wrap="square" lIns="0" tIns="0" rIns="0" bIns="0" rtlCol="0" anchor="ctr"/>
          <a:lstStyle/>
          <a:p>
            <a:pPr marL="0" indent="0">
              <a:buNone/>
            </a:pPr>
            <a:r>
              <a:rPr lang="en-US" sz="1000" i="1" dirty="0">
                <a:solidFill>
                  <a:srgbClr val="1D6E63"/>
                </a:solidFill>
              </a:rPr>
              <a:t>FIX:  Implement Person + Organization schema on the homepage and About page. Add Product schema to all shop pages, FAQPage schema to commissions and classes pages.</a:t>
            </a:r>
            <a:endParaRPr lang="en-US" sz="1000" dirty="0"/>
          </a:p>
        </p:txBody>
      </p:sp>
      <p:sp>
        <p:nvSpPr>
          <p:cNvPr id="22" name="Shape 20"/>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23" name="Text 21"/>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D4891A"/>
          </a:solidFill>
          <a:ln w="12700">
            <a:solidFill>
              <a:srgbClr val="D4891A"/>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HIGH PRIORITY ISSUES</a:t>
            </a:r>
            <a:endParaRPr lang="en-US" sz="1900" dirty="0"/>
          </a:p>
        </p:txBody>
      </p:sp>
      <p:sp>
        <p:nvSpPr>
          <p:cNvPr id="4" name="Shape 2"/>
          <p:cNvSpPr/>
          <p:nvPr/>
        </p:nvSpPr>
        <p:spPr>
          <a:xfrm>
            <a:off x="274320" y="914400"/>
            <a:ext cx="4251960" cy="182880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914400"/>
            <a:ext cx="4251960" cy="64008"/>
          </a:xfrm>
          <a:prstGeom prst="rect">
            <a:avLst/>
          </a:prstGeom>
          <a:solidFill>
            <a:srgbClr val="D4891A"/>
          </a:solidFill>
          <a:ln w="12700">
            <a:solidFill>
              <a:srgbClr val="D4891A"/>
            </a:solidFill>
            <a:prstDash val="solid"/>
          </a:ln>
        </p:spPr>
        <p:txBody>
          <a:bodyPr/>
          <a:lstStyle/>
          <a:p>
            <a:endParaRPr lang="en-US"/>
          </a:p>
        </p:txBody>
      </p:sp>
      <p:sp>
        <p:nvSpPr>
          <p:cNvPr id="6" name="Text 4"/>
          <p:cNvSpPr/>
          <p:nvPr/>
        </p:nvSpPr>
        <p:spPr>
          <a:xfrm>
            <a:off x="438912" y="1042416"/>
            <a:ext cx="457200" cy="274320"/>
          </a:xfrm>
          <a:prstGeom prst="rect">
            <a:avLst/>
          </a:prstGeom>
          <a:noFill/>
          <a:ln/>
        </p:spPr>
        <p:txBody>
          <a:bodyPr wrap="square" lIns="0" tIns="0" rIns="0" bIns="0" rtlCol="0" anchor="ctr"/>
          <a:lstStyle/>
          <a:p>
            <a:pPr marL="0" indent="0">
              <a:buNone/>
            </a:pPr>
            <a:r>
              <a:rPr lang="en-US" sz="1200" b="1" dirty="0">
                <a:solidFill>
                  <a:srgbClr val="D4891A"/>
                </a:solidFill>
              </a:rPr>
              <a:t>#4</a:t>
            </a:r>
            <a:endParaRPr lang="en-US" sz="1200" dirty="0"/>
          </a:p>
        </p:txBody>
      </p:sp>
      <p:sp>
        <p:nvSpPr>
          <p:cNvPr id="7" name="Text 5"/>
          <p:cNvSpPr/>
          <p:nvPr/>
        </p:nvSpPr>
        <p:spPr>
          <a:xfrm>
            <a:off x="438912" y="1298448"/>
            <a:ext cx="3922776" cy="475488"/>
          </a:xfrm>
          <a:prstGeom prst="rect">
            <a:avLst/>
          </a:prstGeom>
          <a:noFill/>
          <a:ln/>
        </p:spPr>
        <p:txBody>
          <a:bodyPr wrap="square" lIns="0" tIns="0" rIns="0" bIns="0" rtlCol="0" anchor="ctr"/>
          <a:lstStyle/>
          <a:p>
            <a:pPr marL="0" indent="0">
              <a:buNone/>
            </a:pPr>
            <a:r>
              <a:rPr lang="en-US" sz="1200" b="1" dirty="0">
                <a:solidFill>
                  <a:srgbClr val="1E2A35"/>
                </a:solidFill>
              </a:rPr>
              <a:t>No Quotable Text on the Website</a:t>
            </a:r>
            <a:endParaRPr lang="en-US" sz="1200" dirty="0"/>
          </a:p>
        </p:txBody>
      </p:sp>
      <p:sp>
        <p:nvSpPr>
          <p:cNvPr id="8" name="Text 6"/>
          <p:cNvSpPr/>
          <p:nvPr/>
        </p:nvSpPr>
        <p:spPr>
          <a:xfrm>
            <a:off x="438912" y="1783080"/>
            <a:ext cx="3922776" cy="530352"/>
          </a:xfrm>
          <a:prstGeom prst="rect">
            <a:avLst/>
          </a:prstGeom>
          <a:noFill/>
          <a:ln/>
        </p:spPr>
        <p:txBody>
          <a:bodyPr wrap="square" lIns="0" tIns="0" rIns="0" bIns="0" rtlCol="0" anchor="ctr"/>
          <a:lstStyle/>
          <a:p>
            <a:pPr marL="0" indent="0">
              <a:buNone/>
            </a:pPr>
            <a:r>
              <a:rPr lang="en-US" sz="1050" dirty="0">
                <a:solidFill>
                  <a:srgbClr val="7A8A94"/>
                </a:solidFill>
              </a:rPr>
              <a:t>Lucinda's best quotes live only on external sites (Artsy Shark, Art Lovers Australia). When AI is asked about her, those platforms get cited — not hers.</a:t>
            </a:r>
            <a:endParaRPr lang="en-US" sz="1050" dirty="0"/>
          </a:p>
        </p:txBody>
      </p:sp>
      <p:sp>
        <p:nvSpPr>
          <p:cNvPr id="9" name="Text 7"/>
          <p:cNvSpPr/>
          <p:nvPr/>
        </p:nvSpPr>
        <p:spPr>
          <a:xfrm>
            <a:off x="438912" y="2322576"/>
            <a:ext cx="3922776" cy="320040"/>
          </a:xfrm>
          <a:prstGeom prst="rect">
            <a:avLst/>
          </a:prstGeom>
          <a:noFill/>
          <a:ln/>
        </p:spPr>
        <p:txBody>
          <a:bodyPr wrap="square" lIns="0" tIns="0" rIns="0" bIns="0" rtlCol="0" anchor="ctr"/>
          <a:lstStyle/>
          <a:p>
            <a:pPr marL="0" indent="0">
              <a:buNone/>
            </a:pPr>
            <a:r>
              <a:rPr lang="en-US" sz="950" i="1" dirty="0">
                <a:solidFill>
                  <a:srgbClr val="1D6E63"/>
                </a:solidFill>
              </a:rPr>
              <a:t>Fix: Create an Artist Statement page with 500+ words. Move key quotes onto the site.</a:t>
            </a:r>
            <a:endParaRPr lang="en-US" sz="950" dirty="0"/>
          </a:p>
        </p:txBody>
      </p:sp>
      <p:sp>
        <p:nvSpPr>
          <p:cNvPr id="10" name="Shape 8"/>
          <p:cNvSpPr/>
          <p:nvPr/>
        </p:nvSpPr>
        <p:spPr>
          <a:xfrm>
            <a:off x="4754880" y="914400"/>
            <a:ext cx="4251960" cy="182880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1" name="Shape 9"/>
          <p:cNvSpPr/>
          <p:nvPr/>
        </p:nvSpPr>
        <p:spPr>
          <a:xfrm>
            <a:off x="4754880" y="914400"/>
            <a:ext cx="4251960" cy="64008"/>
          </a:xfrm>
          <a:prstGeom prst="rect">
            <a:avLst/>
          </a:prstGeom>
          <a:solidFill>
            <a:srgbClr val="D4891A"/>
          </a:solidFill>
          <a:ln w="12700">
            <a:solidFill>
              <a:srgbClr val="D4891A"/>
            </a:solidFill>
            <a:prstDash val="solid"/>
          </a:ln>
        </p:spPr>
        <p:txBody>
          <a:bodyPr/>
          <a:lstStyle/>
          <a:p>
            <a:endParaRPr lang="en-US"/>
          </a:p>
        </p:txBody>
      </p:sp>
      <p:sp>
        <p:nvSpPr>
          <p:cNvPr id="12" name="Text 10"/>
          <p:cNvSpPr/>
          <p:nvPr/>
        </p:nvSpPr>
        <p:spPr>
          <a:xfrm>
            <a:off x="4919472" y="1042416"/>
            <a:ext cx="457200" cy="274320"/>
          </a:xfrm>
          <a:prstGeom prst="rect">
            <a:avLst/>
          </a:prstGeom>
          <a:noFill/>
          <a:ln/>
        </p:spPr>
        <p:txBody>
          <a:bodyPr wrap="square" lIns="0" tIns="0" rIns="0" bIns="0" rtlCol="0" anchor="ctr"/>
          <a:lstStyle/>
          <a:p>
            <a:pPr marL="0" indent="0">
              <a:buNone/>
            </a:pPr>
            <a:r>
              <a:rPr lang="en-US" sz="1200" b="1" dirty="0">
                <a:solidFill>
                  <a:srgbClr val="D4891A"/>
                </a:solidFill>
              </a:rPr>
              <a:t>#5</a:t>
            </a:r>
            <a:endParaRPr lang="en-US" sz="1200" dirty="0"/>
          </a:p>
        </p:txBody>
      </p:sp>
      <p:sp>
        <p:nvSpPr>
          <p:cNvPr id="13" name="Text 11"/>
          <p:cNvSpPr/>
          <p:nvPr/>
        </p:nvSpPr>
        <p:spPr>
          <a:xfrm>
            <a:off x="4919472" y="1298448"/>
            <a:ext cx="3922776" cy="475488"/>
          </a:xfrm>
          <a:prstGeom prst="rect">
            <a:avLst/>
          </a:prstGeom>
          <a:noFill/>
          <a:ln/>
        </p:spPr>
        <p:txBody>
          <a:bodyPr wrap="square" lIns="0" tIns="0" rIns="0" bIns="0" rtlCol="0" anchor="ctr"/>
          <a:lstStyle/>
          <a:p>
            <a:pPr marL="0" indent="0">
              <a:buNone/>
            </a:pPr>
            <a:r>
              <a:rPr lang="en-US" sz="1200" b="1" dirty="0">
                <a:solidFill>
                  <a:srgbClr val="1E2A35"/>
                </a:solidFill>
              </a:rPr>
              <a:t>Duplicate Contact Pages</a:t>
            </a:r>
            <a:endParaRPr lang="en-US" sz="1200" dirty="0"/>
          </a:p>
        </p:txBody>
      </p:sp>
      <p:sp>
        <p:nvSpPr>
          <p:cNvPr id="14" name="Text 12"/>
          <p:cNvSpPr/>
          <p:nvPr/>
        </p:nvSpPr>
        <p:spPr>
          <a:xfrm>
            <a:off x="4919472" y="1783080"/>
            <a:ext cx="3922776" cy="530352"/>
          </a:xfrm>
          <a:prstGeom prst="rect">
            <a:avLst/>
          </a:prstGeom>
          <a:noFill/>
          <a:ln/>
        </p:spPr>
        <p:txBody>
          <a:bodyPr wrap="square" lIns="0" tIns="0" rIns="0" bIns="0" rtlCol="0" anchor="ctr"/>
          <a:lstStyle/>
          <a:p>
            <a:pPr marL="0" indent="0">
              <a:buNone/>
            </a:pPr>
            <a:r>
              <a:rPr lang="en-US" sz="1050" dirty="0">
                <a:solidFill>
                  <a:srgbClr val="7A8A94"/>
                </a:solidFill>
              </a:rPr>
              <a:t>/contact/ and /contact-lucinda-leveille/ split link equity and confuse crawlers.</a:t>
            </a:r>
            <a:endParaRPr lang="en-US" sz="1050" dirty="0"/>
          </a:p>
        </p:txBody>
      </p:sp>
      <p:sp>
        <p:nvSpPr>
          <p:cNvPr id="15" name="Text 13"/>
          <p:cNvSpPr/>
          <p:nvPr/>
        </p:nvSpPr>
        <p:spPr>
          <a:xfrm>
            <a:off x="4919472" y="2322576"/>
            <a:ext cx="3922776" cy="320040"/>
          </a:xfrm>
          <a:prstGeom prst="rect">
            <a:avLst/>
          </a:prstGeom>
          <a:noFill/>
          <a:ln/>
        </p:spPr>
        <p:txBody>
          <a:bodyPr wrap="square" lIns="0" tIns="0" rIns="0" bIns="0" rtlCol="0" anchor="ctr"/>
          <a:lstStyle/>
          <a:p>
            <a:pPr marL="0" indent="0">
              <a:buNone/>
            </a:pPr>
            <a:r>
              <a:rPr lang="en-US" sz="950" i="1" dirty="0">
                <a:solidFill>
                  <a:srgbClr val="1D6E63"/>
                </a:solidFill>
              </a:rPr>
              <a:t>Fix: Pick one URL. 301-redirect the other. Add canonical tag.</a:t>
            </a:r>
            <a:endParaRPr lang="en-US" sz="950" dirty="0"/>
          </a:p>
        </p:txBody>
      </p:sp>
      <p:sp>
        <p:nvSpPr>
          <p:cNvPr id="16" name="Shape 14"/>
          <p:cNvSpPr/>
          <p:nvPr/>
        </p:nvSpPr>
        <p:spPr>
          <a:xfrm>
            <a:off x="274320" y="2926080"/>
            <a:ext cx="4251960" cy="182880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7" name="Shape 15"/>
          <p:cNvSpPr/>
          <p:nvPr/>
        </p:nvSpPr>
        <p:spPr>
          <a:xfrm>
            <a:off x="274320" y="2926080"/>
            <a:ext cx="4251960" cy="64008"/>
          </a:xfrm>
          <a:prstGeom prst="rect">
            <a:avLst/>
          </a:prstGeom>
          <a:solidFill>
            <a:srgbClr val="D4891A"/>
          </a:solidFill>
          <a:ln w="12700">
            <a:solidFill>
              <a:srgbClr val="D4891A"/>
            </a:solidFill>
            <a:prstDash val="solid"/>
          </a:ln>
        </p:spPr>
        <p:txBody>
          <a:bodyPr/>
          <a:lstStyle/>
          <a:p>
            <a:endParaRPr lang="en-US"/>
          </a:p>
        </p:txBody>
      </p:sp>
      <p:sp>
        <p:nvSpPr>
          <p:cNvPr id="18" name="Text 16"/>
          <p:cNvSpPr/>
          <p:nvPr/>
        </p:nvSpPr>
        <p:spPr>
          <a:xfrm>
            <a:off x="438912" y="3054096"/>
            <a:ext cx="457200" cy="274320"/>
          </a:xfrm>
          <a:prstGeom prst="rect">
            <a:avLst/>
          </a:prstGeom>
          <a:noFill/>
          <a:ln/>
        </p:spPr>
        <p:txBody>
          <a:bodyPr wrap="square" lIns="0" tIns="0" rIns="0" bIns="0" rtlCol="0" anchor="ctr"/>
          <a:lstStyle/>
          <a:p>
            <a:pPr marL="0" indent="0">
              <a:buNone/>
            </a:pPr>
            <a:r>
              <a:rPr lang="en-US" sz="1200" b="1" dirty="0">
                <a:solidFill>
                  <a:srgbClr val="D4891A"/>
                </a:solidFill>
              </a:rPr>
              <a:t>#6</a:t>
            </a:r>
            <a:endParaRPr lang="en-US" sz="1200" dirty="0"/>
          </a:p>
        </p:txBody>
      </p:sp>
      <p:sp>
        <p:nvSpPr>
          <p:cNvPr id="19" name="Text 17"/>
          <p:cNvSpPr/>
          <p:nvPr/>
        </p:nvSpPr>
        <p:spPr>
          <a:xfrm>
            <a:off x="438912" y="3310128"/>
            <a:ext cx="3922776" cy="475488"/>
          </a:xfrm>
          <a:prstGeom prst="rect">
            <a:avLst/>
          </a:prstGeom>
          <a:noFill/>
          <a:ln/>
        </p:spPr>
        <p:txBody>
          <a:bodyPr wrap="square" lIns="0" tIns="0" rIns="0" bIns="0" rtlCol="0" anchor="ctr"/>
          <a:lstStyle/>
          <a:p>
            <a:pPr marL="0" indent="0">
              <a:buNone/>
            </a:pPr>
            <a:r>
              <a:rPr lang="en-US" sz="1200" b="1" dirty="0">
                <a:solidFill>
                  <a:srgbClr val="1E2A35"/>
                </a:solidFill>
              </a:rPr>
              <a:t>Gmail Address in Use</a:t>
            </a:r>
            <a:endParaRPr lang="en-US" sz="1200" dirty="0"/>
          </a:p>
        </p:txBody>
      </p:sp>
      <p:sp>
        <p:nvSpPr>
          <p:cNvPr id="20" name="Text 18"/>
          <p:cNvSpPr/>
          <p:nvPr/>
        </p:nvSpPr>
        <p:spPr>
          <a:xfrm>
            <a:off x="438912" y="3794760"/>
            <a:ext cx="3922776" cy="530352"/>
          </a:xfrm>
          <a:prstGeom prst="rect">
            <a:avLst/>
          </a:prstGeom>
          <a:noFill/>
          <a:ln/>
        </p:spPr>
        <p:txBody>
          <a:bodyPr wrap="square" lIns="0" tIns="0" rIns="0" bIns="0" rtlCol="0" anchor="ctr"/>
          <a:lstStyle/>
          <a:p>
            <a:pPr marL="0" indent="0">
              <a:buNone/>
            </a:pPr>
            <a:r>
              <a:rPr lang="en-US" sz="1050" dirty="0">
                <a:solidFill>
                  <a:srgbClr val="7A8A94"/>
                </a:solidFill>
              </a:rPr>
              <a:t>lucindas.studio@gmail.com rather than a domain email. Gmail signals a non-professional operation to trust-evaluation systems.</a:t>
            </a:r>
            <a:endParaRPr lang="en-US" sz="1050" dirty="0"/>
          </a:p>
        </p:txBody>
      </p:sp>
      <p:sp>
        <p:nvSpPr>
          <p:cNvPr id="21" name="Text 19"/>
          <p:cNvSpPr/>
          <p:nvPr/>
        </p:nvSpPr>
        <p:spPr>
          <a:xfrm>
            <a:off x="438912" y="4334256"/>
            <a:ext cx="3922776" cy="320040"/>
          </a:xfrm>
          <a:prstGeom prst="rect">
            <a:avLst/>
          </a:prstGeom>
          <a:noFill/>
          <a:ln/>
        </p:spPr>
        <p:txBody>
          <a:bodyPr wrap="square" lIns="0" tIns="0" rIns="0" bIns="0" rtlCol="0" anchor="ctr"/>
          <a:lstStyle/>
          <a:p>
            <a:pPr marL="0" indent="0">
              <a:buNone/>
            </a:pPr>
            <a:r>
              <a:rPr lang="en-US" sz="950" i="1" dirty="0">
                <a:solidFill>
                  <a:srgbClr val="1D6E63"/>
                </a:solidFill>
              </a:rPr>
              <a:t>Fix: Set up Google Workspace with hello@lucindastudio.com.au.</a:t>
            </a:r>
            <a:endParaRPr lang="en-US" sz="950" dirty="0"/>
          </a:p>
        </p:txBody>
      </p:sp>
      <p:sp>
        <p:nvSpPr>
          <p:cNvPr id="22" name="Shape 20"/>
          <p:cNvSpPr/>
          <p:nvPr/>
        </p:nvSpPr>
        <p:spPr>
          <a:xfrm>
            <a:off x="4754880" y="2926080"/>
            <a:ext cx="4251960" cy="182880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23" name="Shape 21"/>
          <p:cNvSpPr/>
          <p:nvPr/>
        </p:nvSpPr>
        <p:spPr>
          <a:xfrm>
            <a:off x="4754880" y="2926080"/>
            <a:ext cx="4251960" cy="64008"/>
          </a:xfrm>
          <a:prstGeom prst="rect">
            <a:avLst/>
          </a:prstGeom>
          <a:solidFill>
            <a:srgbClr val="D4891A"/>
          </a:solidFill>
          <a:ln w="12700">
            <a:solidFill>
              <a:srgbClr val="D4891A"/>
            </a:solidFill>
            <a:prstDash val="solid"/>
          </a:ln>
        </p:spPr>
        <p:txBody>
          <a:bodyPr/>
          <a:lstStyle/>
          <a:p>
            <a:endParaRPr lang="en-US"/>
          </a:p>
        </p:txBody>
      </p:sp>
      <p:sp>
        <p:nvSpPr>
          <p:cNvPr id="24" name="Text 22"/>
          <p:cNvSpPr/>
          <p:nvPr/>
        </p:nvSpPr>
        <p:spPr>
          <a:xfrm>
            <a:off x="4919472" y="3054096"/>
            <a:ext cx="457200" cy="274320"/>
          </a:xfrm>
          <a:prstGeom prst="rect">
            <a:avLst/>
          </a:prstGeom>
          <a:noFill/>
          <a:ln/>
        </p:spPr>
        <p:txBody>
          <a:bodyPr wrap="square" lIns="0" tIns="0" rIns="0" bIns="0" rtlCol="0" anchor="ctr"/>
          <a:lstStyle/>
          <a:p>
            <a:pPr marL="0" indent="0">
              <a:buNone/>
            </a:pPr>
            <a:r>
              <a:rPr lang="en-US" sz="1200" b="1" dirty="0">
                <a:solidFill>
                  <a:srgbClr val="D4891A"/>
                </a:solidFill>
              </a:rPr>
              <a:t>#7</a:t>
            </a:r>
            <a:endParaRPr lang="en-US" sz="1200" dirty="0"/>
          </a:p>
        </p:txBody>
      </p:sp>
      <p:sp>
        <p:nvSpPr>
          <p:cNvPr id="25" name="Text 23"/>
          <p:cNvSpPr/>
          <p:nvPr/>
        </p:nvSpPr>
        <p:spPr>
          <a:xfrm>
            <a:off x="4919472" y="3310128"/>
            <a:ext cx="3922776" cy="475488"/>
          </a:xfrm>
          <a:prstGeom prst="rect">
            <a:avLst/>
          </a:prstGeom>
          <a:noFill/>
          <a:ln/>
        </p:spPr>
        <p:txBody>
          <a:bodyPr wrap="square" lIns="0" tIns="0" rIns="0" bIns="0" rtlCol="0" anchor="ctr"/>
          <a:lstStyle/>
          <a:p>
            <a:pPr marL="0" indent="0">
              <a:buNone/>
            </a:pPr>
            <a:r>
              <a:rPr lang="en-US" sz="1200" b="1" dirty="0">
                <a:solidFill>
                  <a:srgbClr val="1E2A35"/>
                </a:solidFill>
              </a:rPr>
              <a:t>No FAQ on Commission or Classes Pages</a:t>
            </a:r>
            <a:endParaRPr lang="en-US" sz="1200" dirty="0"/>
          </a:p>
        </p:txBody>
      </p:sp>
      <p:sp>
        <p:nvSpPr>
          <p:cNvPr id="26" name="Text 24"/>
          <p:cNvSpPr/>
          <p:nvPr/>
        </p:nvSpPr>
        <p:spPr>
          <a:xfrm>
            <a:off x="4919472" y="3794760"/>
            <a:ext cx="3922776" cy="530352"/>
          </a:xfrm>
          <a:prstGeom prst="rect">
            <a:avLst/>
          </a:prstGeom>
          <a:noFill/>
          <a:ln/>
        </p:spPr>
        <p:txBody>
          <a:bodyPr wrap="square" lIns="0" tIns="0" rIns="0" bIns="0" rtlCol="0" anchor="ctr"/>
          <a:lstStyle/>
          <a:p>
            <a:pPr marL="0" indent="0">
              <a:buNone/>
            </a:pPr>
            <a:r>
              <a:rPr lang="en-US" sz="1050" dirty="0">
                <a:solidFill>
                  <a:srgbClr val="7A8A94"/>
                </a:solidFill>
              </a:rPr>
              <a:t>The commission process (1/3 deposit, 6–8 weeks, included shipping) is strong but not formatted as Q&amp;A blocks — missing FAQPage schema opportunity.</a:t>
            </a:r>
            <a:endParaRPr lang="en-US" sz="1050" dirty="0"/>
          </a:p>
        </p:txBody>
      </p:sp>
      <p:sp>
        <p:nvSpPr>
          <p:cNvPr id="27" name="Text 25"/>
          <p:cNvSpPr/>
          <p:nvPr/>
        </p:nvSpPr>
        <p:spPr>
          <a:xfrm>
            <a:off x="4919472" y="4334256"/>
            <a:ext cx="3922776" cy="320040"/>
          </a:xfrm>
          <a:prstGeom prst="rect">
            <a:avLst/>
          </a:prstGeom>
          <a:noFill/>
          <a:ln/>
        </p:spPr>
        <p:txBody>
          <a:bodyPr wrap="square" lIns="0" tIns="0" rIns="0" bIns="0" rtlCol="0" anchor="ctr"/>
          <a:lstStyle/>
          <a:p>
            <a:pPr marL="0" indent="0">
              <a:buNone/>
            </a:pPr>
            <a:r>
              <a:rPr lang="en-US" sz="950" i="1" dirty="0">
                <a:solidFill>
                  <a:srgbClr val="1D6E63"/>
                </a:solidFill>
              </a:rPr>
              <a:t>Fix: Add FAQ sections to /commission-your-own-masterpiece/ and /weekly-artclasses/, then add FAQPage schema.</a:t>
            </a:r>
            <a:endParaRPr lang="en-US" sz="950" dirty="0"/>
          </a:p>
        </p:txBody>
      </p:sp>
      <p:sp>
        <p:nvSpPr>
          <p:cNvPr id="28" name="Shape 26"/>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29" name="Text 27"/>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D6E63"/>
          </a:solidFill>
          <a:ln w="12700">
            <a:solidFill>
              <a:srgbClr val="1D6E63"/>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MEDIUM PRIORITY ISSUES</a:t>
            </a:r>
            <a:endParaRPr lang="en-US" sz="1900" dirty="0"/>
          </a:p>
        </p:txBody>
      </p:sp>
      <p:sp>
        <p:nvSpPr>
          <p:cNvPr id="4" name="Shape 2"/>
          <p:cNvSpPr/>
          <p:nvPr/>
        </p:nvSpPr>
        <p:spPr>
          <a:xfrm>
            <a:off x="274320" y="896112"/>
            <a:ext cx="402336" cy="621792"/>
          </a:xfrm>
          <a:prstGeom prst="rect">
            <a:avLst/>
          </a:prstGeom>
          <a:solidFill>
            <a:srgbClr val="1D6E63"/>
          </a:solidFill>
          <a:ln w="12700">
            <a:solidFill>
              <a:srgbClr val="1D6E63"/>
            </a:solidFill>
            <a:prstDash val="solid"/>
          </a:ln>
        </p:spPr>
        <p:txBody>
          <a:bodyPr/>
          <a:lstStyle/>
          <a:p>
            <a:endParaRPr lang="en-US"/>
          </a:p>
        </p:txBody>
      </p:sp>
      <p:sp>
        <p:nvSpPr>
          <p:cNvPr id="5" name="Text 3"/>
          <p:cNvSpPr/>
          <p:nvPr/>
        </p:nvSpPr>
        <p:spPr>
          <a:xfrm>
            <a:off x="274320" y="896112"/>
            <a:ext cx="402336" cy="621792"/>
          </a:xfrm>
          <a:prstGeom prst="rect">
            <a:avLst/>
          </a:prstGeom>
          <a:noFill/>
          <a:ln/>
        </p:spPr>
        <p:txBody>
          <a:bodyPr wrap="square" lIns="0" tIns="0" rIns="0" bIns="0" rtlCol="0" anchor="ctr"/>
          <a:lstStyle/>
          <a:p>
            <a:pPr marL="0" indent="0" algn="ctr">
              <a:buNone/>
            </a:pPr>
            <a:r>
              <a:rPr lang="en-US" sz="1400" b="1" dirty="0">
                <a:solidFill>
                  <a:srgbClr val="FFFFFF"/>
                </a:solidFill>
              </a:rPr>
              <a:t>8</a:t>
            </a:r>
            <a:endParaRPr lang="en-US" sz="1400" dirty="0"/>
          </a:p>
        </p:txBody>
      </p:sp>
      <p:sp>
        <p:nvSpPr>
          <p:cNvPr id="6" name="Shape 4"/>
          <p:cNvSpPr/>
          <p:nvPr/>
        </p:nvSpPr>
        <p:spPr>
          <a:xfrm>
            <a:off x="749808" y="896112"/>
            <a:ext cx="8119872" cy="621792"/>
          </a:xfrm>
          <a:prstGeom prst="rect">
            <a:avLst/>
          </a:prstGeom>
          <a:solidFill>
            <a:srgbClr val="FDFAF7"/>
          </a:solidFill>
          <a:ln w="12700">
            <a:solidFill>
              <a:srgbClr val="E6DDD4"/>
            </a:solidFill>
            <a:prstDash val="solid"/>
          </a:ln>
        </p:spPr>
        <p:txBody>
          <a:bodyPr/>
          <a:lstStyle/>
          <a:p>
            <a:endParaRPr lang="en-US"/>
          </a:p>
        </p:txBody>
      </p:sp>
      <p:sp>
        <p:nvSpPr>
          <p:cNvPr id="7" name="Text 5"/>
          <p:cNvSpPr/>
          <p:nvPr/>
        </p:nvSpPr>
        <p:spPr>
          <a:xfrm>
            <a:off x="932688" y="950976"/>
            <a:ext cx="7772400" cy="256032"/>
          </a:xfrm>
          <a:prstGeom prst="rect">
            <a:avLst/>
          </a:prstGeom>
          <a:noFill/>
          <a:ln/>
        </p:spPr>
        <p:txBody>
          <a:bodyPr wrap="square" lIns="0" tIns="0" rIns="0" bIns="0" rtlCol="0" anchor="ctr"/>
          <a:lstStyle/>
          <a:p>
            <a:pPr marL="0" indent="0">
              <a:buNone/>
            </a:pPr>
            <a:r>
              <a:rPr lang="en-US" sz="1200" b="1" dirty="0">
                <a:solidFill>
                  <a:srgbClr val="1D6E63"/>
                </a:solidFill>
              </a:rPr>
              <a:t>No Wikipedia / Wikidata Entry</a:t>
            </a:r>
            <a:endParaRPr lang="en-US" sz="1200" dirty="0"/>
          </a:p>
        </p:txBody>
      </p:sp>
      <p:sp>
        <p:nvSpPr>
          <p:cNvPr id="8" name="Text 6"/>
          <p:cNvSpPr/>
          <p:nvPr/>
        </p:nvSpPr>
        <p:spPr>
          <a:xfrm>
            <a:off x="932688" y="1207008"/>
            <a:ext cx="7772400" cy="256032"/>
          </a:xfrm>
          <a:prstGeom prst="rect">
            <a:avLst/>
          </a:prstGeom>
          <a:noFill/>
          <a:ln/>
        </p:spPr>
        <p:txBody>
          <a:bodyPr wrap="square" lIns="0" tIns="0" rIns="0" bIns="0" rtlCol="0" anchor="ctr"/>
          <a:lstStyle/>
          <a:p>
            <a:pPr marL="0" indent="0">
              <a:buNone/>
            </a:pPr>
            <a:r>
              <a:rPr lang="en-US" sz="1050" dirty="0">
                <a:solidFill>
                  <a:srgbClr val="7A8A94"/>
                </a:solidFill>
              </a:rPr>
              <a:t>Despite Netflix features and national recognition, Lucinda has no Wikipedia/Wikidata entity. AI models use these heavily for entity resolution — without one, she is treated as an unresolved entity.</a:t>
            </a:r>
            <a:endParaRPr lang="en-US" sz="1050" dirty="0"/>
          </a:p>
        </p:txBody>
      </p:sp>
      <p:sp>
        <p:nvSpPr>
          <p:cNvPr id="9" name="Shape 7"/>
          <p:cNvSpPr/>
          <p:nvPr/>
        </p:nvSpPr>
        <p:spPr>
          <a:xfrm>
            <a:off x="274320" y="1655064"/>
            <a:ext cx="402336" cy="621792"/>
          </a:xfrm>
          <a:prstGeom prst="rect">
            <a:avLst/>
          </a:prstGeom>
          <a:solidFill>
            <a:srgbClr val="1D6E63"/>
          </a:solidFill>
          <a:ln w="12700">
            <a:solidFill>
              <a:srgbClr val="1D6E63"/>
            </a:solidFill>
            <a:prstDash val="solid"/>
          </a:ln>
        </p:spPr>
        <p:txBody>
          <a:bodyPr/>
          <a:lstStyle/>
          <a:p>
            <a:endParaRPr lang="en-US"/>
          </a:p>
        </p:txBody>
      </p:sp>
      <p:sp>
        <p:nvSpPr>
          <p:cNvPr id="10" name="Text 8"/>
          <p:cNvSpPr/>
          <p:nvPr/>
        </p:nvSpPr>
        <p:spPr>
          <a:xfrm>
            <a:off x="274320" y="1655064"/>
            <a:ext cx="402336" cy="621792"/>
          </a:xfrm>
          <a:prstGeom prst="rect">
            <a:avLst/>
          </a:prstGeom>
          <a:noFill/>
          <a:ln/>
        </p:spPr>
        <p:txBody>
          <a:bodyPr wrap="square" lIns="0" tIns="0" rIns="0" bIns="0" rtlCol="0" anchor="ctr"/>
          <a:lstStyle/>
          <a:p>
            <a:pPr marL="0" indent="0" algn="ctr">
              <a:buNone/>
            </a:pPr>
            <a:r>
              <a:rPr lang="en-US" sz="1400" b="1" dirty="0">
                <a:solidFill>
                  <a:srgbClr val="FFFFFF"/>
                </a:solidFill>
              </a:rPr>
              <a:t>9</a:t>
            </a:r>
            <a:endParaRPr lang="en-US" sz="1400" dirty="0"/>
          </a:p>
        </p:txBody>
      </p:sp>
      <p:sp>
        <p:nvSpPr>
          <p:cNvPr id="11" name="Shape 9"/>
          <p:cNvSpPr/>
          <p:nvPr/>
        </p:nvSpPr>
        <p:spPr>
          <a:xfrm>
            <a:off x="749808" y="1655064"/>
            <a:ext cx="8119872" cy="621792"/>
          </a:xfrm>
          <a:prstGeom prst="rect">
            <a:avLst/>
          </a:prstGeom>
          <a:solidFill>
            <a:srgbClr val="FDFAF7"/>
          </a:solidFill>
          <a:ln w="12700">
            <a:solidFill>
              <a:srgbClr val="E6DDD4"/>
            </a:solidFill>
            <a:prstDash val="solid"/>
          </a:ln>
        </p:spPr>
        <p:txBody>
          <a:bodyPr/>
          <a:lstStyle/>
          <a:p>
            <a:endParaRPr lang="en-US"/>
          </a:p>
        </p:txBody>
      </p:sp>
      <p:sp>
        <p:nvSpPr>
          <p:cNvPr id="12" name="Text 10"/>
          <p:cNvSpPr/>
          <p:nvPr/>
        </p:nvSpPr>
        <p:spPr>
          <a:xfrm>
            <a:off x="932688" y="1709928"/>
            <a:ext cx="7772400" cy="256032"/>
          </a:xfrm>
          <a:prstGeom prst="rect">
            <a:avLst/>
          </a:prstGeom>
          <a:noFill/>
          <a:ln/>
        </p:spPr>
        <p:txBody>
          <a:bodyPr wrap="square" lIns="0" tIns="0" rIns="0" bIns="0" rtlCol="0" anchor="ctr"/>
          <a:lstStyle/>
          <a:p>
            <a:pPr marL="0" indent="0">
              <a:buNone/>
            </a:pPr>
            <a:r>
              <a:rPr lang="en-US" sz="1200" b="1" dirty="0">
                <a:solidFill>
                  <a:srgbClr val="1D6E63"/>
                </a:solidFill>
              </a:rPr>
              <a:t>No YouTube Channel</a:t>
            </a:r>
            <a:endParaRPr lang="en-US" sz="1200" dirty="0"/>
          </a:p>
        </p:txBody>
      </p:sp>
      <p:sp>
        <p:nvSpPr>
          <p:cNvPr id="13" name="Text 11"/>
          <p:cNvSpPr/>
          <p:nvPr/>
        </p:nvSpPr>
        <p:spPr>
          <a:xfrm>
            <a:off x="932688" y="1965960"/>
            <a:ext cx="7772400" cy="256032"/>
          </a:xfrm>
          <a:prstGeom prst="rect">
            <a:avLst/>
          </a:prstGeom>
          <a:noFill/>
          <a:ln/>
        </p:spPr>
        <p:txBody>
          <a:bodyPr wrap="square" lIns="0" tIns="0" rIns="0" bIns="0" rtlCol="0" anchor="ctr"/>
          <a:lstStyle/>
          <a:p>
            <a:pPr marL="0" indent="0">
              <a:buNone/>
            </a:pPr>
            <a:r>
              <a:rPr lang="en-US" sz="1050" dirty="0">
                <a:solidFill>
                  <a:srgbClr val="7A8A94"/>
                </a:solidFill>
              </a:rPr>
              <a:t>Competitors use YouTube to demonstrate expertise. YouTube is one of the most-cited platforms in AI responses about art techniques. Publish 3–5 short videos.</a:t>
            </a:r>
            <a:endParaRPr lang="en-US" sz="1050" dirty="0"/>
          </a:p>
        </p:txBody>
      </p:sp>
      <p:sp>
        <p:nvSpPr>
          <p:cNvPr id="14" name="Shape 12"/>
          <p:cNvSpPr/>
          <p:nvPr/>
        </p:nvSpPr>
        <p:spPr>
          <a:xfrm>
            <a:off x="274320" y="2414016"/>
            <a:ext cx="402336" cy="621792"/>
          </a:xfrm>
          <a:prstGeom prst="rect">
            <a:avLst/>
          </a:prstGeom>
          <a:solidFill>
            <a:srgbClr val="1D6E63"/>
          </a:solidFill>
          <a:ln w="12700">
            <a:solidFill>
              <a:srgbClr val="1D6E63"/>
            </a:solidFill>
            <a:prstDash val="solid"/>
          </a:ln>
        </p:spPr>
        <p:txBody>
          <a:bodyPr/>
          <a:lstStyle/>
          <a:p>
            <a:endParaRPr lang="en-US"/>
          </a:p>
        </p:txBody>
      </p:sp>
      <p:sp>
        <p:nvSpPr>
          <p:cNvPr id="15" name="Text 13"/>
          <p:cNvSpPr/>
          <p:nvPr/>
        </p:nvSpPr>
        <p:spPr>
          <a:xfrm>
            <a:off x="274320" y="2414016"/>
            <a:ext cx="402336" cy="621792"/>
          </a:xfrm>
          <a:prstGeom prst="rect">
            <a:avLst/>
          </a:prstGeom>
          <a:noFill/>
          <a:ln/>
        </p:spPr>
        <p:txBody>
          <a:bodyPr wrap="square" lIns="0" tIns="0" rIns="0" bIns="0" rtlCol="0" anchor="ctr"/>
          <a:lstStyle/>
          <a:p>
            <a:pPr marL="0" indent="0" algn="ctr">
              <a:buNone/>
            </a:pPr>
            <a:r>
              <a:rPr lang="en-US" sz="1400" b="1" dirty="0">
                <a:solidFill>
                  <a:srgbClr val="FFFFFF"/>
                </a:solidFill>
              </a:rPr>
              <a:t>10</a:t>
            </a:r>
            <a:endParaRPr lang="en-US" sz="1400" dirty="0"/>
          </a:p>
        </p:txBody>
      </p:sp>
      <p:sp>
        <p:nvSpPr>
          <p:cNvPr id="16" name="Shape 14"/>
          <p:cNvSpPr/>
          <p:nvPr/>
        </p:nvSpPr>
        <p:spPr>
          <a:xfrm>
            <a:off x="749808" y="2414016"/>
            <a:ext cx="8119872" cy="621792"/>
          </a:xfrm>
          <a:prstGeom prst="rect">
            <a:avLst/>
          </a:prstGeom>
          <a:solidFill>
            <a:srgbClr val="FDFAF7"/>
          </a:solidFill>
          <a:ln w="12700">
            <a:solidFill>
              <a:srgbClr val="E6DDD4"/>
            </a:solidFill>
            <a:prstDash val="solid"/>
          </a:ln>
        </p:spPr>
        <p:txBody>
          <a:bodyPr/>
          <a:lstStyle/>
          <a:p>
            <a:endParaRPr lang="en-US"/>
          </a:p>
        </p:txBody>
      </p:sp>
      <p:sp>
        <p:nvSpPr>
          <p:cNvPr id="17" name="Text 15"/>
          <p:cNvSpPr/>
          <p:nvPr/>
        </p:nvSpPr>
        <p:spPr>
          <a:xfrm>
            <a:off x="932688" y="2468880"/>
            <a:ext cx="7772400" cy="256032"/>
          </a:xfrm>
          <a:prstGeom prst="rect">
            <a:avLst/>
          </a:prstGeom>
          <a:noFill/>
          <a:ln/>
        </p:spPr>
        <p:txBody>
          <a:bodyPr wrap="square" lIns="0" tIns="0" rIns="0" bIns="0" rtlCol="0" anchor="ctr"/>
          <a:lstStyle/>
          <a:p>
            <a:pPr marL="0" indent="0">
              <a:buNone/>
            </a:pPr>
            <a:r>
              <a:rPr lang="en-US" sz="1200" b="1" dirty="0">
                <a:solidFill>
                  <a:srgbClr val="1D6E63"/>
                </a:solidFill>
              </a:rPr>
              <a:t>LinkedIn Profile Likely Minimal</a:t>
            </a:r>
            <a:endParaRPr lang="en-US" sz="1200" dirty="0"/>
          </a:p>
        </p:txBody>
      </p:sp>
      <p:sp>
        <p:nvSpPr>
          <p:cNvPr id="18" name="Text 16"/>
          <p:cNvSpPr/>
          <p:nvPr/>
        </p:nvSpPr>
        <p:spPr>
          <a:xfrm>
            <a:off x="932688" y="2724912"/>
            <a:ext cx="7772400" cy="256032"/>
          </a:xfrm>
          <a:prstGeom prst="rect">
            <a:avLst/>
          </a:prstGeom>
          <a:noFill/>
          <a:ln/>
        </p:spPr>
        <p:txBody>
          <a:bodyPr wrap="square" lIns="0" tIns="0" rIns="0" bIns="0" rtlCol="0" anchor="ctr"/>
          <a:lstStyle/>
          <a:p>
            <a:pPr marL="0" indent="0">
              <a:buNone/>
            </a:pPr>
            <a:r>
              <a:rPr lang="en-US" sz="1050" dirty="0">
                <a:solidFill>
                  <a:srgbClr val="7A8A94"/>
                </a:solidFill>
              </a:rPr>
              <a:t>Profile exists but content is sparse. Expand with full bio, National Art School credential, Netflix mention, awards, solo exhibitions, and international collections.</a:t>
            </a:r>
            <a:endParaRPr lang="en-US" sz="1050" dirty="0"/>
          </a:p>
        </p:txBody>
      </p:sp>
      <p:sp>
        <p:nvSpPr>
          <p:cNvPr id="19" name="Shape 17"/>
          <p:cNvSpPr/>
          <p:nvPr/>
        </p:nvSpPr>
        <p:spPr>
          <a:xfrm>
            <a:off x="274320" y="3172968"/>
            <a:ext cx="402336" cy="621792"/>
          </a:xfrm>
          <a:prstGeom prst="rect">
            <a:avLst/>
          </a:prstGeom>
          <a:solidFill>
            <a:srgbClr val="1D6E63"/>
          </a:solidFill>
          <a:ln w="12700">
            <a:solidFill>
              <a:srgbClr val="1D6E63"/>
            </a:solidFill>
            <a:prstDash val="solid"/>
          </a:ln>
        </p:spPr>
        <p:txBody>
          <a:bodyPr/>
          <a:lstStyle/>
          <a:p>
            <a:endParaRPr lang="en-US"/>
          </a:p>
        </p:txBody>
      </p:sp>
      <p:sp>
        <p:nvSpPr>
          <p:cNvPr id="20" name="Text 18"/>
          <p:cNvSpPr/>
          <p:nvPr/>
        </p:nvSpPr>
        <p:spPr>
          <a:xfrm>
            <a:off x="274320" y="3172968"/>
            <a:ext cx="402336" cy="621792"/>
          </a:xfrm>
          <a:prstGeom prst="rect">
            <a:avLst/>
          </a:prstGeom>
          <a:noFill/>
          <a:ln/>
        </p:spPr>
        <p:txBody>
          <a:bodyPr wrap="square" lIns="0" tIns="0" rIns="0" bIns="0" rtlCol="0" anchor="ctr"/>
          <a:lstStyle/>
          <a:p>
            <a:pPr marL="0" indent="0" algn="ctr">
              <a:buNone/>
            </a:pPr>
            <a:r>
              <a:rPr lang="en-US" sz="1400" b="1" dirty="0">
                <a:solidFill>
                  <a:srgbClr val="FFFFFF"/>
                </a:solidFill>
              </a:rPr>
              <a:t>11</a:t>
            </a:r>
            <a:endParaRPr lang="en-US" sz="1400" dirty="0"/>
          </a:p>
        </p:txBody>
      </p:sp>
      <p:sp>
        <p:nvSpPr>
          <p:cNvPr id="21" name="Shape 19"/>
          <p:cNvSpPr/>
          <p:nvPr/>
        </p:nvSpPr>
        <p:spPr>
          <a:xfrm>
            <a:off x="749808" y="3172968"/>
            <a:ext cx="8119872" cy="621792"/>
          </a:xfrm>
          <a:prstGeom prst="rect">
            <a:avLst/>
          </a:prstGeom>
          <a:solidFill>
            <a:srgbClr val="FDFAF7"/>
          </a:solidFill>
          <a:ln w="12700">
            <a:solidFill>
              <a:srgbClr val="E6DDD4"/>
            </a:solidFill>
            <a:prstDash val="solid"/>
          </a:ln>
        </p:spPr>
        <p:txBody>
          <a:bodyPr/>
          <a:lstStyle/>
          <a:p>
            <a:endParaRPr lang="en-US"/>
          </a:p>
        </p:txBody>
      </p:sp>
      <p:sp>
        <p:nvSpPr>
          <p:cNvPr id="22" name="Text 20"/>
          <p:cNvSpPr/>
          <p:nvPr/>
        </p:nvSpPr>
        <p:spPr>
          <a:xfrm>
            <a:off x="932688" y="3227832"/>
            <a:ext cx="7772400" cy="256032"/>
          </a:xfrm>
          <a:prstGeom prst="rect">
            <a:avLst/>
          </a:prstGeom>
          <a:noFill/>
          <a:ln/>
        </p:spPr>
        <p:txBody>
          <a:bodyPr wrap="square" lIns="0" tIns="0" rIns="0" bIns="0" rtlCol="0" anchor="ctr"/>
          <a:lstStyle/>
          <a:p>
            <a:pPr marL="0" indent="0">
              <a:buNone/>
            </a:pPr>
            <a:r>
              <a:rPr lang="en-US" sz="1200" b="1" dirty="0">
                <a:solidFill>
                  <a:srgbClr val="1D6E63"/>
                </a:solidFill>
              </a:rPr>
              <a:t>Two Fragmented Instagram Accounts</a:t>
            </a:r>
            <a:endParaRPr lang="en-US" sz="1200" dirty="0"/>
          </a:p>
        </p:txBody>
      </p:sp>
      <p:sp>
        <p:nvSpPr>
          <p:cNvPr id="23" name="Text 21"/>
          <p:cNvSpPr/>
          <p:nvPr/>
        </p:nvSpPr>
        <p:spPr>
          <a:xfrm>
            <a:off x="932688" y="3483864"/>
            <a:ext cx="7772400" cy="256032"/>
          </a:xfrm>
          <a:prstGeom prst="rect">
            <a:avLst/>
          </a:prstGeom>
          <a:noFill/>
          <a:ln/>
        </p:spPr>
        <p:txBody>
          <a:bodyPr wrap="square" lIns="0" tIns="0" rIns="0" bIns="0" rtlCol="0" anchor="ctr"/>
          <a:lstStyle/>
          <a:p>
            <a:pPr marL="0" indent="0">
              <a:buNone/>
            </a:pPr>
            <a:r>
              <a:rPr lang="en-US" sz="1050" dirty="0">
                <a:solidFill>
                  <a:srgbClr val="7A8A94"/>
                </a:solidFill>
              </a:rPr>
              <a:t>@lucindas_studio (1,102) and @lucindaleveilleart (493) split the audience. Consolidate to one account for stronger algorithmic performance.</a:t>
            </a:r>
            <a:endParaRPr lang="en-US" sz="1050" dirty="0"/>
          </a:p>
        </p:txBody>
      </p:sp>
      <p:sp>
        <p:nvSpPr>
          <p:cNvPr id="24" name="Shape 22"/>
          <p:cNvSpPr/>
          <p:nvPr/>
        </p:nvSpPr>
        <p:spPr>
          <a:xfrm>
            <a:off x="274320" y="3931920"/>
            <a:ext cx="402336" cy="621792"/>
          </a:xfrm>
          <a:prstGeom prst="rect">
            <a:avLst/>
          </a:prstGeom>
          <a:solidFill>
            <a:srgbClr val="1D6E63"/>
          </a:solidFill>
          <a:ln w="12700">
            <a:solidFill>
              <a:srgbClr val="1D6E63"/>
            </a:solidFill>
            <a:prstDash val="solid"/>
          </a:ln>
        </p:spPr>
        <p:txBody>
          <a:bodyPr/>
          <a:lstStyle/>
          <a:p>
            <a:endParaRPr lang="en-US"/>
          </a:p>
        </p:txBody>
      </p:sp>
      <p:sp>
        <p:nvSpPr>
          <p:cNvPr id="25" name="Text 23"/>
          <p:cNvSpPr/>
          <p:nvPr/>
        </p:nvSpPr>
        <p:spPr>
          <a:xfrm>
            <a:off x="274320" y="3931920"/>
            <a:ext cx="402336" cy="621792"/>
          </a:xfrm>
          <a:prstGeom prst="rect">
            <a:avLst/>
          </a:prstGeom>
          <a:noFill/>
          <a:ln/>
        </p:spPr>
        <p:txBody>
          <a:bodyPr wrap="square" lIns="0" tIns="0" rIns="0" bIns="0" rtlCol="0" anchor="ctr"/>
          <a:lstStyle/>
          <a:p>
            <a:pPr marL="0" indent="0" algn="ctr">
              <a:buNone/>
            </a:pPr>
            <a:r>
              <a:rPr lang="en-US" sz="1400" b="1" dirty="0">
                <a:solidFill>
                  <a:srgbClr val="FFFFFF"/>
                </a:solidFill>
              </a:rPr>
              <a:t>12</a:t>
            </a:r>
            <a:endParaRPr lang="en-US" sz="1400" dirty="0"/>
          </a:p>
        </p:txBody>
      </p:sp>
      <p:sp>
        <p:nvSpPr>
          <p:cNvPr id="26" name="Shape 24"/>
          <p:cNvSpPr/>
          <p:nvPr/>
        </p:nvSpPr>
        <p:spPr>
          <a:xfrm>
            <a:off x="749808" y="3931920"/>
            <a:ext cx="8119872" cy="621792"/>
          </a:xfrm>
          <a:prstGeom prst="rect">
            <a:avLst/>
          </a:prstGeom>
          <a:solidFill>
            <a:srgbClr val="FDFAF7"/>
          </a:solidFill>
          <a:ln w="12700">
            <a:solidFill>
              <a:srgbClr val="E6DDD4"/>
            </a:solidFill>
            <a:prstDash val="solid"/>
          </a:ln>
        </p:spPr>
        <p:txBody>
          <a:bodyPr/>
          <a:lstStyle/>
          <a:p>
            <a:endParaRPr lang="en-US"/>
          </a:p>
        </p:txBody>
      </p:sp>
      <p:sp>
        <p:nvSpPr>
          <p:cNvPr id="27" name="Text 25"/>
          <p:cNvSpPr/>
          <p:nvPr/>
        </p:nvSpPr>
        <p:spPr>
          <a:xfrm>
            <a:off x="932688" y="3986784"/>
            <a:ext cx="7772400" cy="256032"/>
          </a:xfrm>
          <a:prstGeom prst="rect">
            <a:avLst/>
          </a:prstGeom>
          <a:noFill/>
          <a:ln/>
        </p:spPr>
        <p:txBody>
          <a:bodyPr wrap="square" lIns="0" tIns="0" rIns="0" bIns="0" rtlCol="0" anchor="ctr"/>
          <a:lstStyle/>
          <a:p>
            <a:pPr marL="0" indent="0">
              <a:buNone/>
            </a:pPr>
            <a:r>
              <a:rPr lang="en-US" sz="1200" b="1" dirty="0">
                <a:solidFill>
                  <a:srgbClr val="1D6E63"/>
                </a:solidFill>
              </a:rPr>
              <a:t>No Blog / Editorial Content Strategy</a:t>
            </a:r>
            <a:endParaRPr lang="en-US" sz="1200" dirty="0"/>
          </a:p>
        </p:txBody>
      </p:sp>
      <p:sp>
        <p:nvSpPr>
          <p:cNvPr id="28" name="Text 26"/>
          <p:cNvSpPr/>
          <p:nvPr/>
        </p:nvSpPr>
        <p:spPr>
          <a:xfrm>
            <a:off x="932688" y="4242816"/>
            <a:ext cx="7772400" cy="256032"/>
          </a:xfrm>
          <a:prstGeom prst="rect">
            <a:avLst/>
          </a:prstGeom>
          <a:noFill/>
          <a:ln/>
        </p:spPr>
        <p:txBody>
          <a:bodyPr wrap="square" lIns="0" tIns="0" rIns="0" bIns="0" rtlCol="0" anchor="ctr"/>
          <a:lstStyle/>
          <a:p>
            <a:pPr marL="0" indent="0">
              <a:buNone/>
            </a:pPr>
            <a:r>
              <a:rPr lang="en-US" sz="1050" dirty="0">
                <a:solidFill>
                  <a:srgbClr val="7A8A94"/>
                </a:solidFill>
              </a:rPr>
              <a:t>Only one blog page found. Publish 1 post/month targeting questions like: 'What is atmospheric landscape painting?' 'How to commission an original oil painting in Australia?'</a:t>
            </a:r>
            <a:endParaRPr lang="en-US" sz="1050" dirty="0"/>
          </a:p>
        </p:txBody>
      </p:sp>
      <p:sp>
        <p:nvSpPr>
          <p:cNvPr id="29" name="Shape 27"/>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30" name="Text 28"/>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52"/>
          </a:solidFill>
          <a:ln w="12700">
            <a:solidFill>
              <a:srgbClr val="2E7D52"/>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LOW PRIORITY ISSUES</a:t>
            </a:r>
            <a:endParaRPr lang="en-US" sz="1900" dirty="0"/>
          </a:p>
        </p:txBody>
      </p:sp>
      <p:sp>
        <p:nvSpPr>
          <p:cNvPr id="4" name="Shape 2"/>
          <p:cNvSpPr/>
          <p:nvPr/>
        </p:nvSpPr>
        <p:spPr>
          <a:xfrm>
            <a:off x="274320" y="960120"/>
            <a:ext cx="8595360" cy="1115568"/>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960120"/>
            <a:ext cx="64008" cy="1115568"/>
          </a:xfrm>
          <a:prstGeom prst="rect">
            <a:avLst/>
          </a:prstGeom>
          <a:solidFill>
            <a:srgbClr val="2E7D52"/>
          </a:solidFill>
          <a:ln w="12700">
            <a:solidFill>
              <a:srgbClr val="2E7D52"/>
            </a:solidFill>
            <a:prstDash val="solid"/>
          </a:ln>
        </p:spPr>
        <p:txBody>
          <a:bodyPr/>
          <a:lstStyle/>
          <a:p>
            <a:endParaRPr lang="en-US"/>
          </a:p>
        </p:txBody>
      </p:sp>
      <p:sp>
        <p:nvSpPr>
          <p:cNvPr id="6" name="Text 4"/>
          <p:cNvSpPr/>
          <p:nvPr/>
        </p:nvSpPr>
        <p:spPr>
          <a:xfrm>
            <a:off x="530352" y="1051560"/>
            <a:ext cx="8138160" cy="310896"/>
          </a:xfrm>
          <a:prstGeom prst="rect">
            <a:avLst/>
          </a:prstGeom>
          <a:noFill/>
          <a:ln/>
        </p:spPr>
        <p:txBody>
          <a:bodyPr wrap="square" lIns="0" tIns="0" rIns="0" bIns="0" rtlCol="0" anchor="ctr"/>
          <a:lstStyle/>
          <a:p>
            <a:pPr marL="0" indent="0">
              <a:buNone/>
            </a:pPr>
            <a:r>
              <a:rPr lang="en-US" sz="1250" b="1" dirty="0">
                <a:solidFill>
                  <a:srgbClr val="1E2A35"/>
                </a:solidFill>
              </a:rPr>
              <a:t>#13  Missing Open Graph Tags</a:t>
            </a:r>
            <a:endParaRPr lang="en-US" sz="1250" dirty="0"/>
          </a:p>
        </p:txBody>
      </p:sp>
      <p:sp>
        <p:nvSpPr>
          <p:cNvPr id="7" name="Text 5"/>
          <p:cNvSpPr/>
          <p:nvPr/>
        </p:nvSpPr>
        <p:spPr>
          <a:xfrm>
            <a:off x="530352" y="1362456"/>
            <a:ext cx="8138160" cy="310896"/>
          </a:xfrm>
          <a:prstGeom prst="rect">
            <a:avLst/>
          </a:prstGeom>
          <a:noFill/>
          <a:ln/>
        </p:spPr>
        <p:txBody>
          <a:bodyPr wrap="square" lIns="0" tIns="0" rIns="0" bIns="0" rtlCol="0" anchor="ctr"/>
          <a:lstStyle/>
          <a:p>
            <a:pPr marL="0" indent="0">
              <a:buNone/>
            </a:pPr>
            <a:r>
              <a:rPr lang="en-US" sz="1050" dirty="0">
                <a:solidFill>
                  <a:srgbClr val="7A8A94"/>
                </a:solidFill>
              </a:rPr>
              <a:t>No evidence of optimised OG tags. When paintings are shared on social media, previews will be generic rather than showing the artwork.</a:t>
            </a:r>
            <a:endParaRPr lang="en-US" sz="1050" dirty="0"/>
          </a:p>
        </p:txBody>
      </p:sp>
      <p:sp>
        <p:nvSpPr>
          <p:cNvPr id="8" name="Text 6"/>
          <p:cNvSpPr/>
          <p:nvPr/>
        </p:nvSpPr>
        <p:spPr>
          <a:xfrm>
            <a:off x="530352" y="1673352"/>
            <a:ext cx="8138160" cy="274320"/>
          </a:xfrm>
          <a:prstGeom prst="rect">
            <a:avLst/>
          </a:prstGeom>
          <a:noFill/>
          <a:ln/>
        </p:spPr>
        <p:txBody>
          <a:bodyPr wrap="square" lIns="0" tIns="0" rIns="0" bIns="0" rtlCol="0" anchor="ctr"/>
          <a:lstStyle/>
          <a:p>
            <a:pPr marL="0" indent="0">
              <a:buNone/>
            </a:pPr>
            <a:r>
              <a:rPr lang="en-US" sz="1000" i="1" dirty="0">
                <a:solidFill>
                  <a:srgbClr val="1D6E63"/>
                </a:solidFill>
              </a:rPr>
              <a:t>Fix: Add open graph meta tags to all pages — especially product/painting pages.</a:t>
            </a:r>
            <a:endParaRPr lang="en-US" sz="1000" dirty="0"/>
          </a:p>
        </p:txBody>
      </p:sp>
      <p:sp>
        <p:nvSpPr>
          <p:cNvPr id="9" name="Shape 7"/>
          <p:cNvSpPr/>
          <p:nvPr/>
        </p:nvSpPr>
        <p:spPr>
          <a:xfrm>
            <a:off x="274320" y="2286000"/>
            <a:ext cx="8595360" cy="1115568"/>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0" name="Shape 8"/>
          <p:cNvSpPr/>
          <p:nvPr/>
        </p:nvSpPr>
        <p:spPr>
          <a:xfrm>
            <a:off x="274320" y="2286000"/>
            <a:ext cx="64008" cy="1115568"/>
          </a:xfrm>
          <a:prstGeom prst="rect">
            <a:avLst/>
          </a:prstGeom>
          <a:solidFill>
            <a:srgbClr val="2E7D52"/>
          </a:solidFill>
          <a:ln w="12700">
            <a:solidFill>
              <a:srgbClr val="2E7D52"/>
            </a:solidFill>
            <a:prstDash val="solid"/>
          </a:ln>
        </p:spPr>
        <p:txBody>
          <a:bodyPr/>
          <a:lstStyle/>
          <a:p>
            <a:endParaRPr lang="en-US"/>
          </a:p>
        </p:txBody>
      </p:sp>
      <p:sp>
        <p:nvSpPr>
          <p:cNvPr id="11" name="Text 9"/>
          <p:cNvSpPr/>
          <p:nvPr/>
        </p:nvSpPr>
        <p:spPr>
          <a:xfrm>
            <a:off x="530352" y="2377440"/>
            <a:ext cx="8138160" cy="310896"/>
          </a:xfrm>
          <a:prstGeom prst="rect">
            <a:avLst/>
          </a:prstGeom>
          <a:noFill/>
          <a:ln/>
        </p:spPr>
        <p:txBody>
          <a:bodyPr wrap="square" lIns="0" tIns="0" rIns="0" bIns="0" rtlCol="0" anchor="ctr"/>
          <a:lstStyle/>
          <a:p>
            <a:pPr marL="0" indent="0">
              <a:buNone/>
            </a:pPr>
            <a:r>
              <a:rPr lang="en-US" sz="1250" b="1" dirty="0">
                <a:solidFill>
                  <a:srgbClr val="1E2A35"/>
                </a:solidFill>
              </a:rPr>
              <a:t>#14  Incomplete Alt Text on Artwork Images</a:t>
            </a:r>
            <a:endParaRPr lang="en-US" sz="1250" dirty="0"/>
          </a:p>
        </p:txBody>
      </p:sp>
      <p:sp>
        <p:nvSpPr>
          <p:cNvPr id="12" name="Text 10"/>
          <p:cNvSpPr/>
          <p:nvPr/>
        </p:nvSpPr>
        <p:spPr>
          <a:xfrm>
            <a:off x="530352" y="2688336"/>
            <a:ext cx="8138160" cy="310896"/>
          </a:xfrm>
          <a:prstGeom prst="rect">
            <a:avLst/>
          </a:prstGeom>
          <a:noFill/>
          <a:ln/>
        </p:spPr>
        <p:txBody>
          <a:bodyPr wrap="square" lIns="0" tIns="0" rIns="0" bIns="0" rtlCol="0" anchor="ctr"/>
          <a:lstStyle/>
          <a:p>
            <a:pPr marL="0" indent="0">
              <a:buNone/>
            </a:pPr>
            <a:r>
              <a:rPr lang="en-US" sz="1050" dirty="0">
                <a:solidFill>
                  <a:srgbClr val="7A8A94"/>
                </a:solidFill>
              </a:rPr>
              <a:t>WordPress/WooCommerce galleries often have missing or generic alt text. Every painting image needs descriptive alt text to be indexed correctly.</a:t>
            </a:r>
            <a:endParaRPr lang="en-US" sz="1050" dirty="0"/>
          </a:p>
        </p:txBody>
      </p:sp>
      <p:sp>
        <p:nvSpPr>
          <p:cNvPr id="13" name="Text 11"/>
          <p:cNvSpPr/>
          <p:nvPr/>
        </p:nvSpPr>
        <p:spPr>
          <a:xfrm>
            <a:off x="530352" y="2999232"/>
            <a:ext cx="8138160" cy="274320"/>
          </a:xfrm>
          <a:prstGeom prst="rect">
            <a:avLst/>
          </a:prstGeom>
          <a:noFill/>
          <a:ln/>
        </p:spPr>
        <p:txBody>
          <a:bodyPr wrap="square" lIns="0" tIns="0" rIns="0" bIns="0" rtlCol="0" anchor="ctr"/>
          <a:lstStyle/>
          <a:p>
            <a:pPr marL="0" indent="0">
              <a:buNone/>
            </a:pPr>
            <a:r>
              <a:rPr lang="en-US" sz="1000" i="1" dirty="0">
                <a:solidFill>
                  <a:srgbClr val="1D6E63"/>
                </a:solidFill>
              </a:rPr>
              <a:t>Fix: Format: "[Title] — original Australian landscape oil painting by Lucinda Leveille, [year]".</a:t>
            </a:r>
            <a:endParaRPr lang="en-US" sz="1000" dirty="0"/>
          </a:p>
        </p:txBody>
      </p:sp>
      <p:sp>
        <p:nvSpPr>
          <p:cNvPr id="14" name="Shape 12"/>
          <p:cNvSpPr/>
          <p:nvPr/>
        </p:nvSpPr>
        <p:spPr>
          <a:xfrm>
            <a:off x="274320" y="3611880"/>
            <a:ext cx="8595360" cy="1115568"/>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5" name="Shape 13"/>
          <p:cNvSpPr/>
          <p:nvPr/>
        </p:nvSpPr>
        <p:spPr>
          <a:xfrm>
            <a:off x="274320" y="3611880"/>
            <a:ext cx="64008" cy="1115568"/>
          </a:xfrm>
          <a:prstGeom prst="rect">
            <a:avLst/>
          </a:prstGeom>
          <a:solidFill>
            <a:srgbClr val="2E7D52"/>
          </a:solidFill>
          <a:ln w="12700">
            <a:solidFill>
              <a:srgbClr val="2E7D52"/>
            </a:solidFill>
            <a:prstDash val="solid"/>
          </a:ln>
        </p:spPr>
        <p:txBody>
          <a:bodyPr/>
          <a:lstStyle/>
          <a:p>
            <a:endParaRPr lang="en-US"/>
          </a:p>
        </p:txBody>
      </p:sp>
      <p:sp>
        <p:nvSpPr>
          <p:cNvPr id="16" name="Text 14"/>
          <p:cNvSpPr/>
          <p:nvPr/>
        </p:nvSpPr>
        <p:spPr>
          <a:xfrm>
            <a:off x="530352" y="3703320"/>
            <a:ext cx="8138160" cy="310896"/>
          </a:xfrm>
          <a:prstGeom prst="rect">
            <a:avLst/>
          </a:prstGeom>
          <a:noFill/>
          <a:ln/>
        </p:spPr>
        <p:txBody>
          <a:bodyPr wrap="square" lIns="0" tIns="0" rIns="0" bIns="0" rtlCol="0" anchor="ctr"/>
          <a:lstStyle/>
          <a:p>
            <a:pPr marL="0" indent="0">
              <a:buNone/>
            </a:pPr>
            <a:r>
              <a:rPr lang="en-US" sz="1250" b="1" dirty="0">
                <a:solidFill>
                  <a:srgbClr val="1E2A35"/>
                </a:solidFill>
              </a:rPr>
              <a:t>#15  Brand Name Inconsistency</a:t>
            </a:r>
            <a:endParaRPr lang="en-US" sz="1250" dirty="0"/>
          </a:p>
        </p:txBody>
      </p:sp>
      <p:sp>
        <p:nvSpPr>
          <p:cNvPr id="17" name="Text 15"/>
          <p:cNvSpPr/>
          <p:nvPr/>
        </p:nvSpPr>
        <p:spPr>
          <a:xfrm>
            <a:off x="530352" y="4014216"/>
            <a:ext cx="8138160" cy="310896"/>
          </a:xfrm>
          <a:prstGeom prst="rect">
            <a:avLst/>
          </a:prstGeom>
          <a:noFill/>
          <a:ln/>
        </p:spPr>
        <p:txBody>
          <a:bodyPr wrap="square" lIns="0" tIns="0" rIns="0" bIns="0" rtlCol="0" anchor="ctr"/>
          <a:lstStyle/>
          <a:p>
            <a:pPr marL="0" indent="0">
              <a:buNone/>
            </a:pPr>
            <a:r>
              <a:rPr lang="en-US" sz="1050" dirty="0">
                <a:solidFill>
                  <a:srgbClr val="7A8A94"/>
                </a:solidFill>
              </a:rPr>
              <a:t>"Lucinda's Studio", "Lucindas Studio", "Lucinda Leveille", and "lucindastudio.com.au" are used inconsistently. AI systems struggle to resolve entities with inconsistent names.</a:t>
            </a:r>
            <a:endParaRPr lang="en-US" sz="1050" dirty="0"/>
          </a:p>
        </p:txBody>
      </p:sp>
      <p:sp>
        <p:nvSpPr>
          <p:cNvPr id="18" name="Text 16"/>
          <p:cNvSpPr/>
          <p:nvPr/>
        </p:nvSpPr>
        <p:spPr>
          <a:xfrm>
            <a:off x="530352" y="4325112"/>
            <a:ext cx="8138160" cy="274320"/>
          </a:xfrm>
          <a:prstGeom prst="rect">
            <a:avLst/>
          </a:prstGeom>
          <a:noFill/>
          <a:ln/>
        </p:spPr>
        <p:txBody>
          <a:bodyPr wrap="square" lIns="0" tIns="0" rIns="0" bIns="0" rtlCol="0" anchor="ctr"/>
          <a:lstStyle/>
          <a:p>
            <a:pPr marL="0" indent="0">
              <a:buNone/>
            </a:pPr>
            <a:r>
              <a:rPr lang="en-US" sz="1000" i="1" dirty="0">
                <a:solidFill>
                  <a:srgbClr val="1D6E63"/>
                </a:solidFill>
              </a:rPr>
              <a:t>Fix: Standardise to "Lucinda Leveille | Lucinda's Studio" across all pages, profiles, and schema.</a:t>
            </a:r>
            <a:endParaRPr lang="en-US" sz="1000" dirty="0"/>
          </a:p>
        </p:txBody>
      </p:sp>
      <p:sp>
        <p:nvSpPr>
          <p:cNvPr id="19" name="Shape 17"/>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20" name="Text 18"/>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DEEP DIVE — AI CITABILITY  |  32 / 100</a:t>
            </a:r>
            <a:endParaRPr lang="en-US" sz="1900" dirty="0"/>
          </a:p>
        </p:txBody>
      </p:sp>
      <p:sp>
        <p:nvSpPr>
          <p:cNvPr id="4" name="Text 2"/>
          <p:cNvSpPr/>
          <p:nvPr/>
        </p:nvSpPr>
        <p:spPr>
          <a:xfrm>
            <a:off x="365760" y="914400"/>
            <a:ext cx="3977640" cy="292608"/>
          </a:xfrm>
          <a:prstGeom prst="rect">
            <a:avLst/>
          </a:prstGeom>
          <a:noFill/>
          <a:ln/>
        </p:spPr>
        <p:txBody>
          <a:bodyPr wrap="square" lIns="0" tIns="0" rIns="0" bIns="0" rtlCol="0" anchor="ctr"/>
          <a:lstStyle/>
          <a:p>
            <a:pPr marL="0" indent="0">
              <a:buNone/>
            </a:pPr>
            <a:r>
              <a:rPr lang="en-US" sz="1100" b="1" kern="0" spc="200" dirty="0">
                <a:solidFill>
                  <a:srgbClr val="C94040"/>
                </a:solidFill>
              </a:rPr>
              <a:t>THE CORE PROBLEM</a:t>
            </a:r>
            <a:endParaRPr lang="en-US" sz="1100" dirty="0"/>
          </a:p>
        </p:txBody>
      </p:sp>
      <p:sp>
        <p:nvSpPr>
          <p:cNvPr id="5" name="Text 3"/>
          <p:cNvSpPr/>
          <p:nvPr/>
        </p:nvSpPr>
        <p:spPr>
          <a:xfrm>
            <a:off x="365760" y="1234440"/>
            <a:ext cx="3977640" cy="1645920"/>
          </a:xfrm>
          <a:prstGeom prst="rect">
            <a:avLst/>
          </a:prstGeom>
          <a:noFill/>
          <a:ln/>
        </p:spPr>
        <p:txBody>
          <a:bodyPr wrap="square" lIns="0" tIns="0" rIns="0" bIns="0" rtlCol="0" anchor="ctr"/>
          <a:lstStyle/>
          <a:p>
            <a:pPr marL="0" indent="0">
              <a:buNone/>
            </a:pPr>
            <a:r>
              <a:rPr lang="en-US" sz="1150" dirty="0">
                <a:solidFill>
                  <a:srgbClr val="1E2A35"/>
                </a:solidFill>
              </a:rPr>
              <a:t>lucindastudio.com.au is a portfolio/shop that presents art visually rather than textually. The site's most compelling content — Lucinda's story, philosophy, and technique — lives on other people's websites.</a:t>
            </a:r>
            <a:endParaRPr lang="en-US" sz="1150" dirty="0"/>
          </a:p>
          <a:p>
            <a:pPr marL="0" indent="0">
              <a:buNone/>
            </a:pPr>
            <a:endParaRPr lang="en-US" sz="1150" dirty="0"/>
          </a:p>
          <a:p>
            <a:pPr marL="0" indent="0">
              <a:buNone/>
            </a:pPr>
            <a:r>
              <a:rPr lang="en-US" sz="1150" dirty="0">
                <a:solidFill>
                  <a:srgbClr val="1E2A35"/>
                </a:solidFill>
              </a:rPr>
              <a:t>Every time an AI is asked about Australian landscape painters, it cites Artsy Shark, Art Lovers Australia, and Artist Close Up — not Lucinda's own site.</a:t>
            </a:r>
            <a:endParaRPr lang="en-US" sz="1150" dirty="0"/>
          </a:p>
        </p:txBody>
      </p:sp>
      <p:sp>
        <p:nvSpPr>
          <p:cNvPr id="6" name="Text 4"/>
          <p:cNvSpPr/>
          <p:nvPr/>
        </p:nvSpPr>
        <p:spPr>
          <a:xfrm>
            <a:off x="365760" y="2971800"/>
            <a:ext cx="3977640" cy="292608"/>
          </a:xfrm>
          <a:prstGeom prst="rect">
            <a:avLst/>
          </a:prstGeom>
          <a:noFill/>
          <a:ln/>
        </p:spPr>
        <p:txBody>
          <a:bodyPr wrap="square" lIns="0" tIns="0" rIns="0" bIns="0" rtlCol="0" anchor="ctr"/>
          <a:lstStyle/>
          <a:p>
            <a:pPr marL="0" indent="0">
              <a:buNone/>
            </a:pPr>
            <a:r>
              <a:rPr lang="en-US" sz="1100" b="1" kern="0" spc="200" dirty="0">
                <a:solidFill>
                  <a:srgbClr val="1B3A4B"/>
                </a:solidFill>
              </a:rPr>
              <a:t>CITABILITY BY PAGE TYPE</a:t>
            </a:r>
            <a:endParaRPr lang="en-US" sz="1100" dirty="0"/>
          </a:p>
        </p:txBody>
      </p:sp>
      <p:sp>
        <p:nvSpPr>
          <p:cNvPr id="7" name="Text 5"/>
          <p:cNvSpPr/>
          <p:nvPr/>
        </p:nvSpPr>
        <p:spPr>
          <a:xfrm>
            <a:off x="365760" y="3364992"/>
            <a:ext cx="1645920" cy="237744"/>
          </a:xfrm>
          <a:prstGeom prst="rect">
            <a:avLst/>
          </a:prstGeom>
          <a:noFill/>
          <a:ln/>
        </p:spPr>
        <p:txBody>
          <a:bodyPr wrap="square" lIns="0" tIns="0" rIns="0" bIns="0" rtlCol="0" anchor="ctr"/>
          <a:lstStyle/>
          <a:p>
            <a:pPr marL="0" indent="0">
              <a:buNone/>
            </a:pPr>
            <a:r>
              <a:rPr lang="en-US" sz="1000" dirty="0">
                <a:solidFill>
                  <a:srgbClr val="7A8A94"/>
                </a:solidFill>
              </a:rPr>
              <a:t>Homepage</a:t>
            </a:r>
            <a:endParaRPr lang="en-US" sz="1000" dirty="0"/>
          </a:p>
        </p:txBody>
      </p:sp>
      <p:sp>
        <p:nvSpPr>
          <p:cNvPr id="8" name="Shape 6"/>
          <p:cNvSpPr/>
          <p:nvPr/>
        </p:nvSpPr>
        <p:spPr>
          <a:xfrm>
            <a:off x="2084832" y="3401568"/>
            <a:ext cx="2103120" cy="164592"/>
          </a:xfrm>
          <a:prstGeom prst="rect">
            <a:avLst/>
          </a:prstGeom>
          <a:solidFill>
            <a:srgbClr val="DDD5CC"/>
          </a:solidFill>
          <a:ln w="12700">
            <a:solidFill>
              <a:srgbClr val="DDD5CC"/>
            </a:solidFill>
            <a:prstDash val="solid"/>
          </a:ln>
        </p:spPr>
        <p:txBody>
          <a:bodyPr/>
          <a:lstStyle/>
          <a:p>
            <a:endParaRPr lang="en-US"/>
          </a:p>
        </p:txBody>
      </p:sp>
      <p:sp>
        <p:nvSpPr>
          <p:cNvPr id="9" name="Shape 7"/>
          <p:cNvSpPr/>
          <p:nvPr/>
        </p:nvSpPr>
        <p:spPr>
          <a:xfrm>
            <a:off x="2084832" y="3401568"/>
            <a:ext cx="315468" cy="164592"/>
          </a:xfrm>
          <a:prstGeom prst="rect">
            <a:avLst/>
          </a:prstGeom>
          <a:solidFill>
            <a:srgbClr val="C94040"/>
          </a:solidFill>
          <a:ln w="12700">
            <a:solidFill>
              <a:srgbClr val="C94040"/>
            </a:solidFill>
            <a:prstDash val="solid"/>
          </a:ln>
        </p:spPr>
        <p:txBody>
          <a:bodyPr/>
          <a:lstStyle/>
          <a:p>
            <a:endParaRPr lang="en-US"/>
          </a:p>
        </p:txBody>
      </p:sp>
      <p:sp>
        <p:nvSpPr>
          <p:cNvPr id="10" name="Text 8"/>
          <p:cNvSpPr/>
          <p:nvPr/>
        </p:nvSpPr>
        <p:spPr>
          <a:xfrm>
            <a:off x="4251960" y="3364992"/>
            <a:ext cx="502920" cy="237744"/>
          </a:xfrm>
          <a:prstGeom prst="rect">
            <a:avLst/>
          </a:prstGeom>
          <a:noFill/>
          <a:ln/>
        </p:spPr>
        <p:txBody>
          <a:bodyPr wrap="square" lIns="0" tIns="0" rIns="0" bIns="0" rtlCol="0" anchor="ctr"/>
          <a:lstStyle/>
          <a:p>
            <a:pPr marL="0" indent="0">
              <a:buNone/>
            </a:pPr>
            <a:r>
              <a:rPr lang="en-US" sz="1000" b="1" dirty="0">
                <a:solidFill>
                  <a:srgbClr val="1E2A35"/>
                </a:solidFill>
              </a:rPr>
              <a:t>15/100</a:t>
            </a:r>
            <a:endParaRPr lang="en-US" sz="1000" dirty="0"/>
          </a:p>
        </p:txBody>
      </p:sp>
      <p:sp>
        <p:nvSpPr>
          <p:cNvPr id="11" name="Text 9"/>
          <p:cNvSpPr/>
          <p:nvPr/>
        </p:nvSpPr>
        <p:spPr>
          <a:xfrm>
            <a:off x="365760" y="3648456"/>
            <a:ext cx="1645920" cy="237744"/>
          </a:xfrm>
          <a:prstGeom prst="rect">
            <a:avLst/>
          </a:prstGeom>
          <a:noFill/>
          <a:ln/>
        </p:spPr>
        <p:txBody>
          <a:bodyPr wrap="square" lIns="0" tIns="0" rIns="0" bIns="0" rtlCol="0" anchor="ctr"/>
          <a:lstStyle/>
          <a:p>
            <a:pPr marL="0" indent="0">
              <a:buNone/>
            </a:pPr>
            <a:r>
              <a:rPr lang="en-US" sz="1000" dirty="0">
                <a:solidFill>
                  <a:srgbClr val="7A8A94"/>
                </a:solidFill>
              </a:rPr>
              <a:t>About / My Story</a:t>
            </a:r>
            <a:endParaRPr lang="en-US" sz="1000" dirty="0"/>
          </a:p>
        </p:txBody>
      </p:sp>
      <p:sp>
        <p:nvSpPr>
          <p:cNvPr id="12" name="Shape 10"/>
          <p:cNvSpPr/>
          <p:nvPr/>
        </p:nvSpPr>
        <p:spPr>
          <a:xfrm>
            <a:off x="2084832" y="3685032"/>
            <a:ext cx="2103120" cy="164592"/>
          </a:xfrm>
          <a:prstGeom prst="rect">
            <a:avLst/>
          </a:prstGeom>
          <a:solidFill>
            <a:srgbClr val="DDD5CC"/>
          </a:solidFill>
          <a:ln w="12700">
            <a:solidFill>
              <a:srgbClr val="DDD5CC"/>
            </a:solidFill>
            <a:prstDash val="solid"/>
          </a:ln>
        </p:spPr>
        <p:txBody>
          <a:bodyPr/>
          <a:lstStyle/>
          <a:p>
            <a:endParaRPr lang="en-US"/>
          </a:p>
        </p:txBody>
      </p:sp>
      <p:sp>
        <p:nvSpPr>
          <p:cNvPr id="13" name="Shape 11"/>
          <p:cNvSpPr/>
          <p:nvPr/>
        </p:nvSpPr>
        <p:spPr>
          <a:xfrm>
            <a:off x="2084832" y="3685032"/>
            <a:ext cx="841248" cy="164592"/>
          </a:xfrm>
          <a:prstGeom prst="rect">
            <a:avLst/>
          </a:prstGeom>
          <a:solidFill>
            <a:srgbClr val="D4891A"/>
          </a:solidFill>
          <a:ln w="12700">
            <a:solidFill>
              <a:srgbClr val="D4891A"/>
            </a:solidFill>
            <a:prstDash val="solid"/>
          </a:ln>
        </p:spPr>
        <p:txBody>
          <a:bodyPr/>
          <a:lstStyle/>
          <a:p>
            <a:endParaRPr lang="en-US"/>
          </a:p>
        </p:txBody>
      </p:sp>
      <p:sp>
        <p:nvSpPr>
          <p:cNvPr id="14" name="Text 12"/>
          <p:cNvSpPr/>
          <p:nvPr/>
        </p:nvSpPr>
        <p:spPr>
          <a:xfrm>
            <a:off x="4251960" y="3648456"/>
            <a:ext cx="502920" cy="237744"/>
          </a:xfrm>
          <a:prstGeom prst="rect">
            <a:avLst/>
          </a:prstGeom>
          <a:noFill/>
          <a:ln/>
        </p:spPr>
        <p:txBody>
          <a:bodyPr wrap="square" lIns="0" tIns="0" rIns="0" bIns="0" rtlCol="0" anchor="ctr"/>
          <a:lstStyle/>
          <a:p>
            <a:pPr marL="0" indent="0">
              <a:buNone/>
            </a:pPr>
            <a:r>
              <a:rPr lang="en-US" sz="1000" b="1" dirty="0">
                <a:solidFill>
                  <a:srgbClr val="1E2A35"/>
                </a:solidFill>
              </a:rPr>
              <a:t>40/100</a:t>
            </a:r>
            <a:endParaRPr lang="en-US" sz="1000" dirty="0"/>
          </a:p>
        </p:txBody>
      </p:sp>
      <p:sp>
        <p:nvSpPr>
          <p:cNvPr id="15" name="Text 13"/>
          <p:cNvSpPr/>
          <p:nvPr/>
        </p:nvSpPr>
        <p:spPr>
          <a:xfrm>
            <a:off x="365760" y="3931920"/>
            <a:ext cx="1645920" cy="237744"/>
          </a:xfrm>
          <a:prstGeom prst="rect">
            <a:avLst/>
          </a:prstGeom>
          <a:noFill/>
          <a:ln/>
        </p:spPr>
        <p:txBody>
          <a:bodyPr wrap="square" lIns="0" tIns="0" rIns="0" bIns="0" rtlCol="0" anchor="ctr"/>
          <a:lstStyle/>
          <a:p>
            <a:pPr marL="0" indent="0">
              <a:buNone/>
            </a:pPr>
            <a:r>
              <a:rPr lang="en-US" sz="1000" dirty="0">
                <a:solidFill>
                  <a:srgbClr val="7A8A94"/>
                </a:solidFill>
              </a:rPr>
              <a:t>Commission</a:t>
            </a:r>
            <a:endParaRPr lang="en-US" sz="1000" dirty="0"/>
          </a:p>
        </p:txBody>
      </p:sp>
      <p:sp>
        <p:nvSpPr>
          <p:cNvPr id="16" name="Shape 14"/>
          <p:cNvSpPr/>
          <p:nvPr/>
        </p:nvSpPr>
        <p:spPr>
          <a:xfrm>
            <a:off x="2084832" y="3968496"/>
            <a:ext cx="2103120" cy="164592"/>
          </a:xfrm>
          <a:prstGeom prst="rect">
            <a:avLst/>
          </a:prstGeom>
          <a:solidFill>
            <a:srgbClr val="DDD5CC"/>
          </a:solidFill>
          <a:ln w="12700">
            <a:solidFill>
              <a:srgbClr val="DDD5CC"/>
            </a:solidFill>
            <a:prstDash val="solid"/>
          </a:ln>
        </p:spPr>
        <p:txBody>
          <a:bodyPr/>
          <a:lstStyle/>
          <a:p>
            <a:endParaRPr lang="en-US"/>
          </a:p>
        </p:txBody>
      </p:sp>
      <p:sp>
        <p:nvSpPr>
          <p:cNvPr id="17" name="Shape 15"/>
          <p:cNvSpPr/>
          <p:nvPr/>
        </p:nvSpPr>
        <p:spPr>
          <a:xfrm>
            <a:off x="2084832" y="3968496"/>
            <a:ext cx="736092" cy="164592"/>
          </a:xfrm>
          <a:prstGeom prst="rect">
            <a:avLst/>
          </a:prstGeom>
          <a:solidFill>
            <a:srgbClr val="D4891A"/>
          </a:solidFill>
          <a:ln w="12700">
            <a:solidFill>
              <a:srgbClr val="D4891A"/>
            </a:solidFill>
            <a:prstDash val="solid"/>
          </a:ln>
        </p:spPr>
        <p:txBody>
          <a:bodyPr/>
          <a:lstStyle/>
          <a:p>
            <a:endParaRPr lang="en-US"/>
          </a:p>
        </p:txBody>
      </p:sp>
      <p:sp>
        <p:nvSpPr>
          <p:cNvPr id="18" name="Text 16"/>
          <p:cNvSpPr/>
          <p:nvPr/>
        </p:nvSpPr>
        <p:spPr>
          <a:xfrm>
            <a:off x="4251960" y="3931920"/>
            <a:ext cx="502920" cy="237744"/>
          </a:xfrm>
          <a:prstGeom prst="rect">
            <a:avLst/>
          </a:prstGeom>
          <a:noFill/>
          <a:ln/>
        </p:spPr>
        <p:txBody>
          <a:bodyPr wrap="square" lIns="0" tIns="0" rIns="0" bIns="0" rtlCol="0" anchor="ctr"/>
          <a:lstStyle/>
          <a:p>
            <a:pPr marL="0" indent="0">
              <a:buNone/>
            </a:pPr>
            <a:r>
              <a:rPr lang="en-US" sz="1000" b="1" dirty="0">
                <a:solidFill>
                  <a:srgbClr val="1E2A35"/>
                </a:solidFill>
              </a:rPr>
              <a:t>35/100</a:t>
            </a:r>
            <a:endParaRPr lang="en-US" sz="1000" dirty="0"/>
          </a:p>
        </p:txBody>
      </p:sp>
      <p:sp>
        <p:nvSpPr>
          <p:cNvPr id="19" name="Text 17"/>
          <p:cNvSpPr/>
          <p:nvPr/>
        </p:nvSpPr>
        <p:spPr>
          <a:xfrm>
            <a:off x="365760" y="4215384"/>
            <a:ext cx="1645920" cy="237744"/>
          </a:xfrm>
          <a:prstGeom prst="rect">
            <a:avLst/>
          </a:prstGeom>
          <a:noFill/>
          <a:ln/>
        </p:spPr>
        <p:txBody>
          <a:bodyPr wrap="square" lIns="0" tIns="0" rIns="0" bIns="0" rtlCol="0" anchor="ctr"/>
          <a:lstStyle/>
          <a:p>
            <a:pPr marL="0" indent="0">
              <a:buNone/>
            </a:pPr>
            <a:r>
              <a:rPr lang="en-US" sz="1000" dirty="0">
                <a:solidFill>
                  <a:srgbClr val="7A8A94"/>
                </a:solidFill>
              </a:rPr>
              <a:t>Shop pages</a:t>
            </a:r>
            <a:endParaRPr lang="en-US" sz="1000" dirty="0"/>
          </a:p>
        </p:txBody>
      </p:sp>
      <p:sp>
        <p:nvSpPr>
          <p:cNvPr id="20" name="Shape 18"/>
          <p:cNvSpPr/>
          <p:nvPr/>
        </p:nvSpPr>
        <p:spPr>
          <a:xfrm>
            <a:off x="2084832" y="4251960"/>
            <a:ext cx="2103120" cy="164592"/>
          </a:xfrm>
          <a:prstGeom prst="rect">
            <a:avLst/>
          </a:prstGeom>
          <a:solidFill>
            <a:srgbClr val="DDD5CC"/>
          </a:solidFill>
          <a:ln w="12700">
            <a:solidFill>
              <a:srgbClr val="DDD5CC"/>
            </a:solidFill>
            <a:prstDash val="solid"/>
          </a:ln>
        </p:spPr>
        <p:txBody>
          <a:bodyPr/>
          <a:lstStyle/>
          <a:p>
            <a:endParaRPr lang="en-US"/>
          </a:p>
        </p:txBody>
      </p:sp>
      <p:sp>
        <p:nvSpPr>
          <p:cNvPr id="21" name="Shape 19"/>
          <p:cNvSpPr/>
          <p:nvPr/>
        </p:nvSpPr>
        <p:spPr>
          <a:xfrm>
            <a:off x="2084832" y="4251960"/>
            <a:ext cx="420624" cy="164592"/>
          </a:xfrm>
          <a:prstGeom prst="rect">
            <a:avLst/>
          </a:prstGeom>
          <a:solidFill>
            <a:srgbClr val="C94040"/>
          </a:solidFill>
          <a:ln w="12700">
            <a:solidFill>
              <a:srgbClr val="C94040"/>
            </a:solidFill>
            <a:prstDash val="solid"/>
          </a:ln>
        </p:spPr>
        <p:txBody>
          <a:bodyPr/>
          <a:lstStyle/>
          <a:p>
            <a:endParaRPr lang="en-US"/>
          </a:p>
        </p:txBody>
      </p:sp>
      <p:sp>
        <p:nvSpPr>
          <p:cNvPr id="22" name="Text 20"/>
          <p:cNvSpPr/>
          <p:nvPr/>
        </p:nvSpPr>
        <p:spPr>
          <a:xfrm>
            <a:off x="4251960" y="4215384"/>
            <a:ext cx="502920" cy="237744"/>
          </a:xfrm>
          <a:prstGeom prst="rect">
            <a:avLst/>
          </a:prstGeom>
          <a:noFill/>
          <a:ln/>
        </p:spPr>
        <p:txBody>
          <a:bodyPr wrap="square" lIns="0" tIns="0" rIns="0" bIns="0" rtlCol="0" anchor="ctr"/>
          <a:lstStyle/>
          <a:p>
            <a:pPr marL="0" indent="0">
              <a:buNone/>
            </a:pPr>
            <a:r>
              <a:rPr lang="en-US" sz="1000" b="1" dirty="0">
                <a:solidFill>
                  <a:srgbClr val="1E2A35"/>
                </a:solidFill>
              </a:rPr>
              <a:t>20/100</a:t>
            </a:r>
            <a:endParaRPr lang="en-US" sz="1000" dirty="0"/>
          </a:p>
        </p:txBody>
      </p:sp>
      <p:sp>
        <p:nvSpPr>
          <p:cNvPr id="23" name="Text 21"/>
          <p:cNvSpPr/>
          <p:nvPr/>
        </p:nvSpPr>
        <p:spPr>
          <a:xfrm>
            <a:off x="365760" y="4498848"/>
            <a:ext cx="1645920" cy="237744"/>
          </a:xfrm>
          <a:prstGeom prst="rect">
            <a:avLst/>
          </a:prstGeom>
          <a:noFill/>
          <a:ln/>
        </p:spPr>
        <p:txBody>
          <a:bodyPr wrap="square" lIns="0" tIns="0" rIns="0" bIns="0" rtlCol="0" anchor="ctr"/>
          <a:lstStyle/>
          <a:p>
            <a:pPr marL="0" indent="0">
              <a:buNone/>
            </a:pPr>
            <a:r>
              <a:rPr lang="en-US" sz="1000" dirty="0">
                <a:solidFill>
                  <a:srgbClr val="7A8A94"/>
                </a:solidFill>
              </a:rPr>
              <a:t>On Painting (blog)</a:t>
            </a:r>
            <a:endParaRPr lang="en-US" sz="1000" dirty="0"/>
          </a:p>
        </p:txBody>
      </p:sp>
      <p:sp>
        <p:nvSpPr>
          <p:cNvPr id="24" name="Shape 22"/>
          <p:cNvSpPr/>
          <p:nvPr/>
        </p:nvSpPr>
        <p:spPr>
          <a:xfrm>
            <a:off x="2084832" y="4535424"/>
            <a:ext cx="2103120" cy="164592"/>
          </a:xfrm>
          <a:prstGeom prst="rect">
            <a:avLst/>
          </a:prstGeom>
          <a:solidFill>
            <a:srgbClr val="DDD5CC"/>
          </a:solidFill>
          <a:ln w="12700">
            <a:solidFill>
              <a:srgbClr val="DDD5CC"/>
            </a:solidFill>
            <a:prstDash val="solid"/>
          </a:ln>
        </p:spPr>
        <p:txBody>
          <a:bodyPr/>
          <a:lstStyle/>
          <a:p>
            <a:endParaRPr lang="en-US"/>
          </a:p>
        </p:txBody>
      </p:sp>
      <p:sp>
        <p:nvSpPr>
          <p:cNvPr id="25" name="Shape 23"/>
          <p:cNvSpPr/>
          <p:nvPr/>
        </p:nvSpPr>
        <p:spPr>
          <a:xfrm>
            <a:off x="2084832" y="4535424"/>
            <a:ext cx="1156716" cy="164592"/>
          </a:xfrm>
          <a:prstGeom prst="rect">
            <a:avLst/>
          </a:prstGeom>
          <a:solidFill>
            <a:srgbClr val="2EB8A6"/>
          </a:solidFill>
          <a:ln w="12700">
            <a:solidFill>
              <a:srgbClr val="2EB8A6"/>
            </a:solidFill>
            <a:prstDash val="solid"/>
          </a:ln>
        </p:spPr>
        <p:txBody>
          <a:bodyPr/>
          <a:lstStyle/>
          <a:p>
            <a:endParaRPr lang="en-US"/>
          </a:p>
        </p:txBody>
      </p:sp>
      <p:sp>
        <p:nvSpPr>
          <p:cNvPr id="26" name="Text 24"/>
          <p:cNvSpPr/>
          <p:nvPr/>
        </p:nvSpPr>
        <p:spPr>
          <a:xfrm>
            <a:off x="4251960" y="4498848"/>
            <a:ext cx="502920" cy="237744"/>
          </a:xfrm>
          <a:prstGeom prst="rect">
            <a:avLst/>
          </a:prstGeom>
          <a:noFill/>
          <a:ln/>
        </p:spPr>
        <p:txBody>
          <a:bodyPr wrap="square" lIns="0" tIns="0" rIns="0" bIns="0" rtlCol="0" anchor="ctr"/>
          <a:lstStyle/>
          <a:p>
            <a:pPr marL="0" indent="0">
              <a:buNone/>
            </a:pPr>
            <a:r>
              <a:rPr lang="en-US" sz="1000" b="1" dirty="0">
                <a:solidFill>
                  <a:srgbClr val="1E2A35"/>
                </a:solidFill>
              </a:rPr>
              <a:t>55/100</a:t>
            </a:r>
            <a:endParaRPr lang="en-US" sz="1000" dirty="0"/>
          </a:p>
        </p:txBody>
      </p:sp>
      <p:sp>
        <p:nvSpPr>
          <p:cNvPr id="27" name="Shape 25"/>
          <p:cNvSpPr/>
          <p:nvPr/>
        </p:nvSpPr>
        <p:spPr>
          <a:xfrm>
            <a:off x="4663440" y="868680"/>
            <a:ext cx="4160520" cy="3749040"/>
          </a:xfrm>
          <a:prstGeom prst="rect">
            <a:avLst/>
          </a:prstGeom>
          <a:solidFill>
            <a:srgbClr val="1B3A4B"/>
          </a:solidFill>
          <a:ln w="12700">
            <a:solidFill>
              <a:srgbClr val="1B3A4B"/>
            </a:solidFill>
            <a:prstDash val="solid"/>
          </a:ln>
          <a:effectLst>
            <a:outerShdw blurRad="101600" dist="38100" dir="8100000" algn="bl" rotWithShape="0">
              <a:srgbClr val="000000">
                <a:alpha val="10000"/>
              </a:srgbClr>
            </a:outerShdw>
          </a:effectLst>
        </p:spPr>
        <p:txBody>
          <a:bodyPr/>
          <a:lstStyle/>
          <a:p>
            <a:endParaRPr lang="en-US"/>
          </a:p>
        </p:txBody>
      </p:sp>
      <p:sp>
        <p:nvSpPr>
          <p:cNvPr id="28" name="Text 26"/>
          <p:cNvSpPr/>
          <p:nvPr/>
        </p:nvSpPr>
        <p:spPr>
          <a:xfrm>
            <a:off x="4846320" y="987552"/>
            <a:ext cx="3794760" cy="320040"/>
          </a:xfrm>
          <a:prstGeom prst="rect">
            <a:avLst/>
          </a:prstGeom>
          <a:noFill/>
          <a:ln/>
        </p:spPr>
        <p:txBody>
          <a:bodyPr wrap="square" lIns="0" tIns="0" rIns="0" bIns="0" rtlCol="0" anchor="ctr"/>
          <a:lstStyle/>
          <a:p>
            <a:pPr marL="0" indent="0">
              <a:buNone/>
            </a:pPr>
            <a:r>
              <a:rPr lang="en-US" sz="1000" b="1" kern="0" spc="100" dirty="0">
                <a:solidFill>
                  <a:srgbClr val="2EB8A6"/>
                </a:solidFill>
              </a:rPr>
              <a:t>GOLD CONTENT TO MOVE ONTO THE SITE</a:t>
            </a:r>
            <a:endParaRPr lang="en-US" sz="1000" dirty="0"/>
          </a:p>
        </p:txBody>
      </p:sp>
      <p:sp>
        <p:nvSpPr>
          <p:cNvPr id="29" name="Shape 27"/>
          <p:cNvSpPr/>
          <p:nvPr/>
        </p:nvSpPr>
        <p:spPr>
          <a:xfrm>
            <a:off x="4773168" y="1389888"/>
            <a:ext cx="54864" cy="384048"/>
          </a:xfrm>
          <a:prstGeom prst="rect">
            <a:avLst/>
          </a:prstGeom>
          <a:solidFill>
            <a:srgbClr val="2EB8A6"/>
          </a:solidFill>
          <a:ln w="12700">
            <a:solidFill>
              <a:srgbClr val="2EB8A6"/>
            </a:solidFill>
            <a:prstDash val="solid"/>
          </a:ln>
        </p:spPr>
        <p:txBody>
          <a:bodyPr/>
          <a:lstStyle/>
          <a:p>
            <a:endParaRPr lang="en-US"/>
          </a:p>
        </p:txBody>
      </p:sp>
      <p:sp>
        <p:nvSpPr>
          <p:cNvPr id="30" name="Text 28"/>
          <p:cNvSpPr/>
          <p:nvPr/>
        </p:nvSpPr>
        <p:spPr>
          <a:xfrm>
            <a:off x="4919472" y="1389888"/>
            <a:ext cx="3794760" cy="402336"/>
          </a:xfrm>
          <a:prstGeom prst="rect">
            <a:avLst/>
          </a:prstGeom>
          <a:noFill/>
          <a:ln/>
        </p:spPr>
        <p:txBody>
          <a:bodyPr wrap="square" lIns="0" tIns="0" rIns="0" bIns="0" rtlCol="0" anchor="ctr"/>
          <a:lstStyle/>
          <a:p>
            <a:pPr marL="0" indent="0">
              <a:buNone/>
            </a:pPr>
            <a:r>
              <a:rPr lang="en-US" sz="1000" i="1" dirty="0">
                <a:solidFill>
                  <a:srgbClr val="FFFFFF"/>
                </a:solidFill>
              </a:rPr>
              <a:t>"Oils are the perfect medium for the powerful and emotional clouds in my landscapes."</a:t>
            </a:r>
            <a:endParaRPr lang="en-US" sz="1000" dirty="0"/>
          </a:p>
        </p:txBody>
      </p:sp>
      <p:sp>
        <p:nvSpPr>
          <p:cNvPr id="31" name="Shape 29"/>
          <p:cNvSpPr/>
          <p:nvPr/>
        </p:nvSpPr>
        <p:spPr>
          <a:xfrm>
            <a:off x="4773168" y="1892808"/>
            <a:ext cx="54864" cy="384048"/>
          </a:xfrm>
          <a:prstGeom prst="rect">
            <a:avLst/>
          </a:prstGeom>
          <a:solidFill>
            <a:srgbClr val="2EB8A6"/>
          </a:solidFill>
          <a:ln w="12700">
            <a:solidFill>
              <a:srgbClr val="2EB8A6"/>
            </a:solidFill>
            <a:prstDash val="solid"/>
          </a:ln>
        </p:spPr>
        <p:txBody>
          <a:bodyPr/>
          <a:lstStyle/>
          <a:p>
            <a:endParaRPr lang="en-US"/>
          </a:p>
        </p:txBody>
      </p:sp>
      <p:sp>
        <p:nvSpPr>
          <p:cNvPr id="32" name="Text 30"/>
          <p:cNvSpPr/>
          <p:nvPr/>
        </p:nvSpPr>
        <p:spPr>
          <a:xfrm>
            <a:off x="4919472" y="1892808"/>
            <a:ext cx="3794760" cy="402336"/>
          </a:xfrm>
          <a:prstGeom prst="rect">
            <a:avLst/>
          </a:prstGeom>
          <a:noFill/>
          <a:ln/>
        </p:spPr>
        <p:txBody>
          <a:bodyPr wrap="square" lIns="0" tIns="0" rIns="0" bIns="0" rtlCol="0" anchor="ctr"/>
          <a:lstStyle/>
          <a:p>
            <a:pPr marL="0" indent="0">
              <a:buNone/>
            </a:pPr>
            <a:r>
              <a:rPr lang="en-US" sz="1000" i="1" dirty="0">
                <a:solidFill>
                  <a:srgbClr val="FFFFFF"/>
                </a:solidFill>
              </a:rPr>
              <a:t>"When I'm painting a landscape, I physically feel I'm there — I'm walking the road or rambling through the grasses."</a:t>
            </a:r>
            <a:endParaRPr lang="en-US" sz="1000" dirty="0"/>
          </a:p>
        </p:txBody>
      </p:sp>
      <p:sp>
        <p:nvSpPr>
          <p:cNvPr id="33" name="Shape 31"/>
          <p:cNvSpPr/>
          <p:nvPr/>
        </p:nvSpPr>
        <p:spPr>
          <a:xfrm>
            <a:off x="4773168" y="2395728"/>
            <a:ext cx="54864" cy="384048"/>
          </a:xfrm>
          <a:prstGeom prst="rect">
            <a:avLst/>
          </a:prstGeom>
          <a:solidFill>
            <a:srgbClr val="2EB8A6"/>
          </a:solidFill>
          <a:ln w="12700">
            <a:solidFill>
              <a:srgbClr val="2EB8A6"/>
            </a:solidFill>
            <a:prstDash val="solid"/>
          </a:ln>
        </p:spPr>
        <p:txBody>
          <a:bodyPr/>
          <a:lstStyle/>
          <a:p>
            <a:endParaRPr lang="en-US"/>
          </a:p>
        </p:txBody>
      </p:sp>
      <p:sp>
        <p:nvSpPr>
          <p:cNvPr id="34" name="Text 32"/>
          <p:cNvSpPr/>
          <p:nvPr/>
        </p:nvSpPr>
        <p:spPr>
          <a:xfrm>
            <a:off x="4919472" y="2395728"/>
            <a:ext cx="3794760" cy="402336"/>
          </a:xfrm>
          <a:prstGeom prst="rect">
            <a:avLst/>
          </a:prstGeom>
          <a:noFill/>
          <a:ln/>
        </p:spPr>
        <p:txBody>
          <a:bodyPr wrap="square" lIns="0" tIns="0" rIns="0" bIns="0" rtlCol="0" anchor="ctr"/>
          <a:lstStyle/>
          <a:p>
            <a:pPr marL="0" indent="0">
              <a:buNone/>
            </a:pPr>
            <a:r>
              <a:rPr lang="en-US" sz="1000" i="1" dirty="0">
                <a:solidFill>
                  <a:srgbClr val="FFFFFF"/>
                </a:solidFill>
              </a:rPr>
              <a:t>"In a world that often feels hurried, I aspire for my art to serve as a serene reminder to slow down, reflect, and genuinely engage."</a:t>
            </a:r>
            <a:endParaRPr lang="en-US" sz="1000" dirty="0"/>
          </a:p>
        </p:txBody>
      </p:sp>
      <p:sp>
        <p:nvSpPr>
          <p:cNvPr id="35" name="Shape 33"/>
          <p:cNvSpPr/>
          <p:nvPr/>
        </p:nvSpPr>
        <p:spPr>
          <a:xfrm>
            <a:off x="4773168" y="2898648"/>
            <a:ext cx="54864" cy="384048"/>
          </a:xfrm>
          <a:prstGeom prst="rect">
            <a:avLst/>
          </a:prstGeom>
          <a:solidFill>
            <a:srgbClr val="2EB8A6"/>
          </a:solidFill>
          <a:ln w="12700">
            <a:solidFill>
              <a:srgbClr val="2EB8A6"/>
            </a:solidFill>
            <a:prstDash val="solid"/>
          </a:ln>
        </p:spPr>
        <p:txBody>
          <a:bodyPr/>
          <a:lstStyle/>
          <a:p>
            <a:endParaRPr lang="en-US"/>
          </a:p>
        </p:txBody>
      </p:sp>
      <p:sp>
        <p:nvSpPr>
          <p:cNvPr id="36" name="Text 34"/>
          <p:cNvSpPr/>
          <p:nvPr/>
        </p:nvSpPr>
        <p:spPr>
          <a:xfrm>
            <a:off x="4919472" y="2898648"/>
            <a:ext cx="3794760" cy="402336"/>
          </a:xfrm>
          <a:prstGeom prst="rect">
            <a:avLst/>
          </a:prstGeom>
          <a:noFill/>
          <a:ln/>
        </p:spPr>
        <p:txBody>
          <a:bodyPr wrap="square" lIns="0" tIns="0" rIns="0" bIns="0" rtlCol="0" anchor="ctr"/>
          <a:lstStyle/>
          <a:p>
            <a:pPr marL="0" indent="0">
              <a:buNone/>
            </a:pPr>
            <a:r>
              <a:rPr lang="en-US" sz="1000" dirty="0">
                <a:solidFill>
                  <a:srgbClr val="FFFFFF"/>
                </a:solidFill>
              </a:rPr>
              <a:t>The Netflix True Spirit story — two paintings in an internationally-released film.</a:t>
            </a:r>
            <a:endParaRPr lang="en-US" sz="1000" dirty="0"/>
          </a:p>
        </p:txBody>
      </p:sp>
      <p:sp>
        <p:nvSpPr>
          <p:cNvPr id="37" name="Shape 35"/>
          <p:cNvSpPr/>
          <p:nvPr/>
        </p:nvSpPr>
        <p:spPr>
          <a:xfrm>
            <a:off x="4773168" y="3401568"/>
            <a:ext cx="54864" cy="384048"/>
          </a:xfrm>
          <a:prstGeom prst="rect">
            <a:avLst/>
          </a:prstGeom>
          <a:solidFill>
            <a:srgbClr val="2EB8A6"/>
          </a:solidFill>
          <a:ln w="12700">
            <a:solidFill>
              <a:srgbClr val="2EB8A6"/>
            </a:solidFill>
            <a:prstDash val="solid"/>
          </a:ln>
        </p:spPr>
        <p:txBody>
          <a:bodyPr/>
          <a:lstStyle/>
          <a:p>
            <a:endParaRPr lang="en-US"/>
          </a:p>
        </p:txBody>
      </p:sp>
      <p:sp>
        <p:nvSpPr>
          <p:cNvPr id="38" name="Text 36"/>
          <p:cNvSpPr/>
          <p:nvPr/>
        </p:nvSpPr>
        <p:spPr>
          <a:xfrm>
            <a:off x="4919472" y="3401568"/>
            <a:ext cx="3794760" cy="402336"/>
          </a:xfrm>
          <a:prstGeom prst="rect">
            <a:avLst/>
          </a:prstGeom>
          <a:noFill/>
          <a:ln/>
        </p:spPr>
        <p:txBody>
          <a:bodyPr wrap="square" lIns="0" tIns="0" rIns="0" bIns="0" rtlCol="0" anchor="ctr"/>
          <a:lstStyle/>
          <a:p>
            <a:pPr marL="0" indent="0">
              <a:buNone/>
            </a:pPr>
            <a:r>
              <a:rPr lang="en-US" sz="1000" dirty="0">
                <a:solidFill>
                  <a:srgbClr val="FFFFFF"/>
                </a:solidFill>
              </a:rPr>
              <a:t>Parliament House &amp; Treasury Canberra collection placement.</a:t>
            </a:r>
            <a:endParaRPr lang="en-US" sz="1000" dirty="0"/>
          </a:p>
        </p:txBody>
      </p:sp>
      <p:sp>
        <p:nvSpPr>
          <p:cNvPr id="39" name="Shape 37"/>
          <p:cNvSpPr/>
          <p:nvPr/>
        </p:nvSpPr>
        <p:spPr>
          <a:xfrm>
            <a:off x="4773168" y="3904488"/>
            <a:ext cx="54864" cy="384048"/>
          </a:xfrm>
          <a:prstGeom prst="rect">
            <a:avLst/>
          </a:prstGeom>
          <a:solidFill>
            <a:srgbClr val="2EB8A6"/>
          </a:solidFill>
          <a:ln w="12700">
            <a:solidFill>
              <a:srgbClr val="2EB8A6"/>
            </a:solidFill>
            <a:prstDash val="solid"/>
          </a:ln>
        </p:spPr>
        <p:txBody>
          <a:bodyPr/>
          <a:lstStyle/>
          <a:p>
            <a:endParaRPr lang="en-US"/>
          </a:p>
        </p:txBody>
      </p:sp>
      <p:sp>
        <p:nvSpPr>
          <p:cNvPr id="40" name="Text 38"/>
          <p:cNvSpPr/>
          <p:nvPr/>
        </p:nvSpPr>
        <p:spPr>
          <a:xfrm>
            <a:off x="4919472" y="3904488"/>
            <a:ext cx="3794760" cy="402336"/>
          </a:xfrm>
          <a:prstGeom prst="rect">
            <a:avLst/>
          </a:prstGeom>
          <a:noFill/>
          <a:ln/>
        </p:spPr>
        <p:txBody>
          <a:bodyPr wrap="square" lIns="0" tIns="0" rIns="0" bIns="0" rtlCol="0" anchor="ctr"/>
          <a:lstStyle/>
          <a:p>
            <a:pPr marL="0" indent="0">
              <a:buNone/>
            </a:pPr>
            <a:r>
              <a:rPr lang="en-US" sz="1000" dirty="0">
                <a:solidFill>
                  <a:srgbClr val="FFFFFF"/>
                </a:solidFill>
              </a:rPr>
              <a:t>International collections in UK, Spain, and USA.</a:t>
            </a:r>
            <a:endParaRPr lang="en-US" sz="1000" dirty="0"/>
          </a:p>
        </p:txBody>
      </p:sp>
      <p:sp>
        <p:nvSpPr>
          <p:cNvPr id="41" name="Shape 39"/>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42" name="Text 40"/>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BRAND AUTHORITY  55/100  |  CONTENT E-E-A-T  46/100</a:t>
            </a:r>
            <a:endParaRPr lang="en-US" sz="1900" dirty="0"/>
          </a:p>
        </p:txBody>
      </p:sp>
      <p:sp>
        <p:nvSpPr>
          <p:cNvPr id="4" name="Text 2"/>
          <p:cNvSpPr/>
          <p:nvPr/>
        </p:nvSpPr>
        <p:spPr>
          <a:xfrm>
            <a:off x="365760" y="914400"/>
            <a:ext cx="3931920" cy="292608"/>
          </a:xfrm>
          <a:prstGeom prst="rect">
            <a:avLst/>
          </a:prstGeom>
          <a:noFill/>
          <a:ln/>
        </p:spPr>
        <p:txBody>
          <a:bodyPr wrap="square" lIns="0" tIns="0" rIns="0" bIns="0" rtlCol="0" anchor="ctr"/>
          <a:lstStyle/>
          <a:p>
            <a:pPr marL="0" indent="0">
              <a:buNone/>
            </a:pPr>
            <a:r>
              <a:rPr lang="en-US" sz="1200" b="1" kern="0" spc="200" dirty="0">
                <a:solidFill>
                  <a:srgbClr val="D4891A"/>
                </a:solidFill>
              </a:rPr>
              <a:t>BRAND AUTHORITY</a:t>
            </a:r>
            <a:endParaRPr lang="en-US" sz="1200" dirty="0"/>
          </a:p>
        </p:txBody>
      </p:sp>
      <p:sp>
        <p:nvSpPr>
          <p:cNvPr id="5" name="Text 3"/>
          <p:cNvSpPr/>
          <p:nvPr/>
        </p:nvSpPr>
        <p:spPr>
          <a:xfrm>
            <a:off x="365760" y="1261872"/>
            <a:ext cx="3931920" cy="256032"/>
          </a:xfrm>
          <a:prstGeom prst="rect">
            <a:avLst/>
          </a:prstGeom>
          <a:noFill/>
          <a:ln/>
        </p:spPr>
        <p:txBody>
          <a:bodyPr wrap="square" lIns="0" tIns="0" rIns="0" bIns="0" rtlCol="0" anchor="ctr"/>
          <a:lstStyle/>
          <a:p>
            <a:pPr marL="0" indent="0">
              <a:buNone/>
            </a:pPr>
            <a:r>
              <a:rPr lang="en-US" sz="1100" b="1" dirty="0">
                <a:solidFill>
                  <a:srgbClr val="1E2A35"/>
                </a:solidFill>
              </a:rPr>
              <a:t>What's working:</a:t>
            </a:r>
            <a:endParaRPr lang="en-US" sz="1100" dirty="0"/>
          </a:p>
        </p:txBody>
      </p:sp>
      <p:sp>
        <p:nvSpPr>
          <p:cNvPr id="6" name="Text 4"/>
          <p:cNvSpPr/>
          <p:nvPr/>
        </p:nvSpPr>
        <p:spPr>
          <a:xfrm>
            <a:off x="365760" y="151790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Netflix True Spirit — two paintings featured</a:t>
            </a:r>
            <a:endParaRPr lang="en-US" sz="1050" dirty="0"/>
          </a:p>
        </p:txBody>
      </p:sp>
      <p:sp>
        <p:nvSpPr>
          <p:cNvPr id="7" name="Text 5"/>
          <p:cNvSpPr/>
          <p:nvPr/>
        </p:nvSpPr>
        <p:spPr>
          <a:xfrm>
            <a:off x="365760" y="179222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Bluethumb Rising Star 2024 + Top 50 Artists 2025</a:t>
            </a:r>
            <a:endParaRPr lang="en-US" sz="1050" dirty="0"/>
          </a:p>
        </p:txBody>
      </p:sp>
      <p:sp>
        <p:nvSpPr>
          <p:cNvPr id="8" name="Text 6"/>
          <p:cNvSpPr/>
          <p:nvPr/>
        </p:nvSpPr>
        <p:spPr>
          <a:xfrm>
            <a:off x="365760" y="206654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Art Lovers Australia Artist to Watch 2024 / Top 10 2025</a:t>
            </a:r>
            <a:endParaRPr lang="en-US" sz="1050" dirty="0"/>
          </a:p>
        </p:txBody>
      </p:sp>
      <p:sp>
        <p:nvSpPr>
          <p:cNvPr id="9" name="Text 7"/>
          <p:cNvSpPr/>
          <p:nvPr/>
        </p:nvSpPr>
        <p:spPr>
          <a:xfrm>
            <a:off x="365760" y="234086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Gold Coast Gallery of Art — Artist to Watch 2025</a:t>
            </a:r>
            <a:endParaRPr lang="en-US" sz="1050" dirty="0"/>
          </a:p>
        </p:txBody>
      </p:sp>
      <p:sp>
        <p:nvSpPr>
          <p:cNvPr id="10" name="Text 8"/>
          <p:cNvSpPr/>
          <p:nvPr/>
        </p:nvSpPr>
        <p:spPr>
          <a:xfrm>
            <a:off x="365760" y="261518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Parliament House &amp; Treasury Canberra collections</a:t>
            </a:r>
            <a:endParaRPr lang="en-US" sz="1050" dirty="0"/>
          </a:p>
        </p:txBody>
      </p:sp>
      <p:sp>
        <p:nvSpPr>
          <p:cNvPr id="11" name="Text 9"/>
          <p:cNvSpPr/>
          <p:nvPr/>
        </p:nvSpPr>
        <p:spPr>
          <a:xfrm>
            <a:off x="365760" y="288950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International collections: UK, Spain, USA</a:t>
            </a:r>
            <a:endParaRPr lang="en-US" sz="1050" dirty="0"/>
          </a:p>
        </p:txBody>
      </p:sp>
      <p:sp>
        <p:nvSpPr>
          <p:cNvPr id="12" name="Text 10"/>
          <p:cNvSpPr/>
          <p:nvPr/>
        </p:nvSpPr>
        <p:spPr>
          <a:xfrm>
            <a:off x="365760" y="3163824"/>
            <a:ext cx="3931920" cy="256032"/>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Solo exhibitions: Stevens St Gallery 2024, Mist 2023</a:t>
            </a:r>
            <a:endParaRPr lang="en-US" sz="1050" dirty="0"/>
          </a:p>
        </p:txBody>
      </p:sp>
      <p:sp>
        <p:nvSpPr>
          <p:cNvPr id="13" name="Text 11"/>
          <p:cNvSpPr/>
          <p:nvPr/>
        </p:nvSpPr>
        <p:spPr>
          <a:xfrm>
            <a:off x="365760" y="3474720"/>
            <a:ext cx="3931920" cy="256032"/>
          </a:xfrm>
          <a:prstGeom prst="rect">
            <a:avLst/>
          </a:prstGeom>
          <a:noFill/>
          <a:ln/>
        </p:spPr>
        <p:txBody>
          <a:bodyPr wrap="square" lIns="0" tIns="0" rIns="0" bIns="0" rtlCol="0" anchor="ctr"/>
          <a:lstStyle/>
          <a:p>
            <a:pPr marL="0" indent="0">
              <a:buNone/>
            </a:pPr>
            <a:r>
              <a:rPr lang="en-US" sz="1100" b="1" dirty="0">
                <a:solidFill>
                  <a:srgbClr val="C94040"/>
                </a:solidFill>
              </a:rPr>
              <a:t>Critical gap:</a:t>
            </a:r>
            <a:endParaRPr lang="en-US" sz="1100" dirty="0"/>
          </a:p>
        </p:txBody>
      </p:sp>
      <p:sp>
        <p:nvSpPr>
          <p:cNvPr id="14" name="Text 12"/>
          <p:cNvSpPr/>
          <p:nvPr/>
        </p:nvSpPr>
        <p:spPr>
          <a:xfrm>
            <a:off x="365760" y="3749040"/>
            <a:ext cx="3931920" cy="548640"/>
          </a:xfrm>
          <a:prstGeom prst="rect">
            <a:avLst/>
          </a:prstGeom>
          <a:noFill/>
          <a:ln/>
        </p:spPr>
        <p:txBody>
          <a:bodyPr wrap="square" lIns="0" tIns="0" rIns="0" bIns="0" rtlCol="0" anchor="ctr"/>
          <a:lstStyle/>
          <a:p>
            <a:pPr marL="0" indent="0">
              <a:buNone/>
            </a:pPr>
            <a:r>
              <a:rPr lang="en-US" sz="1050" dirty="0">
                <a:solidFill>
                  <a:srgbClr val="7A8A94"/>
                </a:solidFill>
              </a:rPr>
              <a:t>No Wikipedia/Wikidata entry means AI models may not confidently resolve "Lucinda Leveille" as a known entity, even when her content is indexed.</a:t>
            </a:r>
            <a:endParaRPr lang="en-US" sz="1050" dirty="0"/>
          </a:p>
        </p:txBody>
      </p:sp>
      <p:sp>
        <p:nvSpPr>
          <p:cNvPr id="15" name="Shape 13"/>
          <p:cNvSpPr/>
          <p:nvPr/>
        </p:nvSpPr>
        <p:spPr>
          <a:xfrm>
            <a:off x="4572000" y="896112"/>
            <a:ext cx="36576" cy="3749040"/>
          </a:xfrm>
          <a:prstGeom prst="rect">
            <a:avLst/>
          </a:prstGeom>
          <a:solidFill>
            <a:srgbClr val="E6DDD4"/>
          </a:solidFill>
          <a:ln w="12700">
            <a:solidFill>
              <a:srgbClr val="E6DDD4"/>
            </a:solidFill>
            <a:prstDash val="solid"/>
          </a:ln>
        </p:spPr>
        <p:txBody>
          <a:bodyPr/>
          <a:lstStyle/>
          <a:p>
            <a:endParaRPr lang="en-US"/>
          </a:p>
        </p:txBody>
      </p:sp>
      <p:sp>
        <p:nvSpPr>
          <p:cNvPr id="16" name="Text 14"/>
          <p:cNvSpPr/>
          <p:nvPr/>
        </p:nvSpPr>
        <p:spPr>
          <a:xfrm>
            <a:off x="4846320" y="914400"/>
            <a:ext cx="3931920" cy="292608"/>
          </a:xfrm>
          <a:prstGeom prst="rect">
            <a:avLst/>
          </a:prstGeom>
          <a:noFill/>
          <a:ln/>
        </p:spPr>
        <p:txBody>
          <a:bodyPr wrap="square" lIns="0" tIns="0" rIns="0" bIns="0" rtlCol="0" anchor="ctr"/>
          <a:lstStyle/>
          <a:p>
            <a:pPr marL="0" indent="0">
              <a:buNone/>
            </a:pPr>
            <a:r>
              <a:rPr lang="en-US" sz="1200" b="1" kern="0" spc="200" dirty="0">
                <a:solidFill>
                  <a:srgbClr val="1D6E63"/>
                </a:solidFill>
              </a:rPr>
              <a:t>CONTENT E-E-A-T</a:t>
            </a:r>
            <a:endParaRPr lang="en-US" sz="1200" dirty="0"/>
          </a:p>
        </p:txBody>
      </p:sp>
      <p:sp>
        <p:nvSpPr>
          <p:cNvPr id="17" name="Shape 15"/>
          <p:cNvSpPr/>
          <p:nvPr/>
        </p:nvSpPr>
        <p:spPr>
          <a:xfrm>
            <a:off x="4846320" y="1298448"/>
            <a:ext cx="3977640" cy="658368"/>
          </a:xfrm>
          <a:prstGeom prst="rect">
            <a:avLst/>
          </a:prstGeom>
          <a:solidFill>
            <a:srgbClr val="FDFAF7"/>
          </a:solidFill>
          <a:ln w="12700">
            <a:solidFill>
              <a:srgbClr val="E6DDD4"/>
            </a:solidFill>
            <a:prstDash val="solid"/>
          </a:ln>
        </p:spPr>
        <p:txBody>
          <a:bodyPr/>
          <a:lstStyle/>
          <a:p>
            <a:endParaRPr lang="en-US"/>
          </a:p>
        </p:txBody>
      </p:sp>
      <p:sp>
        <p:nvSpPr>
          <p:cNvPr id="18" name="Shape 16"/>
          <p:cNvSpPr/>
          <p:nvPr/>
        </p:nvSpPr>
        <p:spPr>
          <a:xfrm>
            <a:off x="4846320" y="1298448"/>
            <a:ext cx="64008" cy="658368"/>
          </a:xfrm>
          <a:prstGeom prst="rect">
            <a:avLst/>
          </a:prstGeom>
          <a:solidFill>
            <a:srgbClr val="2EB8A6"/>
          </a:solidFill>
          <a:ln w="12700">
            <a:solidFill>
              <a:srgbClr val="2EB8A6"/>
            </a:solidFill>
            <a:prstDash val="solid"/>
          </a:ln>
        </p:spPr>
        <p:txBody>
          <a:bodyPr/>
          <a:lstStyle/>
          <a:p>
            <a:endParaRPr lang="en-US"/>
          </a:p>
        </p:txBody>
      </p:sp>
      <p:sp>
        <p:nvSpPr>
          <p:cNvPr id="19" name="Text 17"/>
          <p:cNvSpPr/>
          <p:nvPr/>
        </p:nvSpPr>
        <p:spPr>
          <a:xfrm>
            <a:off x="5047488" y="1362456"/>
            <a:ext cx="3611880" cy="256032"/>
          </a:xfrm>
          <a:prstGeom prst="rect">
            <a:avLst/>
          </a:prstGeom>
          <a:noFill/>
          <a:ln/>
        </p:spPr>
        <p:txBody>
          <a:bodyPr wrap="square" lIns="0" tIns="0" rIns="0" bIns="0" rtlCol="0" anchor="ctr"/>
          <a:lstStyle/>
          <a:p>
            <a:pPr marL="0" indent="0">
              <a:buNone/>
            </a:pPr>
            <a:r>
              <a:rPr lang="en-US" sz="1200" b="1" dirty="0">
                <a:solidFill>
                  <a:srgbClr val="1E2A35"/>
                </a:solidFill>
              </a:rPr>
              <a:t>Experience  —  65/100</a:t>
            </a:r>
            <a:endParaRPr lang="en-US" sz="1200" dirty="0"/>
          </a:p>
        </p:txBody>
      </p:sp>
      <p:sp>
        <p:nvSpPr>
          <p:cNvPr id="20" name="Text 18"/>
          <p:cNvSpPr/>
          <p:nvPr/>
        </p:nvSpPr>
        <p:spPr>
          <a:xfrm>
            <a:off x="5047488" y="1627632"/>
            <a:ext cx="3611880" cy="256032"/>
          </a:xfrm>
          <a:prstGeom prst="rect">
            <a:avLst/>
          </a:prstGeom>
          <a:noFill/>
          <a:ln/>
        </p:spPr>
        <p:txBody>
          <a:bodyPr wrap="square" lIns="0" tIns="0" rIns="0" bIns="0" rtlCol="0" anchor="ctr"/>
          <a:lstStyle/>
          <a:p>
            <a:pPr marL="0" indent="0">
              <a:buNone/>
            </a:pPr>
            <a:r>
              <a:rPr lang="en-US" sz="1000" dirty="0">
                <a:solidFill>
                  <a:srgbClr val="7A8A94"/>
                </a:solidFill>
              </a:rPr>
              <a:t>Long career, National Art School training, generational artistic lineage — compelling and unique.</a:t>
            </a:r>
            <a:endParaRPr lang="en-US" sz="1000" dirty="0"/>
          </a:p>
        </p:txBody>
      </p:sp>
      <p:sp>
        <p:nvSpPr>
          <p:cNvPr id="21" name="Shape 19"/>
          <p:cNvSpPr/>
          <p:nvPr/>
        </p:nvSpPr>
        <p:spPr>
          <a:xfrm>
            <a:off x="4846320" y="2048256"/>
            <a:ext cx="3977640" cy="658368"/>
          </a:xfrm>
          <a:prstGeom prst="rect">
            <a:avLst/>
          </a:prstGeom>
          <a:solidFill>
            <a:srgbClr val="FDFAF7"/>
          </a:solidFill>
          <a:ln w="12700">
            <a:solidFill>
              <a:srgbClr val="E6DDD4"/>
            </a:solidFill>
            <a:prstDash val="solid"/>
          </a:ln>
        </p:spPr>
        <p:txBody>
          <a:bodyPr/>
          <a:lstStyle/>
          <a:p>
            <a:endParaRPr lang="en-US"/>
          </a:p>
        </p:txBody>
      </p:sp>
      <p:sp>
        <p:nvSpPr>
          <p:cNvPr id="22" name="Shape 20"/>
          <p:cNvSpPr/>
          <p:nvPr/>
        </p:nvSpPr>
        <p:spPr>
          <a:xfrm>
            <a:off x="4846320" y="2048256"/>
            <a:ext cx="64008" cy="658368"/>
          </a:xfrm>
          <a:prstGeom prst="rect">
            <a:avLst/>
          </a:prstGeom>
          <a:solidFill>
            <a:srgbClr val="D4891A"/>
          </a:solidFill>
          <a:ln w="12700">
            <a:solidFill>
              <a:srgbClr val="D4891A"/>
            </a:solidFill>
            <a:prstDash val="solid"/>
          </a:ln>
        </p:spPr>
        <p:txBody>
          <a:bodyPr/>
          <a:lstStyle/>
          <a:p>
            <a:endParaRPr lang="en-US"/>
          </a:p>
        </p:txBody>
      </p:sp>
      <p:sp>
        <p:nvSpPr>
          <p:cNvPr id="23" name="Text 21"/>
          <p:cNvSpPr/>
          <p:nvPr/>
        </p:nvSpPr>
        <p:spPr>
          <a:xfrm>
            <a:off x="5047488" y="2112264"/>
            <a:ext cx="3611880" cy="256032"/>
          </a:xfrm>
          <a:prstGeom prst="rect">
            <a:avLst/>
          </a:prstGeom>
          <a:noFill/>
          <a:ln/>
        </p:spPr>
        <p:txBody>
          <a:bodyPr wrap="square" lIns="0" tIns="0" rIns="0" bIns="0" rtlCol="0" anchor="ctr"/>
          <a:lstStyle/>
          <a:p>
            <a:pPr marL="0" indent="0">
              <a:buNone/>
            </a:pPr>
            <a:r>
              <a:rPr lang="en-US" sz="1200" b="1" dirty="0">
                <a:solidFill>
                  <a:srgbClr val="1E2A35"/>
                </a:solidFill>
              </a:rPr>
              <a:t>Expertise  —  55/100</a:t>
            </a:r>
            <a:endParaRPr lang="en-US" sz="1200" dirty="0"/>
          </a:p>
        </p:txBody>
      </p:sp>
      <p:sp>
        <p:nvSpPr>
          <p:cNvPr id="24" name="Text 22"/>
          <p:cNvSpPr/>
          <p:nvPr/>
        </p:nvSpPr>
        <p:spPr>
          <a:xfrm>
            <a:off x="5047488" y="2377440"/>
            <a:ext cx="3611880" cy="256032"/>
          </a:xfrm>
          <a:prstGeom prst="rect">
            <a:avLst/>
          </a:prstGeom>
          <a:noFill/>
          <a:ln/>
        </p:spPr>
        <p:txBody>
          <a:bodyPr wrap="square" lIns="0" tIns="0" rIns="0" bIns="0" rtlCol="0" anchor="ctr"/>
          <a:lstStyle/>
          <a:p>
            <a:pPr marL="0" indent="0">
              <a:buNone/>
            </a:pPr>
            <a:r>
              <a:rPr lang="en-US" sz="1000" dirty="0">
                <a:solidFill>
                  <a:srgbClr val="7A8A94"/>
                </a:solidFill>
              </a:rPr>
              <a:t>Formal credential (NAS Diploma 1976–78). Runs art classes. But credentials aren't prominent on individual pages.</a:t>
            </a:r>
            <a:endParaRPr lang="en-US" sz="1000" dirty="0"/>
          </a:p>
        </p:txBody>
      </p:sp>
      <p:sp>
        <p:nvSpPr>
          <p:cNvPr id="25" name="Shape 23"/>
          <p:cNvSpPr/>
          <p:nvPr/>
        </p:nvSpPr>
        <p:spPr>
          <a:xfrm>
            <a:off x="4846320" y="2798064"/>
            <a:ext cx="3977640" cy="658368"/>
          </a:xfrm>
          <a:prstGeom prst="rect">
            <a:avLst/>
          </a:prstGeom>
          <a:solidFill>
            <a:srgbClr val="FDFAF7"/>
          </a:solidFill>
          <a:ln w="12700">
            <a:solidFill>
              <a:srgbClr val="E6DDD4"/>
            </a:solidFill>
            <a:prstDash val="solid"/>
          </a:ln>
        </p:spPr>
        <p:txBody>
          <a:bodyPr/>
          <a:lstStyle/>
          <a:p>
            <a:endParaRPr lang="en-US"/>
          </a:p>
        </p:txBody>
      </p:sp>
      <p:sp>
        <p:nvSpPr>
          <p:cNvPr id="26" name="Shape 24"/>
          <p:cNvSpPr/>
          <p:nvPr/>
        </p:nvSpPr>
        <p:spPr>
          <a:xfrm>
            <a:off x="4846320" y="2798064"/>
            <a:ext cx="64008" cy="658368"/>
          </a:xfrm>
          <a:prstGeom prst="rect">
            <a:avLst/>
          </a:prstGeom>
          <a:solidFill>
            <a:srgbClr val="D4891A"/>
          </a:solidFill>
          <a:ln w="12700">
            <a:solidFill>
              <a:srgbClr val="D4891A"/>
            </a:solidFill>
            <a:prstDash val="solid"/>
          </a:ln>
        </p:spPr>
        <p:txBody>
          <a:bodyPr/>
          <a:lstStyle/>
          <a:p>
            <a:endParaRPr lang="en-US"/>
          </a:p>
        </p:txBody>
      </p:sp>
      <p:sp>
        <p:nvSpPr>
          <p:cNvPr id="27" name="Text 25"/>
          <p:cNvSpPr/>
          <p:nvPr/>
        </p:nvSpPr>
        <p:spPr>
          <a:xfrm>
            <a:off x="5047488" y="2862072"/>
            <a:ext cx="3611880" cy="256032"/>
          </a:xfrm>
          <a:prstGeom prst="rect">
            <a:avLst/>
          </a:prstGeom>
          <a:noFill/>
          <a:ln/>
        </p:spPr>
        <p:txBody>
          <a:bodyPr wrap="square" lIns="0" tIns="0" rIns="0" bIns="0" rtlCol="0" anchor="ctr"/>
          <a:lstStyle/>
          <a:p>
            <a:pPr marL="0" indent="0">
              <a:buNone/>
            </a:pPr>
            <a:r>
              <a:rPr lang="en-US" sz="1200" b="1" dirty="0">
                <a:solidFill>
                  <a:srgbClr val="1E2A35"/>
                </a:solidFill>
              </a:rPr>
              <a:t>Authority  —  45/100</a:t>
            </a:r>
            <a:endParaRPr lang="en-US" sz="1200" dirty="0"/>
          </a:p>
        </p:txBody>
      </p:sp>
      <p:sp>
        <p:nvSpPr>
          <p:cNvPr id="28" name="Text 26"/>
          <p:cNvSpPr/>
          <p:nvPr/>
        </p:nvSpPr>
        <p:spPr>
          <a:xfrm>
            <a:off x="5047488" y="3127248"/>
            <a:ext cx="3611880" cy="256032"/>
          </a:xfrm>
          <a:prstGeom prst="rect">
            <a:avLst/>
          </a:prstGeom>
          <a:noFill/>
          <a:ln/>
        </p:spPr>
        <p:txBody>
          <a:bodyPr wrap="square" lIns="0" tIns="0" rIns="0" bIns="0" rtlCol="0" anchor="ctr"/>
          <a:lstStyle/>
          <a:p>
            <a:pPr marL="0" indent="0">
              <a:buNone/>
            </a:pPr>
            <a:r>
              <a:rPr lang="en-US" sz="1000" dirty="0">
                <a:solidFill>
                  <a:srgbClr val="7A8A94"/>
                </a:solidFill>
              </a:rPr>
              <a:t>Strong external recognition (Artsy Shark, Art Lovers Australia) but the site doesn't link to or reproduce content from them.</a:t>
            </a:r>
            <a:endParaRPr lang="en-US" sz="1000" dirty="0"/>
          </a:p>
        </p:txBody>
      </p:sp>
      <p:sp>
        <p:nvSpPr>
          <p:cNvPr id="29" name="Shape 27"/>
          <p:cNvSpPr/>
          <p:nvPr/>
        </p:nvSpPr>
        <p:spPr>
          <a:xfrm>
            <a:off x="4846320" y="3547872"/>
            <a:ext cx="3977640" cy="658368"/>
          </a:xfrm>
          <a:prstGeom prst="rect">
            <a:avLst/>
          </a:prstGeom>
          <a:solidFill>
            <a:srgbClr val="FDFAF7"/>
          </a:solidFill>
          <a:ln w="12700">
            <a:solidFill>
              <a:srgbClr val="E6DDD4"/>
            </a:solidFill>
            <a:prstDash val="solid"/>
          </a:ln>
        </p:spPr>
        <p:txBody>
          <a:bodyPr/>
          <a:lstStyle/>
          <a:p>
            <a:endParaRPr lang="en-US"/>
          </a:p>
        </p:txBody>
      </p:sp>
      <p:sp>
        <p:nvSpPr>
          <p:cNvPr id="30" name="Shape 28"/>
          <p:cNvSpPr/>
          <p:nvPr/>
        </p:nvSpPr>
        <p:spPr>
          <a:xfrm>
            <a:off x="4846320" y="3547872"/>
            <a:ext cx="64008" cy="658368"/>
          </a:xfrm>
          <a:prstGeom prst="rect">
            <a:avLst/>
          </a:prstGeom>
          <a:solidFill>
            <a:srgbClr val="C94040"/>
          </a:solidFill>
          <a:ln w="12700">
            <a:solidFill>
              <a:srgbClr val="C94040"/>
            </a:solidFill>
            <a:prstDash val="solid"/>
          </a:ln>
        </p:spPr>
        <p:txBody>
          <a:bodyPr/>
          <a:lstStyle/>
          <a:p>
            <a:endParaRPr lang="en-US"/>
          </a:p>
        </p:txBody>
      </p:sp>
      <p:sp>
        <p:nvSpPr>
          <p:cNvPr id="31" name="Text 29"/>
          <p:cNvSpPr/>
          <p:nvPr/>
        </p:nvSpPr>
        <p:spPr>
          <a:xfrm>
            <a:off x="5047488" y="3611880"/>
            <a:ext cx="3611880" cy="256032"/>
          </a:xfrm>
          <a:prstGeom prst="rect">
            <a:avLst/>
          </a:prstGeom>
          <a:noFill/>
          <a:ln/>
        </p:spPr>
        <p:txBody>
          <a:bodyPr wrap="square" lIns="0" tIns="0" rIns="0" bIns="0" rtlCol="0" anchor="ctr"/>
          <a:lstStyle/>
          <a:p>
            <a:pPr marL="0" indent="0">
              <a:buNone/>
            </a:pPr>
            <a:r>
              <a:rPr lang="en-US" sz="1200" b="1" dirty="0">
                <a:solidFill>
                  <a:srgbClr val="1E2A35"/>
                </a:solidFill>
              </a:rPr>
              <a:t>Trust  —  30/100</a:t>
            </a:r>
            <a:endParaRPr lang="en-US" sz="1200" dirty="0"/>
          </a:p>
        </p:txBody>
      </p:sp>
      <p:sp>
        <p:nvSpPr>
          <p:cNvPr id="32" name="Text 30"/>
          <p:cNvSpPr/>
          <p:nvPr/>
        </p:nvSpPr>
        <p:spPr>
          <a:xfrm>
            <a:off x="5047488" y="3877056"/>
            <a:ext cx="3611880" cy="256032"/>
          </a:xfrm>
          <a:prstGeom prst="rect">
            <a:avLst/>
          </a:prstGeom>
          <a:noFill/>
          <a:ln/>
        </p:spPr>
        <p:txBody>
          <a:bodyPr wrap="square" lIns="0" tIns="0" rIns="0" bIns="0" rtlCol="0" anchor="ctr"/>
          <a:lstStyle/>
          <a:p>
            <a:pPr marL="0" indent="0">
              <a:buNone/>
            </a:pPr>
            <a:r>
              <a:rPr lang="en-US" sz="1000" dirty="0">
                <a:solidFill>
                  <a:srgbClr val="7A8A94"/>
                </a:solidFill>
              </a:rPr>
              <a:t>Gmail address, duplicate contact pages, no visible reviews or testimonials visible in indexed content.</a:t>
            </a:r>
            <a:endParaRPr lang="en-US" sz="1000" dirty="0"/>
          </a:p>
        </p:txBody>
      </p:sp>
      <p:sp>
        <p:nvSpPr>
          <p:cNvPr id="33" name="Shape 31"/>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34" name="Text 32"/>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500" b="1" kern="0" spc="200" dirty="0">
                <a:solidFill>
                  <a:srgbClr val="FFFFFF"/>
                </a:solidFill>
              </a:rPr>
              <a:t>TECHNICAL GEO  28/100   ·   SCHEMA &amp; STRUCTURED DATA  18/100</a:t>
            </a:r>
            <a:endParaRPr lang="en-US" sz="1500" dirty="0"/>
          </a:p>
        </p:txBody>
      </p:sp>
      <p:sp>
        <p:nvSpPr>
          <p:cNvPr id="4" name="Text 2"/>
          <p:cNvSpPr/>
          <p:nvPr/>
        </p:nvSpPr>
        <p:spPr>
          <a:xfrm>
            <a:off x="365760" y="914400"/>
            <a:ext cx="3931920" cy="292608"/>
          </a:xfrm>
          <a:prstGeom prst="rect">
            <a:avLst/>
          </a:prstGeom>
          <a:noFill/>
          <a:ln/>
        </p:spPr>
        <p:txBody>
          <a:bodyPr wrap="square" lIns="0" tIns="0" rIns="0" bIns="0" rtlCol="0" anchor="ctr"/>
          <a:lstStyle/>
          <a:p>
            <a:pPr marL="0" indent="0">
              <a:buNone/>
            </a:pPr>
            <a:r>
              <a:rPr lang="en-US" sz="1200" b="1" kern="0" spc="200" dirty="0">
                <a:solidFill>
                  <a:srgbClr val="1B3A4B"/>
                </a:solidFill>
              </a:rPr>
              <a:t>TECHNICAL GEO CHECKS</a:t>
            </a:r>
            <a:endParaRPr lang="en-US" sz="1200" dirty="0"/>
          </a:p>
        </p:txBody>
      </p:sp>
      <p:sp>
        <p:nvSpPr>
          <p:cNvPr id="5" name="Shape 3"/>
          <p:cNvSpPr/>
          <p:nvPr/>
        </p:nvSpPr>
        <p:spPr>
          <a:xfrm>
            <a:off x="365760" y="1298448"/>
            <a:ext cx="3931920" cy="365760"/>
          </a:xfrm>
          <a:prstGeom prst="rect">
            <a:avLst/>
          </a:prstGeom>
          <a:solidFill>
            <a:srgbClr val="FDFAF7"/>
          </a:solidFill>
          <a:ln w="12700">
            <a:solidFill>
              <a:srgbClr val="E6DDD4"/>
            </a:solidFill>
            <a:prstDash val="solid"/>
          </a:ln>
        </p:spPr>
        <p:txBody>
          <a:bodyPr/>
          <a:lstStyle/>
          <a:p>
            <a:endParaRPr lang="en-US"/>
          </a:p>
        </p:txBody>
      </p:sp>
      <p:sp>
        <p:nvSpPr>
          <p:cNvPr id="6" name="Shape 4"/>
          <p:cNvSpPr/>
          <p:nvPr/>
        </p:nvSpPr>
        <p:spPr>
          <a:xfrm>
            <a:off x="365760" y="1298448"/>
            <a:ext cx="54864" cy="365760"/>
          </a:xfrm>
          <a:prstGeom prst="rect">
            <a:avLst/>
          </a:prstGeom>
          <a:solidFill>
            <a:srgbClr val="2EB8A6"/>
          </a:solidFill>
          <a:ln w="12700">
            <a:solidFill>
              <a:srgbClr val="2EB8A6"/>
            </a:solidFill>
            <a:prstDash val="solid"/>
          </a:ln>
        </p:spPr>
        <p:txBody>
          <a:bodyPr/>
          <a:lstStyle/>
          <a:p>
            <a:endParaRPr lang="en-US"/>
          </a:p>
        </p:txBody>
      </p:sp>
      <p:sp>
        <p:nvSpPr>
          <p:cNvPr id="7" name="Text 5"/>
          <p:cNvSpPr/>
          <p:nvPr/>
        </p:nvSpPr>
        <p:spPr>
          <a:xfrm>
            <a:off x="530352" y="1344168"/>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robots.txt</a:t>
            </a:r>
            <a:endParaRPr lang="en-US" sz="1050" dirty="0"/>
          </a:p>
        </p:txBody>
      </p:sp>
      <p:sp>
        <p:nvSpPr>
          <p:cNvPr id="8" name="Text 6"/>
          <p:cNvSpPr/>
          <p:nvPr/>
        </p:nvSpPr>
        <p:spPr>
          <a:xfrm>
            <a:off x="1975104" y="1344168"/>
            <a:ext cx="658368" cy="274320"/>
          </a:xfrm>
          <a:prstGeom prst="rect">
            <a:avLst/>
          </a:prstGeom>
          <a:noFill/>
          <a:ln/>
        </p:spPr>
        <p:txBody>
          <a:bodyPr wrap="square" lIns="0" tIns="0" rIns="0" bIns="0" rtlCol="0" anchor="ctr"/>
          <a:lstStyle/>
          <a:p>
            <a:pPr marL="0" indent="0">
              <a:buNone/>
            </a:pPr>
            <a:r>
              <a:rPr lang="en-US" sz="1050" b="1" dirty="0">
                <a:solidFill>
                  <a:srgbClr val="2EB8A6"/>
                </a:solidFill>
              </a:rPr>
              <a:t>70/100</a:t>
            </a:r>
            <a:endParaRPr lang="en-US" sz="1050" dirty="0"/>
          </a:p>
        </p:txBody>
      </p:sp>
      <p:sp>
        <p:nvSpPr>
          <p:cNvPr id="9" name="Text 7"/>
          <p:cNvSpPr/>
          <p:nvPr/>
        </p:nvSpPr>
        <p:spPr>
          <a:xfrm>
            <a:off x="2670048" y="1344168"/>
            <a:ext cx="1481328" cy="274320"/>
          </a:xfrm>
          <a:prstGeom prst="rect">
            <a:avLst/>
          </a:prstGeom>
          <a:noFill/>
          <a:ln/>
        </p:spPr>
        <p:txBody>
          <a:bodyPr wrap="square" lIns="0" tIns="0" rIns="0" bIns="0" rtlCol="0" anchor="ctr"/>
          <a:lstStyle/>
          <a:p>
            <a:pPr marL="0" indent="0">
              <a:buNone/>
            </a:pPr>
            <a:r>
              <a:rPr lang="en-US" sz="950" dirty="0">
                <a:solidFill>
                  <a:srgbClr val="7A8A94"/>
                </a:solidFill>
              </a:rPr>
              <a:t>Well-configured. No AI crawler blocking in robots.txt.</a:t>
            </a:r>
            <a:endParaRPr lang="en-US" sz="950" dirty="0"/>
          </a:p>
        </p:txBody>
      </p:sp>
      <p:sp>
        <p:nvSpPr>
          <p:cNvPr id="10" name="Shape 8"/>
          <p:cNvSpPr/>
          <p:nvPr/>
        </p:nvSpPr>
        <p:spPr>
          <a:xfrm>
            <a:off x="365760" y="1746504"/>
            <a:ext cx="3931920" cy="365760"/>
          </a:xfrm>
          <a:prstGeom prst="rect">
            <a:avLst/>
          </a:prstGeom>
          <a:solidFill>
            <a:srgbClr val="FDFAF7"/>
          </a:solidFill>
          <a:ln w="12700">
            <a:solidFill>
              <a:srgbClr val="E6DDD4"/>
            </a:solidFill>
            <a:prstDash val="solid"/>
          </a:ln>
        </p:spPr>
        <p:txBody>
          <a:bodyPr/>
          <a:lstStyle/>
          <a:p>
            <a:endParaRPr lang="en-US"/>
          </a:p>
        </p:txBody>
      </p:sp>
      <p:sp>
        <p:nvSpPr>
          <p:cNvPr id="11" name="Shape 9"/>
          <p:cNvSpPr/>
          <p:nvPr/>
        </p:nvSpPr>
        <p:spPr>
          <a:xfrm>
            <a:off x="365760" y="1746504"/>
            <a:ext cx="54864" cy="365760"/>
          </a:xfrm>
          <a:prstGeom prst="rect">
            <a:avLst/>
          </a:prstGeom>
          <a:solidFill>
            <a:srgbClr val="C94040"/>
          </a:solidFill>
          <a:ln w="12700">
            <a:solidFill>
              <a:srgbClr val="C94040"/>
            </a:solidFill>
            <a:prstDash val="solid"/>
          </a:ln>
        </p:spPr>
        <p:txBody>
          <a:bodyPr/>
          <a:lstStyle/>
          <a:p>
            <a:endParaRPr lang="en-US"/>
          </a:p>
        </p:txBody>
      </p:sp>
      <p:sp>
        <p:nvSpPr>
          <p:cNvPr id="12" name="Text 10"/>
          <p:cNvSpPr/>
          <p:nvPr/>
        </p:nvSpPr>
        <p:spPr>
          <a:xfrm>
            <a:off x="530352" y="1792224"/>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Crawler access</a:t>
            </a:r>
            <a:endParaRPr lang="en-US" sz="1050" dirty="0"/>
          </a:p>
        </p:txBody>
      </p:sp>
      <p:sp>
        <p:nvSpPr>
          <p:cNvPr id="13" name="Text 11"/>
          <p:cNvSpPr/>
          <p:nvPr/>
        </p:nvSpPr>
        <p:spPr>
          <a:xfrm>
            <a:off x="1975104" y="1792224"/>
            <a:ext cx="658368" cy="274320"/>
          </a:xfrm>
          <a:prstGeom prst="rect">
            <a:avLst/>
          </a:prstGeom>
          <a:noFill/>
          <a:ln/>
        </p:spPr>
        <p:txBody>
          <a:bodyPr wrap="square" lIns="0" tIns="0" rIns="0" bIns="0" rtlCol="0" anchor="ctr"/>
          <a:lstStyle/>
          <a:p>
            <a:pPr marL="0" indent="0">
              <a:buNone/>
            </a:pPr>
            <a:r>
              <a:rPr lang="en-US" sz="1050" b="1" dirty="0">
                <a:solidFill>
                  <a:srgbClr val="C94040"/>
                </a:solidFill>
              </a:rPr>
              <a:t>10/100</a:t>
            </a:r>
            <a:endParaRPr lang="en-US" sz="1050" dirty="0"/>
          </a:p>
        </p:txBody>
      </p:sp>
      <p:sp>
        <p:nvSpPr>
          <p:cNvPr id="14" name="Text 12"/>
          <p:cNvSpPr/>
          <p:nvPr/>
        </p:nvSpPr>
        <p:spPr>
          <a:xfrm>
            <a:off x="2670048" y="1792224"/>
            <a:ext cx="1481328" cy="274320"/>
          </a:xfrm>
          <a:prstGeom prst="rect">
            <a:avLst/>
          </a:prstGeom>
          <a:noFill/>
          <a:ln/>
        </p:spPr>
        <p:txBody>
          <a:bodyPr wrap="square" lIns="0" tIns="0" rIns="0" bIns="0" rtlCol="0" anchor="ctr"/>
          <a:lstStyle/>
          <a:p>
            <a:pPr marL="0" indent="0">
              <a:buNone/>
            </a:pPr>
            <a:r>
              <a:rPr lang="en-US" sz="950" dirty="0">
                <a:solidFill>
                  <a:srgbClr val="7A8A94"/>
                </a:solidFill>
              </a:rPr>
              <a:t>HTTP 403 blocks all non-browser agents — most severe issue.</a:t>
            </a:r>
            <a:endParaRPr lang="en-US" sz="950" dirty="0"/>
          </a:p>
        </p:txBody>
      </p:sp>
      <p:sp>
        <p:nvSpPr>
          <p:cNvPr id="15" name="Shape 13"/>
          <p:cNvSpPr/>
          <p:nvPr/>
        </p:nvSpPr>
        <p:spPr>
          <a:xfrm>
            <a:off x="365760" y="2194560"/>
            <a:ext cx="3931920" cy="365760"/>
          </a:xfrm>
          <a:prstGeom prst="rect">
            <a:avLst/>
          </a:prstGeom>
          <a:solidFill>
            <a:srgbClr val="FDFAF7"/>
          </a:solidFill>
          <a:ln w="12700">
            <a:solidFill>
              <a:srgbClr val="E6DDD4"/>
            </a:solidFill>
            <a:prstDash val="solid"/>
          </a:ln>
        </p:spPr>
        <p:txBody>
          <a:bodyPr/>
          <a:lstStyle/>
          <a:p>
            <a:endParaRPr lang="en-US"/>
          </a:p>
        </p:txBody>
      </p:sp>
      <p:sp>
        <p:nvSpPr>
          <p:cNvPr id="16" name="Shape 14"/>
          <p:cNvSpPr/>
          <p:nvPr/>
        </p:nvSpPr>
        <p:spPr>
          <a:xfrm>
            <a:off x="365760" y="2194560"/>
            <a:ext cx="54864" cy="365760"/>
          </a:xfrm>
          <a:prstGeom prst="rect">
            <a:avLst/>
          </a:prstGeom>
          <a:solidFill>
            <a:srgbClr val="C94040"/>
          </a:solidFill>
          <a:ln w="12700">
            <a:solidFill>
              <a:srgbClr val="C94040"/>
            </a:solidFill>
            <a:prstDash val="solid"/>
          </a:ln>
        </p:spPr>
        <p:txBody>
          <a:bodyPr/>
          <a:lstStyle/>
          <a:p>
            <a:endParaRPr lang="en-US"/>
          </a:p>
        </p:txBody>
      </p:sp>
      <p:sp>
        <p:nvSpPr>
          <p:cNvPr id="17" name="Text 15"/>
          <p:cNvSpPr/>
          <p:nvPr/>
        </p:nvSpPr>
        <p:spPr>
          <a:xfrm>
            <a:off x="530352" y="2240280"/>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llms.txt</a:t>
            </a:r>
            <a:endParaRPr lang="en-US" sz="1050" dirty="0"/>
          </a:p>
        </p:txBody>
      </p:sp>
      <p:sp>
        <p:nvSpPr>
          <p:cNvPr id="18" name="Text 16"/>
          <p:cNvSpPr/>
          <p:nvPr/>
        </p:nvSpPr>
        <p:spPr>
          <a:xfrm>
            <a:off x="1975104" y="2240280"/>
            <a:ext cx="658368" cy="274320"/>
          </a:xfrm>
          <a:prstGeom prst="rect">
            <a:avLst/>
          </a:prstGeom>
          <a:noFill/>
          <a:ln/>
        </p:spPr>
        <p:txBody>
          <a:bodyPr wrap="square" lIns="0" tIns="0" rIns="0" bIns="0" rtlCol="0" anchor="ctr"/>
          <a:lstStyle/>
          <a:p>
            <a:pPr marL="0" indent="0">
              <a:buNone/>
            </a:pPr>
            <a:r>
              <a:rPr lang="en-US" sz="1050" b="1" dirty="0">
                <a:solidFill>
                  <a:srgbClr val="C94040"/>
                </a:solidFill>
              </a:rPr>
              <a:t>0/100</a:t>
            </a:r>
            <a:endParaRPr lang="en-US" sz="1050" dirty="0"/>
          </a:p>
        </p:txBody>
      </p:sp>
      <p:sp>
        <p:nvSpPr>
          <p:cNvPr id="19" name="Text 17"/>
          <p:cNvSpPr/>
          <p:nvPr/>
        </p:nvSpPr>
        <p:spPr>
          <a:xfrm>
            <a:off x="2670048" y="2240280"/>
            <a:ext cx="1481328" cy="274320"/>
          </a:xfrm>
          <a:prstGeom prst="rect">
            <a:avLst/>
          </a:prstGeom>
          <a:noFill/>
          <a:ln/>
        </p:spPr>
        <p:txBody>
          <a:bodyPr wrap="square" lIns="0" tIns="0" rIns="0" bIns="0" rtlCol="0" anchor="ctr"/>
          <a:lstStyle/>
          <a:p>
            <a:pPr marL="0" indent="0">
              <a:buNone/>
            </a:pPr>
            <a:r>
              <a:rPr lang="en-US" sz="950" dirty="0">
                <a:solidFill>
                  <a:srgbClr val="7A8A94"/>
                </a:solidFill>
              </a:rPr>
              <a:t>Not present. AI systems that check for it find nothing.</a:t>
            </a:r>
            <a:endParaRPr lang="en-US" sz="950" dirty="0"/>
          </a:p>
        </p:txBody>
      </p:sp>
      <p:sp>
        <p:nvSpPr>
          <p:cNvPr id="20" name="Shape 18"/>
          <p:cNvSpPr/>
          <p:nvPr/>
        </p:nvSpPr>
        <p:spPr>
          <a:xfrm>
            <a:off x="365760" y="2642616"/>
            <a:ext cx="3931920" cy="365760"/>
          </a:xfrm>
          <a:prstGeom prst="rect">
            <a:avLst/>
          </a:prstGeom>
          <a:solidFill>
            <a:srgbClr val="FDFAF7"/>
          </a:solidFill>
          <a:ln w="12700">
            <a:solidFill>
              <a:srgbClr val="E6DDD4"/>
            </a:solidFill>
            <a:prstDash val="solid"/>
          </a:ln>
        </p:spPr>
        <p:txBody>
          <a:bodyPr/>
          <a:lstStyle/>
          <a:p>
            <a:endParaRPr lang="en-US"/>
          </a:p>
        </p:txBody>
      </p:sp>
      <p:sp>
        <p:nvSpPr>
          <p:cNvPr id="21" name="Shape 19"/>
          <p:cNvSpPr/>
          <p:nvPr/>
        </p:nvSpPr>
        <p:spPr>
          <a:xfrm>
            <a:off x="365760" y="2642616"/>
            <a:ext cx="54864" cy="365760"/>
          </a:xfrm>
          <a:prstGeom prst="rect">
            <a:avLst/>
          </a:prstGeom>
          <a:solidFill>
            <a:srgbClr val="2EB8A6"/>
          </a:solidFill>
          <a:ln w="12700">
            <a:solidFill>
              <a:srgbClr val="2EB8A6"/>
            </a:solidFill>
            <a:prstDash val="solid"/>
          </a:ln>
        </p:spPr>
        <p:txBody>
          <a:bodyPr/>
          <a:lstStyle/>
          <a:p>
            <a:endParaRPr lang="en-US"/>
          </a:p>
        </p:txBody>
      </p:sp>
      <p:sp>
        <p:nvSpPr>
          <p:cNvPr id="22" name="Text 20"/>
          <p:cNvSpPr/>
          <p:nvPr/>
        </p:nvSpPr>
        <p:spPr>
          <a:xfrm>
            <a:off x="530352" y="2688336"/>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Server rendering</a:t>
            </a:r>
            <a:endParaRPr lang="en-US" sz="1050" dirty="0"/>
          </a:p>
        </p:txBody>
      </p:sp>
      <p:sp>
        <p:nvSpPr>
          <p:cNvPr id="23" name="Text 21"/>
          <p:cNvSpPr/>
          <p:nvPr/>
        </p:nvSpPr>
        <p:spPr>
          <a:xfrm>
            <a:off x="1975104" y="2688336"/>
            <a:ext cx="658368" cy="274320"/>
          </a:xfrm>
          <a:prstGeom prst="rect">
            <a:avLst/>
          </a:prstGeom>
          <a:noFill/>
          <a:ln/>
        </p:spPr>
        <p:txBody>
          <a:bodyPr wrap="square" lIns="0" tIns="0" rIns="0" bIns="0" rtlCol="0" anchor="ctr"/>
          <a:lstStyle/>
          <a:p>
            <a:pPr marL="0" indent="0">
              <a:buNone/>
            </a:pPr>
            <a:r>
              <a:rPr lang="en-US" sz="1050" b="1" dirty="0">
                <a:solidFill>
                  <a:srgbClr val="2EB8A6"/>
                </a:solidFill>
              </a:rPr>
              <a:t>75/100</a:t>
            </a:r>
            <a:endParaRPr lang="en-US" sz="1050" dirty="0"/>
          </a:p>
        </p:txBody>
      </p:sp>
      <p:sp>
        <p:nvSpPr>
          <p:cNvPr id="24" name="Text 22"/>
          <p:cNvSpPr/>
          <p:nvPr/>
        </p:nvSpPr>
        <p:spPr>
          <a:xfrm>
            <a:off x="2670048" y="2688336"/>
            <a:ext cx="1481328" cy="274320"/>
          </a:xfrm>
          <a:prstGeom prst="rect">
            <a:avLst/>
          </a:prstGeom>
          <a:noFill/>
          <a:ln/>
        </p:spPr>
        <p:txBody>
          <a:bodyPr wrap="square" lIns="0" tIns="0" rIns="0" bIns="0" rtlCol="0" anchor="ctr"/>
          <a:lstStyle/>
          <a:p>
            <a:pPr marL="0" indent="0">
              <a:buNone/>
            </a:pPr>
            <a:r>
              <a:rPr lang="en-US" sz="950" dirty="0">
                <a:solidFill>
                  <a:srgbClr val="7A8A94"/>
                </a:solidFill>
              </a:rPr>
              <a:t>WordPress = server-rendered. Not JS-dependent.</a:t>
            </a:r>
            <a:endParaRPr lang="en-US" sz="950" dirty="0"/>
          </a:p>
        </p:txBody>
      </p:sp>
      <p:sp>
        <p:nvSpPr>
          <p:cNvPr id="25" name="Shape 23"/>
          <p:cNvSpPr/>
          <p:nvPr/>
        </p:nvSpPr>
        <p:spPr>
          <a:xfrm>
            <a:off x="365760" y="3090672"/>
            <a:ext cx="3931920" cy="365760"/>
          </a:xfrm>
          <a:prstGeom prst="rect">
            <a:avLst/>
          </a:prstGeom>
          <a:solidFill>
            <a:srgbClr val="FDFAF7"/>
          </a:solidFill>
          <a:ln w="12700">
            <a:solidFill>
              <a:srgbClr val="E6DDD4"/>
            </a:solidFill>
            <a:prstDash val="solid"/>
          </a:ln>
        </p:spPr>
        <p:txBody>
          <a:bodyPr/>
          <a:lstStyle/>
          <a:p>
            <a:endParaRPr lang="en-US"/>
          </a:p>
        </p:txBody>
      </p:sp>
      <p:sp>
        <p:nvSpPr>
          <p:cNvPr id="26" name="Shape 24"/>
          <p:cNvSpPr/>
          <p:nvPr/>
        </p:nvSpPr>
        <p:spPr>
          <a:xfrm>
            <a:off x="365760" y="3090672"/>
            <a:ext cx="54864" cy="365760"/>
          </a:xfrm>
          <a:prstGeom prst="rect">
            <a:avLst/>
          </a:prstGeom>
          <a:solidFill>
            <a:srgbClr val="2EB8A6"/>
          </a:solidFill>
          <a:ln w="12700">
            <a:solidFill>
              <a:srgbClr val="2EB8A6"/>
            </a:solidFill>
            <a:prstDash val="solid"/>
          </a:ln>
        </p:spPr>
        <p:txBody>
          <a:bodyPr/>
          <a:lstStyle/>
          <a:p>
            <a:endParaRPr lang="en-US"/>
          </a:p>
        </p:txBody>
      </p:sp>
      <p:sp>
        <p:nvSpPr>
          <p:cNvPr id="27" name="Text 25"/>
          <p:cNvSpPr/>
          <p:nvPr/>
        </p:nvSpPr>
        <p:spPr>
          <a:xfrm>
            <a:off x="530352" y="3136392"/>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URL structure</a:t>
            </a:r>
            <a:endParaRPr lang="en-US" sz="1050" dirty="0"/>
          </a:p>
        </p:txBody>
      </p:sp>
      <p:sp>
        <p:nvSpPr>
          <p:cNvPr id="28" name="Text 26"/>
          <p:cNvSpPr/>
          <p:nvPr/>
        </p:nvSpPr>
        <p:spPr>
          <a:xfrm>
            <a:off x="1975104" y="3136392"/>
            <a:ext cx="658368" cy="274320"/>
          </a:xfrm>
          <a:prstGeom prst="rect">
            <a:avLst/>
          </a:prstGeom>
          <a:noFill/>
          <a:ln/>
        </p:spPr>
        <p:txBody>
          <a:bodyPr wrap="square" lIns="0" tIns="0" rIns="0" bIns="0" rtlCol="0" anchor="ctr"/>
          <a:lstStyle/>
          <a:p>
            <a:pPr marL="0" indent="0">
              <a:buNone/>
            </a:pPr>
            <a:r>
              <a:rPr lang="en-US" sz="1050" b="1" dirty="0">
                <a:solidFill>
                  <a:srgbClr val="2EB8A6"/>
                </a:solidFill>
              </a:rPr>
              <a:t>70/100</a:t>
            </a:r>
            <a:endParaRPr lang="en-US" sz="1050" dirty="0"/>
          </a:p>
        </p:txBody>
      </p:sp>
      <p:sp>
        <p:nvSpPr>
          <p:cNvPr id="29" name="Text 27"/>
          <p:cNvSpPr/>
          <p:nvPr/>
        </p:nvSpPr>
        <p:spPr>
          <a:xfrm>
            <a:off x="2670048" y="3136392"/>
            <a:ext cx="1481328" cy="274320"/>
          </a:xfrm>
          <a:prstGeom prst="rect">
            <a:avLst/>
          </a:prstGeom>
          <a:noFill/>
          <a:ln/>
        </p:spPr>
        <p:txBody>
          <a:bodyPr wrap="square" lIns="0" tIns="0" rIns="0" bIns="0" rtlCol="0" anchor="ctr"/>
          <a:lstStyle/>
          <a:p>
            <a:pPr marL="0" indent="0">
              <a:buNone/>
            </a:pPr>
            <a:r>
              <a:rPr lang="en-US" sz="950" dirty="0">
                <a:solidFill>
                  <a:srgbClr val="7A8A94"/>
                </a:solidFill>
              </a:rPr>
              <a:t>Clean permalinks (e.g., /shop/grain-country/).</a:t>
            </a:r>
            <a:endParaRPr lang="en-US" sz="950" dirty="0"/>
          </a:p>
        </p:txBody>
      </p:sp>
      <p:sp>
        <p:nvSpPr>
          <p:cNvPr id="30" name="Shape 28"/>
          <p:cNvSpPr/>
          <p:nvPr/>
        </p:nvSpPr>
        <p:spPr>
          <a:xfrm>
            <a:off x="365760" y="3538728"/>
            <a:ext cx="3931920" cy="365760"/>
          </a:xfrm>
          <a:prstGeom prst="rect">
            <a:avLst/>
          </a:prstGeom>
          <a:solidFill>
            <a:srgbClr val="FDFAF7"/>
          </a:solidFill>
          <a:ln w="12700">
            <a:solidFill>
              <a:srgbClr val="E6DDD4"/>
            </a:solidFill>
            <a:prstDash val="solid"/>
          </a:ln>
        </p:spPr>
        <p:txBody>
          <a:bodyPr/>
          <a:lstStyle/>
          <a:p>
            <a:endParaRPr lang="en-US"/>
          </a:p>
        </p:txBody>
      </p:sp>
      <p:sp>
        <p:nvSpPr>
          <p:cNvPr id="31" name="Shape 29"/>
          <p:cNvSpPr/>
          <p:nvPr/>
        </p:nvSpPr>
        <p:spPr>
          <a:xfrm>
            <a:off x="365760" y="3538728"/>
            <a:ext cx="54864" cy="365760"/>
          </a:xfrm>
          <a:prstGeom prst="rect">
            <a:avLst/>
          </a:prstGeom>
          <a:solidFill>
            <a:srgbClr val="D4891A"/>
          </a:solidFill>
          <a:ln w="12700">
            <a:solidFill>
              <a:srgbClr val="D4891A"/>
            </a:solidFill>
            <a:prstDash val="solid"/>
          </a:ln>
        </p:spPr>
        <p:txBody>
          <a:bodyPr/>
          <a:lstStyle/>
          <a:p>
            <a:endParaRPr lang="en-US"/>
          </a:p>
        </p:txBody>
      </p:sp>
      <p:sp>
        <p:nvSpPr>
          <p:cNvPr id="32" name="Text 30"/>
          <p:cNvSpPr/>
          <p:nvPr/>
        </p:nvSpPr>
        <p:spPr>
          <a:xfrm>
            <a:off x="530352" y="3584448"/>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Duplicate content</a:t>
            </a:r>
            <a:endParaRPr lang="en-US" sz="1050" dirty="0"/>
          </a:p>
        </p:txBody>
      </p:sp>
      <p:sp>
        <p:nvSpPr>
          <p:cNvPr id="33" name="Text 31"/>
          <p:cNvSpPr/>
          <p:nvPr/>
        </p:nvSpPr>
        <p:spPr>
          <a:xfrm>
            <a:off x="1975104" y="3584448"/>
            <a:ext cx="658368" cy="274320"/>
          </a:xfrm>
          <a:prstGeom prst="rect">
            <a:avLst/>
          </a:prstGeom>
          <a:noFill/>
          <a:ln/>
        </p:spPr>
        <p:txBody>
          <a:bodyPr wrap="square" lIns="0" tIns="0" rIns="0" bIns="0" rtlCol="0" anchor="ctr"/>
          <a:lstStyle/>
          <a:p>
            <a:pPr marL="0" indent="0">
              <a:buNone/>
            </a:pPr>
            <a:r>
              <a:rPr lang="en-US" sz="1050" b="1" dirty="0">
                <a:solidFill>
                  <a:srgbClr val="D4891A"/>
                </a:solidFill>
              </a:rPr>
              <a:t>50/100</a:t>
            </a:r>
            <a:endParaRPr lang="en-US" sz="1050" dirty="0"/>
          </a:p>
        </p:txBody>
      </p:sp>
      <p:sp>
        <p:nvSpPr>
          <p:cNvPr id="34" name="Text 32"/>
          <p:cNvSpPr/>
          <p:nvPr/>
        </p:nvSpPr>
        <p:spPr>
          <a:xfrm>
            <a:off x="2670048" y="3584448"/>
            <a:ext cx="1481328" cy="274320"/>
          </a:xfrm>
          <a:prstGeom prst="rect">
            <a:avLst/>
          </a:prstGeom>
          <a:noFill/>
          <a:ln/>
        </p:spPr>
        <p:txBody>
          <a:bodyPr wrap="square" lIns="0" tIns="0" rIns="0" bIns="0" rtlCol="0" anchor="ctr"/>
          <a:lstStyle/>
          <a:p>
            <a:pPr marL="0" indent="0">
              <a:buNone/>
            </a:pPr>
            <a:r>
              <a:rPr lang="en-US" sz="950" dirty="0">
                <a:solidFill>
                  <a:srgbClr val="7A8A94"/>
                </a:solidFill>
              </a:rPr>
              <a:t>Two contact page URLs dilute link equity.</a:t>
            </a:r>
            <a:endParaRPr lang="en-US" sz="950" dirty="0"/>
          </a:p>
        </p:txBody>
      </p:sp>
      <p:sp>
        <p:nvSpPr>
          <p:cNvPr id="35" name="Shape 33"/>
          <p:cNvSpPr/>
          <p:nvPr/>
        </p:nvSpPr>
        <p:spPr>
          <a:xfrm>
            <a:off x="365760" y="3986784"/>
            <a:ext cx="3931920" cy="365760"/>
          </a:xfrm>
          <a:prstGeom prst="rect">
            <a:avLst/>
          </a:prstGeom>
          <a:solidFill>
            <a:srgbClr val="FDFAF7"/>
          </a:solidFill>
          <a:ln w="12700">
            <a:solidFill>
              <a:srgbClr val="E6DDD4"/>
            </a:solidFill>
            <a:prstDash val="solid"/>
          </a:ln>
        </p:spPr>
        <p:txBody>
          <a:bodyPr/>
          <a:lstStyle/>
          <a:p>
            <a:endParaRPr lang="en-US"/>
          </a:p>
        </p:txBody>
      </p:sp>
      <p:sp>
        <p:nvSpPr>
          <p:cNvPr id="36" name="Shape 34"/>
          <p:cNvSpPr/>
          <p:nvPr/>
        </p:nvSpPr>
        <p:spPr>
          <a:xfrm>
            <a:off x="365760" y="3986784"/>
            <a:ext cx="54864" cy="365760"/>
          </a:xfrm>
          <a:prstGeom prst="rect">
            <a:avLst/>
          </a:prstGeom>
          <a:solidFill>
            <a:srgbClr val="C94040"/>
          </a:solidFill>
          <a:ln w="12700">
            <a:solidFill>
              <a:srgbClr val="C94040"/>
            </a:solidFill>
            <a:prstDash val="solid"/>
          </a:ln>
        </p:spPr>
        <p:txBody>
          <a:bodyPr/>
          <a:lstStyle/>
          <a:p>
            <a:endParaRPr lang="en-US"/>
          </a:p>
        </p:txBody>
      </p:sp>
      <p:sp>
        <p:nvSpPr>
          <p:cNvPr id="37" name="Text 35"/>
          <p:cNvSpPr/>
          <p:nvPr/>
        </p:nvSpPr>
        <p:spPr>
          <a:xfrm>
            <a:off x="530352" y="4032504"/>
            <a:ext cx="1417320" cy="274320"/>
          </a:xfrm>
          <a:prstGeom prst="rect">
            <a:avLst/>
          </a:prstGeom>
          <a:noFill/>
          <a:ln/>
        </p:spPr>
        <p:txBody>
          <a:bodyPr wrap="square" lIns="0" tIns="0" rIns="0" bIns="0" rtlCol="0" anchor="ctr"/>
          <a:lstStyle/>
          <a:p>
            <a:pPr marL="0" indent="0">
              <a:buNone/>
            </a:pPr>
            <a:r>
              <a:rPr lang="en-US" sz="1050" b="1" dirty="0">
                <a:solidFill>
                  <a:srgbClr val="1E2A35"/>
                </a:solidFill>
              </a:rPr>
              <a:t>Domain email</a:t>
            </a:r>
            <a:endParaRPr lang="en-US" sz="1050" dirty="0"/>
          </a:p>
        </p:txBody>
      </p:sp>
      <p:sp>
        <p:nvSpPr>
          <p:cNvPr id="38" name="Text 36"/>
          <p:cNvSpPr/>
          <p:nvPr/>
        </p:nvSpPr>
        <p:spPr>
          <a:xfrm>
            <a:off x="1975104" y="4032504"/>
            <a:ext cx="658368" cy="274320"/>
          </a:xfrm>
          <a:prstGeom prst="rect">
            <a:avLst/>
          </a:prstGeom>
          <a:noFill/>
          <a:ln/>
        </p:spPr>
        <p:txBody>
          <a:bodyPr wrap="square" lIns="0" tIns="0" rIns="0" bIns="0" rtlCol="0" anchor="ctr"/>
          <a:lstStyle/>
          <a:p>
            <a:pPr marL="0" indent="0">
              <a:buNone/>
            </a:pPr>
            <a:r>
              <a:rPr lang="en-US" sz="1050" b="1" dirty="0">
                <a:solidFill>
                  <a:srgbClr val="C94040"/>
                </a:solidFill>
              </a:rPr>
              <a:t>20/100</a:t>
            </a:r>
            <a:endParaRPr lang="en-US" sz="1050" dirty="0"/>
          </a:p>
        </p:txBody>
      </p:sp>
      <p:sp>
        <p:nvSpPr>
          <p:cNvPr id="39" name="Text 37"/>
          <p:cNvSpPr/>
          <p:nvPr/>
        </p:nvSpPr>
        <p:spPr>
          <a:xfrm>
            <a:off x="2670048" y="4032504"/>
            <a:ext cx="1481328" cy="274320"/>
          </a:xfrm>
          <a:prstGeom prst="rect">
            <a:avLst/>
          </a:prstGeom>
          <a:noFill/>
          <a:ln/>
        </p:spPr>
        <p:txBody>
          <a:bodyPr wrap="square" lIns="0" tIns="0" rIns="0" bIns="0" rtlCol="0" anchor="ctr"/>
          <a:lstStyle/>
          <a:p>
            <a:pPr marL="0" indent="0">
              <a:buNone/>
            </a:pPr>
            <a:r>
              <a:rPr lang="en-US" sz="950" dirty="0">
                <a:solidFill>
                  <a:srgbClr val="7A8A94"/>
                </a:solidFill>
              </a:rPr>
              <a:t>Gmail address hurts trust signals.</a:t>
            </a:r>
            <a:endParaRPr lang="en-US" sz="950" dirty="0"/>
          </a:p>
        </p:txBody>
      </p:sp>
      <p:sp>
        <p:nvSpPr>
          <p:cNvPr id="40" name="Shape 38"/>
          <p:cNvSpPr/>
          <p:nvPr/>
        </p:nvSpPr>
        <p:spPr>
          <a:xfrm>
            <a:off x="4572000" y="896112"/>
            <a:ext cx="36576" cy="3749040"/>
          </a:xfrm>
          <a:prstGeom prst="rect">
            <a:avLst/>
          </a:prstGeom>
          <a:solidFill>
            <a:srgbClr val="E6DDD4"/>
          </a:solidFill>
          <a:ln w="12700">
            <a:solidFill>
              <a:srgbClr val="E6DDD4"/>
            </a:solidFill>
            <a:prstDash val="solid"/>
          </a:ln>
        </p:spPr>
        <p:txBody>
          <a:bodyPr/>
          <a:lstStyle/>
          <a:p>
            <a:endParaRPr lang="en-US"/>
          </a:p>
        </p:txBody>
      </p:sp>
      <p:sp>
        <p:nvSpPr>
          <p:cNvPr id="41" name="Text 39"/>
          <p:cNvSpPr/>
          <p:nvPr/>
        </p:nvSpPr>
        <p:spPr>
          <a:xfrm>
            <a:off x="4846320" y="914400"/>
            <a:ext cx="3977640" cy="292608"/>
          </a:xfrm>
          <a:prstGeom prst="rect">
            <a:avLst/>
          </a:prstGeom>
          <a:noFill/>
          <a:ln/>
        </p:spPr>
        <p:txBody>
          <a:bodyPr wrap="square" lIns="0" tIns="0" rIns="0" bIns="0" rtlCol="0" anchor="ctr"/>
          <a:lstStyle/>
          <a:p>
            <a:pPr marL="0" indent="0">
              <a:buNone/>
            </a:pPr>
            <a:r>
              <a:rPr lang="en-US" sz="1200" b="1" kern="0" spc="200" dirty="0">
                <a:solidFill>
                  <a:srgbClr val="1B3A4B"/>
                </a:solidFill>
              </a:rPr>
              <a:t>MISSING SCHEMA — PRIORITY ORDER</a:t>
            </a:r>
            <a:endParaRPr lang="en-US" sz="1200" dirty="0"/>
          </a:p>
        </p:txBody>
      </p:sp>
      <p:sp>
        <p:nvSpPr>
          <p:cNvPr id="42" name="Shape 40"/>
          <p:cNvSpPr/>
          <p:nvPr/>
        </p:nvSpPr>
        <p:spPr>
          <a:xfrm>
            <a:off x="4846320" y="1298448"/>
            <a:ext cx="3977640" cy="329184"/>
          </a:xfrm>
          <a:prstGeom prst="rect">
            <a:avLst/>
          </a:prstGeom>
          <a:solidFill>
            <a:srgbClr val="FDFAF7"/>
          </a:solidFill>
          <a:ln w="12700">
            <a:solidFill>
              <a:srgbClr val="E6DDD4"/>
            </a:solidFill>
            <a:prstDash val="solid"/>
          </a:ln>
        </p:spPr>
        <p:txBody>
          <a:bodyPr/>
          <a:lstStyle/>
          <a:p>
            <a:endParaRPr lang="en-US"/>
          </a:p>
        </p:txBody>
      </p:sp>
      <p:sp>
        <p:nvSpPr>
          <p:cNvPr id="43" name="Text 41"/>
          <p:cNvSpPr/>
          <p:nvPr/>
        </p:nvSpPr>
        <p:spPr>
          <a:xfrm>
            <a:off x="5010912" y="1335024"/>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Person</a:t>
            </a:r>
            <a:endParaRPr lang="en-US" sz="1050" dirty="0"/>
          </a:p>
        </p:txBody>
      </p:sp>
      <p:sp>
        <p:nvSpPr>
          <p:cNvPr id="44" name="Text 42"/>
          <p:cNvSpPr/>
          <p:nvPr/>
        </p:nvSpPr>
        <p:spPr>
          <a:xfrm>
            <a:off x="6601968" y="1335024"/>
            <a:ext cx="1508760" cy="256032"/>
          </a:xfrm>
          <a:prstGeom prst="rect">
            <a:avLst/>
          </a:prstGeom>
          <a:noFill/>
          <a:ln/>
        </p:spPr>
        <p:txBody>
          <a:bodyPr wrap="square" lIns="0" tIns="0" rIns="0" bIns="0" rtlCol="0" anchor="ctr"/>
          <a:lstStyle/>
          <a:p>
            <a:pPr marL="0" indent="0">
              <a:buNone/>
            </a:pPr>
            <a:r>
              <a:rPr lang="en-US" sz="950" dirty="0">
                <a:solidFill>
                  <a:srgbClr val="7A8A94"/>
                </a:solidFill>
              </a:rPr>
              <a:t>Homepage, About</a:t>
            </a:r>
            <a:endParaRPr lang="en-US" sz="950" dirty="0"/>
          </a:p>
        </p:txBody>
      </p:sp>
      <p:sp>
        <p:nvSpPr>
          <p:cNvPr id="45" name="Shape 43"/>
          <p:cNvSpPr/>
          <p:nvPr/>
        </p:nvSpPr>
        <p:spPr>
          <a:xfrm>
            <a:off x="8138160" y="1335024"/>
            <a:ext cx="621792" cy="256032"/>
          </a:xfrm>
          <a:prstGeom prst="rect">
            <a:avLst/>
          </a:prstGeom>
          <a:solidFill>
            <a:srgbClr val="C94040"/>
          </a:solidFill>
          <a:ln w="12700">
            <a:solidFill>
              <a:srgbClr val="C94040"/>
            </a:solidFill>
            <a:prstDash val="solid"/>
          </a:ln>
        </p:spPr>
        <p:txBody>
          <a:bodyPr/>
          <a:lstStyle/>
          <a:p>
            <a:endParaRPr lang="en-US"/>
          </a:p>
        </p:txBody>
      </p:sp>
      <p:sp>
        <p:nvSpPr>
          <p:cNvPr id="46" name="Text 44"/>
          <p:cNvSpPr/>
          <p:nvPr/>
        </p:nvSpPr>
        <p:spPr>
          <a:xfrm>
            <a:off x="8138160" y="1335024"/>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Critical</a:t>
            </a:r>
            <a:endParaRPr lang="en-US" sz="850" dirty="0"/>
          </a:p>
        </p:txBody>
      </p:sp>
      <p:sp>
        <p:nvSpPr>
          <p:cNvPr id="47" name="Shape 45"/>
          <p:cNvSpPr/>
          <p:nvPr/>
        </p:nvSpPr>
        <p:spPr>
          <a:xfrm>
            <a:off x="4846320" y="1700784"/>
            <a:ext cx="3977640" cy="329184"/>
          </a:xfrm>
          <a:prstGeom prst="rect">
            <a:avLst/>
          </a:prstGeom>
          <a:solidFill>
            <a:srgbClr val="FDFAF7"/>
          </a:solidFill>
          <a:ln w="12700">
            <a:solidFill>
              <a:srgbClr val="E6DDD4"/>
            </a:solidFill>
            <a:prstDash val="solid"/>
          </a:ln>
        </p:spPr>
        <p:txBody>
          <a:bodyPr/>
          <a:lstStyle/>
          <a:p>
            <a:endParaRPr lang="en-US"/>
          </a:p>
        </p:txBody>
      </p:sp>
      <p:sp>
        <p:nvSpPr>
          <p:cNvPr id="48" name="Text 46"/>
          <p:cNvSpPr/>
          <p:nvPr/>
        </p:nvSpPr>
        <p:spPr>
          <a:xfrm>
            <a:off x="5010912" y="1737360"/>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Organization</a:t>
            </a:r>
            <a:endParaRPr lang="en-US" sz="1050" dirty="0"/>
          </a:p>
        </p:txBody>
      </p:sp>
      <p:sp>
        <p:nvSpPr>
          <p:cNvPr id="49" name="Text 47"/>
          <p:cNvSpPr/>
          <p:nvPr/>
        </p:nvSpPr>
        <p:spPr>
          <a:xfrm>
            <a:off x="6601968" y="1737360"/>
            <a:ext cx="1508760" cy="256032"/>
          </a:xfrm>
          <a:prstGeom prst="rect">
            <a:avLst/>
          </a:prstGeom>
          <a:noFill/>
          <a:ln/>
        </p:spPr>
        <p:txBody>
          <a:bodyPr wrap="square" lIns="0" tIns="0" rIns="0" bIns="0" rtlCol="0" anchor="ctr"/>
          <a:lstStyle/>
          <a:p>
            <a:pPr marL="0" indent="0">
              <a:buNone/>
            </a:pPr>
            <a:r>
              <a:rPr lang="en-US" sz="950" dirty="0">
                <a:solidFill>
                  <a:srgbClr val="7A8A94"/>
                </a:solidFill>
              </a:rPr>
              <a:t>Homepage</a:t>
            </a:r>
            <a:endParaRPr lang="en-US" sz="950" dirty="0"/>
          </a:p>
        </p:txBody>
      </p:sp>
      <p:sp>
        <p:nvSpPr>
          <p:cNvPr id="50" name="Shape 48"/>
          <p:cNvSpPr/>
          <p:nvPr/>
        </p:nvSpPr>
        <p:spPr>
          <a:xfrm>
            <a:off x="8138160" y="1737360"/>
            <a:ext cx="621792" cy="256032"/>
          </a:xfrm>
          <a:prstGeom prst="rect">
            <a:avLst/>
          </a:prstGeom>
          <a:solidFill>
            <a:srgbClr val="C94040"/>
          </a:solidFill>
          <a:ln w="12700">
            <a:solidFill>
              <a:srgbClr val="C94040"/>
            </a:solidFill>
            <a:prstDash val="solid"/>
          </a:ln>
        </p:spPr>
        <p:txBody>
          <a:bodyPr/>
          <a:lstStyle/>
          <a:p>
            <a:endParaRPr lang="en-US"/>
          </a:p>
        </p:txBody>
      </p:sp>
      <p:sp>
        <p:nvSpPr>
          <p:cNvPr id="51" name="Text 49"/>
          <p:cNvSpPr/>
          <p:nvPr/>
        </p:nvSpPr>
        <p:spPr>
          <a:xfrm>
            <a:off x="8138160" y="1737360"/>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Critical</a:t>
            </a:r>
            <a:endParaRPr lang="en-US" sz="850" dirty="0"/>
          </a:p>
        </p:txBody>
      </p:sp>
      <p:sp>
        <p:nvSpPr>
          <p:cNvPr id="52" name="Shape 50"/>
          <p:cNvSpPr/>
          <p:nvPr/>
        </p:nvSpPr>
        <p:spPr>
          <a:xfrm>
            <a:off x="4846320" y="2103120"/>
            <a:ext cx="3977640" cy="329184"/>
          </a:xfrm>
          <a:prstGeom prst="rect">
            <a:avLst/>
          </a:prstGeom>
          <a:solidFill>
            <a:srgbClr val="FDFAF7"/>
          </a:solidFill>
          <a:ln w="12700">
            <a:solidFill>
              <a:srgbClr val="E6DDD4"/>
            </a:solidFill>
            <a:prstDash val="solid"/>
          </a:ln>
        </p:spPr>
        <p:txBody>
          <a:bodyPr/>
          <a:lstStyle/>
          <a:p>
            <a:endParaRPr lang="en-US"/>
          </a:p>
        </p:txBody>
      </p:sp>
      <p:sp>
        <p:nvSpPr>
          <p:cNvPr id="53" name="Text 51"/>
          <p:cNvSpPr/>
          <p:nvPr/>
        </p:nvSpPr>
        <p:spPr>
          <a:xfrm>
            <a:off x="5010912" y="2139696"/>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Product</a:t>
            </a:r>
            <a:endParaRPr lang="en-US" sz="1050" dirty="0"/>
          </a:p>
        </p:txBody>
      </p:sp>
      <p:sp>
        <p:nvSpPr>
          <p:cNvPr id="54" name="Text 52"/>
          <p:cNvSpPr/>
          <p:nvPr/>
        </p:nvSpPr>
        <p:spPr>
          <a:xfrm>
            <a:off x="6601968" y="2139696"/>
            <a:ext cx="1508760" cy="256032"/>
          </a:xfrm>
          <a:prstGeom prst="rect">
            <a:avLst/>
          </a:prstGeom>
          <a:noFill/>
          <a:ln/>
        </p:spPr>
        <p:txBody>
          <a:bodyPr wrap="square" lIns="0" tIns="0" rIns="0" bIns="0" rtlCol="0" anchor="ctr"/>
          <a:lstStyle/>
          <a:p>
            <a:pPr marL="0" indent="0">
              <a:buNone/>
            </a:pPr>
            <a:r>
              <a:rPr lang="en-US" sz="950" dirty="0">
                <a:solidFill>
                  <a:srgbClr val="7A8A94"/>
                </a:solidFill>
              </a:rPr>
              <a:t>All shop pages</a:t>
            </a:r>
            <a:endParaRPr lang="en-US" sz="950" dirty="0"/>
          </a:p>
        </p:txBody>
      </p:sp>
      <p:sp>
        <p:nvSpPr>
          <p:cNvPr id="55" name="Shape 53"/>
          <p:cNvSpPr/>
          <p:nvPr/>
        </p:nvSpPr>
        <p:spPr>
          <a:xfrm>
            <a:off x="8138160" y="2139696"/>
            <a:ext cx="621792" cy="256032"/>
          </a:xfrm>
          <a:prstGeom prst="rect">
            <a:avLst/>
          </a:prstGeom>
          <a:solidFill>
            <a:srgbClr val="D4891A"/>
          </a:solidFill>
          <a:ln w="12700">
            <a:solidFill>
              <a:srgbClr val="D4891A"/>
            </a:solidFill>
            <a:prstDash val="solid"/>
          </a:ln>
        </p:spPr>
        <p:txBody>
          <a:bodyPr/>
          <a:lstStyle/>
          <a:p>
            <a:endParaRPr lang="en-US"/>
          </a:p>
        </p:txBody>
      </p:sp>
      <p:sp>
        <p:nvSpPr>
          <p:cNvPr id="56" name="Text 54"/>
          <p:cNvSpPr/>
          <p:nvPr/>
        </p:nvSpPr>
        <p:spPr>
          <a:xfrm>
            <a:off x="8138160" y="2139696"/>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High</a:t>
            </a:r>
            <a:endParaRPr lang="en-US" sz="850" dirty="0"/>
          </a:p>
        </p:txBody>
      </p:sp>
      <p:sp>
        <p:nvSpPr>
          <p:cNvPr id="57" name="Shape 55"/>
          <p:cNvSpPr/>
          <p:nvPr/>
        </p:nvSpPr>
        <p:spPr>
          <a:xfrm>
            <a:off x="4846320" y="2505456"/>
            <a:ext cx="3977640" cy="329184"/>
          </a:xfrm>
          <a:prstGeom prst="rect">
            <a:avLst/>
          </a:prstGeom>
          <a:solidFill>
            <a:srgbClr val="FDFAF7"/>
          </a:solidFill>
          <a:ln w="12700">
            <a:solidFill>
              <a:srgbClr val="E6DDD4"/>
            </a:solidFill>
            <a:prstDash val="solid"/>
          </a:ln>
        </p:spPr>
        <p:txBody>
          <a:bodyPr/>
          <a:lstStyle/>
          <a:p>
            <a:endParaRPr lang="en-US"/>
          </a:p>
        </p:txBody>
      </p:sp>
      <p:sp>
        <p:nvSpPr>
          <p:cNvPr id="58" name="Text 56"/>
          <p:cNvSpPr/>
          <p:nvPr/>
        </p:nvSpPr>
        <p:spPr>
          <a:xfrm>
            <a:off x="5010912" y="2542032"/>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FAQPage</a:t>
            </a:r>
            <a:endParaRPr lang="en-US" sz="1050" dirty="0"/>
          </a:p>
        </p:txBody>
      </p:sp>
      <p:sp>
        <p:nvSpPr>
          <p:cNvPr id="59" name="Text 57"/>
          <p:cNvSpPr/>
          <p:nvPr/>
        </p:nvSpPr>
        <p:spPr>
          <a:xfrm>
            <a:off x="6601968" y="2542032"/>
            <a:ext cx="1508760" cy="256032"/>
          </a:xfrm>
          <a:prstGeom prst="rect">
            <a:avLst/>
          </a:prstGeom>
          <a:noFill/>
          <a:ln/>
        </p:spPr>
        <p:txBody>
          <a:bodyPr wrap="square" lIns="0" tIns="0" rIns="0" bIns="0" rtlCol="0" anchor="ctr"/>
          <a:lstStyle/>
          <a:p>
            <a:pPr marL="0" indent="0">
              <a:buNone/>
            </a:pPr>
            <a:r>
              <a:rPr lang="en-US" sz="950" dirty="0">
                <a:solidFill>
                  <a:srgbClr val="7A8A94"/>
                </a:solidFill>
              </a:rPr>
              <a:t>Commission, Classes</a:t>
            </a:r>
            <a:endParaRPr lang="en-US" sz="950" dirty="0"/>
          </a:p>
        </p:txBody>
      </p:sp>
      <p:sp>
        <p:nvSpPr>
          <p:cNvPr id="60" name="Shape 58"/>
          <p:cNvSpPr/>
          <p:nvPr/>
        </p:nvSpPr>
        <p:spPr>
          <a:xfrm>
            <a:off x="8138160" y="2542032"/>
            <a:ext cx="621792" cy="256032"/>
          </a:xfrm>
          <a:prstGeom prst="rect">
            <a:avLst/>
          </a:prstGeom>
          <a:solidFill>
            <a:srgbClr val="D4891A"/>
          </a:solidFill>
          <a:ln w="12700">
            <a:solidFill>
              <a:srgbClr val="D4891A"/>
            </a:solidFill>
            <a:prstDash val="solid"/>
          </a:ln>
        </p:spPr>
        <p:txBody>
          <a:bodyPr/>
          <a:lstStyle/>
          <a:p>
            <a:endParaRPr lang="en-US"/>
          </a:p>
        </p:txBody>
      </p:sp>
      <p:sp>
        <p:nvSpPr>
          <p:cNvPr id="61" name="Text 59"/>
          <p:cNvSpPr/>
          <p:nvPr/>
        </p:nvSpPr>
        <p:spPr>
          <a:xfrm>
            <a:off x="8138160" y="2542032"/>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High</a:t>
            </a:r>
            <a:endParaRPr lang="en-US" sz="850" dirty="0"/>
          </a:p>
        </p:txBody>
      </p:sp>
      <p:sp>
        <p:nvSpPr>
          <p:cNvPr id="62" name="Shape 60"/>
          <p:cNvSpPr/>
          <p:nvPr/>
        </p:nvSpPr>
        <p:spPr>
          <a:xfrm>
            <a:off x="4846320" y="2907792"/>
            <a:ext cx="3977640" cy="329184"/>
          </a:xfrm>
          <a:prstGeom prst="rect">
            <a:avLst/>
          </a:prstGeom>
          <a:solidFill>
            <a:srgbClr val="FDFAF7"/>
          </a:solidFill>
          <a:ln w="12700">
            <a:solidFill>
              <a:srgbClr val="E6DDD4"/>
            </a:solidFill>
            <a:prstDash val="solid"/>
          </a:ln>
        </p:spPr>
        <p:txBody>
          <a:bodyPr/>
          <a:lstStyle/>
          <a:p>
            <a:endParaRPr lang="en-US"/>
          </a:p>
        </p:txBody>
      </p:sp>
      <p:sp>
        <p:nvSpPr>
          <p:cNvPr id="63" name="Text 61"/>
          <p:cNvSpPr/>
          <p:nvPr/>
        </p:nvSpPr>
        <p:spPr>
          <a:xfrm>
            <a:off x="5010912" y="2944368"/>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AggregateRating</a:t>
            </a:r>
            <a:endParaRPr lang="en-US" sz="1050" dirty="0"/>
          </a:p>
        </p:txBody>
      </p:sp>
      <p:sp>
        <p:nvSpPr>
          <p:cNvPr id="64" name="Text 62"/>
          <p:cNvSpPr/>
          <p:nvPr/>
        </p:nvSpPr>
        <p:spPr>
          <a:xfrm>
            <a:off x="6601968" y="2944368"/>
            <a:ext cx="1508760" cy="256032"/>
          </a:xfrm>
          <a:prstGeom prst="rect">
            <a:avLst/>
          </a:prstGeom>
          <a:noFill/>
          <a:ln/>
        </p:spPr>
        <p:txBody>
          <a:bodyPr wrap="square" lIns="0" tIns="0" rIns="0" bIns="0" rtlCol="0" anchor="ctr"/>
          <a:lstStyle/>
          <a:p>
            <a:pPr marL="0" indent="0">
              <a:buNone/>
            </a:pPr>
            <a:r>
              <a:rPr lang="en-US" sz="950" dirty="0">
                <a:solidFill>
                  <a:srgbClr val="7A8A94"/>
                </a:solidFill>
              </a:rPr>
              <a:t>Product pages</a:t>
            </a:r>
            <a:endParaRPr lang="en-US" sz="950" dirty="0"/>
          </a:p>
        </p:txBody>
      </p:sp>
      <p:sp>
        <p:nvSpPr>
          <p:cNvPr id="65" name="Shape 63"/>
          <p:cNvSpPr/>
          <p:nvPr/>
        </p:nvSpPr>
        <p:spPr>
          <a:xfrm>
            <a:off x="8138160" y="2944368"/>
            <a:ext cx="621792" cy="256032"/>
          </a:xfrm>
          <a:prstGeom prst="rect">
            <a:avLst/>
          </a:prstGeom>
          <a:solidFill>
            <a:srgbClr val="D4891A"/>
          </a:solidFill>
          <a:ln w="12700">
            <a:solidFill>
              <a:srgbClr val="D4891A"/>
            </a:solidFill>
            <a:prstDash val="solid"/>
          </a:ln>
        </p:spPr>
        <p:txBody>
          <a:bodyPr/>
          <a:lstStyle/>
          <a:p>
            <a:endParaRPr lang="en-US"/>
          </a:p>
        </p:txBody>
      </p:sp>
      <p:sp>
        <p:nvSpPr>
          <p:cNvPr id="66" name="Text 64"/>
          <p:cNvSpPr/>
          <p:nvPr/>
        </p:nvSpPr>
        <p:spPr>
          <a:xfrm>
            <a:off x="8138160" y="2944368"/>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High</a:t>
            </a:r>
            <a:endParaRPr lang="en-US" sz="850" dirty="0"/>
          </a:p>
        </p:txBody>
      </p:sp>
      <p:sp>
        <p:nvSpPr>
          <p:cNvPr id="67" name="Shape 65"/>
          <p:cNvSpPr/>
          <p:nvPr/>
        </p:nvSpPr>
        <p:spPr>
          <a:xfrm>
            <a:off x="4846320" y="3310128"/>
            <a:ext cx="3977640" cy="329184"/>
          </a:xfrm>
          <a:prstGeom prst="rect">
            <a:avLst/>
          </a:prstGeom>
          <a:solidFill>
            <a:srgbClr val="FDFAF7"/>
          </a:solidFill>
          <a:ln w="12700">
            <a:solidFill>
              <a:srgbClr val="E6DDD4"/>
            </a:solidFill>
            <a:prstDash val="solid"/>
          </a:ln>
        </p:spPr>
        <p:txBody>
          <a:bodyPr/>
          <a:lstStyle/>
          <a:p>
            <a:endParaRPr lang="en-US"/>
          </a:p>
        </p:txBody>
      </p:sp>
      <p:sp>
        <p:nvSpPr>
          <p:cNvPr id="68" name="Text 66"/>
          <p:cNvSpPr/>
          <p:nvPr/>
        </p:nvSpPr>
        <p:spPr>
          <a:xfrm>
            <a:off x="5010912" y="3346704"/>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Article</a:t>
            </a:r>
            <a:endParaRPr lang="en-US" sz="1050" dirty="0"/>
          </a:p>
        </p:txBody>
      </p:sp>
      <p:sp>
        <p:nvSpPr>
          <p:cNvPr id="69" name="Text 67"/>
          <p:cNvSpPr/>
          <p:nvPr/>
        </p:nvSpPr>
        <p:spPr>
          <a:xfrm>
            <a:off x="6601968" y="3346704"/>
            <a:ext cx="1508760" cy="256032"/>
          </a:xfrm>
          <a:prstGeom prst="rect">
            <a:avLst/>
          </a:prstGeom>
          <a:noFill/>
          <a:ln/>
        </p:spPr>
        <p:txBody>
          <a:bodyPr wrap="square" lIns="0" tIns="0" rIns="0" bIns="0" rtlCol="0" anchor="ctr"/>
          <a:lstStyle/>
          <a:p>
            <a:pPr marL="0" indent="0">
              <a:buNone/>
            </a:pPr>
            <a:r>
              <a:rPr lang="en-US" sz="950" dirty="0">
                <a:solidFill>
                  <a:srgbClr val="7A8A94"/>
                </a:solidFill>
              </a:rPr>
              <a:t>Blog posts</a:t>
            </a:r>
            <a:endParaRPr lang="en-US" sz="950" dirty="0"/>
          </a:p>
        </p:txBody>
      </p:sp>
      <p:sp>
        <p:nvSpPr>
          <p:cNvPr id="70" name="Shape 68"/>
          <p:cNvSpPr/>
          <p:nvPr/>
        </p:nvSpPr>
        <p:spPr>
          <a:xfrm>
            <a:off x="8138160" y="3346704"/>
            <a:ext cx="621792" cy="256032"/>
          </a:xfrm>
          <a:prstGeom prst="rect">
            <a:avLst/>
          </a:prstGeom>
          <a:solidFill>
            <a:srgbClr val="1D6E63"/>
          </a:solidFill>
          <a:ln w="12700">
            <a:solidFill>
              <a:srgbClr val="1D6E63"/>
            </a:solidFill>
            <a:prstDash val="solid"/>
          </a:ln>
        </p:spPr>
        <p:txBody>
          <a:bodyPr/>
          <a:lstStyle/>
          <a:p>
            <a:endParaRPr lang="en-US"/>
          </a:p>
        </p:txBody>
      </p:sp>
      <p:sp>
        <p:nvSpPr>
          <p:cNvPr id="71" name="Text 69"/>
          <p:cNvSpPr/>
          <p:nvPr/>
        </p:nvSpPr>
        <p:spPr>
          <a:xfrm>
            <a:off x="8138160" y="3346704"/>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Medium</a:t>
            </a:r>
            <a:endParaRPr lang="en-US" sz="850" dirty="0"/>
          </a:p>
        </p:txBody>
      </p:sp>
      <p:sp>
        <p:nvSpPr>
          <p:cNvPr id="72" name="Shape 70"/>
          <p:cNvSpPr/>
          <p:nvPr/>
        </p:nvSpPr>
        <p:spPr>
          <a:xfrm>
            <a:off x="4846320" y="3712464"/>
            <a:ext cx="3977640" cy="329184"/>
          </a:xfrm>
          <a:prstGeom prst="rect">
            <a:avLst/>
          </a:prstGeom>
          <a:solidFill>
            <a:srgbClr val="FDFAF7"/>
          </a:solidFill>
          <a:ln w="12700">
            <a:solidFill>
              <a:srgbClr val="E6DDD4"/>
            </a:solidFill>
            <a:prstDash val="solid"/>
          </a:ln>
        </p:spPr>
        <p:txBody>
          <a:bodyPr/>
          <a:lstStyle/>
          <a:p>
            <a:endParaRPr lang="en-US"/>
          </a:p>
        </p:txBody>
      </p:sp>
      <p:sp>
        <p:nvSpPr>
          <p:cNvPr id="73" name="Text 71"/>
          <p:cNvSpPr/>
          <p:nvPr/>
        </p:nvSpPr>
        <p:spPr>
          <a:xfrm>
            <a:off x="5010912" y="3749040"/>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HowTo</a:t>
            </a:r>
            <a:endParaRPr lang="en-US" sz="1050" dirty="0"/>
          </a:p>
        </p:txBody>
      </p:sp>
      <p:sp>
        <p:nvSpPr>
          <p:cNvPr id="74" name="Text 72"/>
          <p:cNvSpPr/>
          <p:nvPr/>
        </p:nvSpPr>
        <p:spPr>
          <a:xfrm>
            <a:off x="6601968" y="3749040"/>
            <a:ext cx="1508760" cy="256032"/>
          </a:xfrm>
          <a:prstGeom prst="rect">
            <a:avLst/>
          </a:prstGeom>
          <a:noFill/>
          <a:ln/>
        </p:spPr>
        <p:txBody>
          <a:bodyPr wrap="square" lIns="0" tIns="0" rIns="0" bIns="0" rtlCol="0" anchor="ctr"/>
          <a:lstStyle/>
          <a:p>
            <a:pPr marL="0" indent="0">
              <a:buNone/>
            </a:pPr>
            <a:r>
              <a:rPr lang="en-US" sz="950" dirty="0">
                <a:solidFill>
                  <a:srgbClr val="7A8A94"/>
                </a:solidFill>
              </a:rPr>
              <a:t>Commission process</a:t>
            </a:r>
            <a:endParaRPr lang="en-US" sz="950" dirty="0"/>
          </a:p>
        </p:txBody>
      </p:sp>
      <p:sp>
        <p:nvSpPr>
          <p:cNvPr id="75" name="Shape 73"/>
          <p:cNvSpPr/>
          <p:nvPr/>
        </p:nvSpPr>
        <p:spPr>
          <a:xfrm>
            <a:off x="8138160" y="3749040"/>
            <a:ext cx="621792" cy="256032"/>
          </a:xfrm>
          <a:prstGeom prst="rect">
            <a:avLst/>
          </a:prstGeom>
          <a:solidFill>
            <a:srgbClr val="1D6E63"/>
          </a:solidFill>
          <a:ln w="12700">
            <a:solidFill>
              <a:srgbClr val="1D6E63"/>
            </a:solidFill>
            <a:prstDash val="solid"/>
          </a:ln>
        </p:spPr>
        <p:txBody>
          <a:bodyPr/>
          <a:lstStyle/>
          <a:p>
            <a:endParaRPr lang="en-US"/>
          </a:p>
        </p:txBody>
      </p:sp>
      <p:sp>
        <p:nvSpPr>
          <p:cNvPr id="76" name="Text 74"/>
          <p:cNvSpPr/>
          <p:nvPr/>
        </p:nvSpPr>
        <p:spPr>
          <a:xfrm>
            <a:off x="8138160" y="3749040"/>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Medium</a:t>
            </a:r>
            <a:endParaRPr lang="en-US" sz="850" dirty="0"/>
          </a:p>
        </p:txBody>
      </p:sp>
      <p:sp>
        <p:nvSpPr>
          <p:cNvPr id="77" name="Shape 75"/>
          <p:cNvSpPr/>
          <p:nvPr/>
        </p:nvSpPr>
        <p:spPr>
          <a:xfrm>
            <a:off x="4846320" y="4114800"/>
            <a:ext cx="3977640" cy="329184"/>
          </a:xfrm>
          <a:prstGeom prst="rect">
            <a:avLst/>
          </a:prstGeom>
          <a:solidFill>
            <a:srgbClr val="FDFAF7"/>
          </a:solidFill>
          <a:ln w="12700">
            <a:solidFill>
              <a:srgbClr val="E6DDD4"/>
            </a:solidFill>
            <a:prstDash val="solid"/>
          </a:ln>
        </p:spPr>
        <p:txBody>
          <a:bodyPr/>
          <a:lstStyle/>
          <a:p>
            <a:endParaRPr lang="en-US"/>
          </a:p>
        </p:txBody>
      </p:sp>
      <p:sp>
        <p:nvSpPr>
          <p:cNvPr id="78" name="Text 76"/>
          <p:cNvSpPr/>
          <p:nvPr/>
        </p:nvSpPr>
        <p:spPr>
          <a:xfrm>
            <a:off x="5010912" y="4151376"/>
            <a:ext cx="1554480" cy="256032"/>
          </a:xfrm>
          <a:prstGeom prst="rect">
            <a:avLst/>
          </a:prstGeom>
          <a:noFill/>
          <a:ln/>
        </p:spPr>
        <p:txBody>
          <a:bodyPr wrap="square" lIns="0" tIns="0" rIns="0" bIns="0" rtlCol="0" anchor="ctr"/>
          <a:lstStyle/>
          <a:p>
            <a:pPr marL="0" indent="0">
              <a:buNone/>
            </a:pPr>
            <a:r>
              <a:rPr lang="en-US" sz="1050" b="1" dirty="0">
                <a:solidFill>
                  <a:srgbClr val="1E2A35"/>
                </a:solidFill>
              </a:rPr>
              <a:t>BreadcrumbList</a:t>
            </a:r>
            <a:endParaRPr lang="en-US" sz="1050" dirty="0"/>
          </a:p>
        </p:txBody>
      </p:sp>
      <p:sp>
        <p:nvSpPr>
          <p:cNvPr id="79" name="Text 77"/>
          <p:cNvSpPr/>
          <p:nvPr/>
        </p:nvSpPr>
        <p:spPr>
          <a:xfrm>
            <a:off x="6601968" y="4151376"/>
            <a:ext cx="1508760" cy="256032"/>
          </a:xfrm>
          <a:prstGeom prst="rect">
            <a:avLst/>
          </a:prstGeom>
          <a:noFill/>
          <a:ln/>
        </p:spPr>
        <p:txBody>
          <a:bodyPr wrap="square" lIns="0" tIns="0" rIns="0" bIns="0" rtlCol="0" anchor="ctr"/>
          <a:lstStyle/>
          <a:p>
            <a:pPr marL="0" indent="0">
              <a:buNone/>
            </a:pPr>
            <a:r>
              <a:rPr lang="en-US" sz="950" dirty="0">
                <a:solidFill>
                  <a:srgbClr val="7A8A94"/>
                </a:solidFill>
              </a:rPr>
              <a:t>All pages</a:t>
            </a:r>
            <a:endParaRPr lang="en-US" sz="950" dirty="0"/>
          </a:p>
        </p:txBody>
      </p:sp>
      <p:sp>
        <p:nvSpPr>
          <p:cNvPr id="80" name="Shape 78"/>
          <p:cNvSpPr/>
          <p:nvPr/>
        </p:nvSpPr>
        <p:spPr>
          <a:xfrm>
            <a:off x="8138160" y="4151376"/>
            <a:ext cx="621792" cy="256032"/>
          </a:xfrm>
          <a:prstGeom prst="rect">
            <a:avLst/>
          </a:prstGeom>
          <a:solidFill>
            <a:srgbClr val="1D6E63"/>
          </a:solidFill>
          <a:ln w="12700">
            <a:solidFill>
              <a:srgbClr val="1D6E63"/>
            </a:solidFill>
            <a:prstDash val="solid"/>
          </a:ln>
        </p:spPr>
        <p:txBody>
          <a:bodyPr/>
          <a:lstStyle/>
          <a:p>
            <a:endParaRPr lang="en-US"/>
          </a:p>
        </p:txBody>
      </p:sp>
      <p:sp>
        <p:nvSpPr>
          <p:cNvPr id="81" name="Text 79"/>
          <p:cNvSpPr/>
          <p:nvPr/>
        </p:nvSpPr>
        <p:spPr>
          <a:xfrm>
            <a:off x="8138160" y="4151376"/>
            <a:ext cx="621792" cy="256032"/>
          </a:xfrm>
          <a:prstGeom prst="rect">
            <a:avLst/>
          </a:prstGeom>
          <a:noFill/>
          <a:ln/>
        </p:spPr>
        <p:txBody>
          <a:bodyPr wrap="square" lIns="0" tIns="0" rIns="0" bIns="0" rtlCol="0" anchor="ctr"/>
          <a:lstStyle/>
          <a:p>
            <a:pPr marL="0" indent="0" algn="ctr">
              <a:buNone/>
            </a:pPr>
            <a:r>
              <a:rPr lang="en-US" sz="850" b="1" dirty="0">
                <a:solidFill>
                  <a:srgbClr val="FFFFFF"/>
                </a:solidFill>
              </a:rPr>
              <a:t>Medium</a:t>
            </a:r>
            <a:endParaRPr lang="en-US" sz="850" dirty="0"/>
          </a:p>
        </p:txBody>
      </p:sp>
      <p:sp>
        <p:nvSpPr>
          <p:cNvPr id="82" name="Shape 80"/>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83" name="Text 81"/>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PLATFORM OPTIMIZATION  |  58 / 100</a:t>
            </a:r>
            <a:endParaRPr lang="en-US" sz="1900" dirty="0"/>
          </a:p>
        </p:txBody>
      </p:sp>
      <p:sp>
        <p:nvSpPr>
          <p:cNvPr id="4" name="Text 2"/>
          <p:cNvSpPr/>
          <p:nvPr/>
        </p:nvSpPr>
        <p:spPr>
          <a:xfrm>
            <a:off x="365760" y="914400"/>
            <a:ext cx="3840480" cy="274320"/>
          </a:xfrm>
          <a:prstGeom prst="rect">
            <a:avLst/>
          </a:prstGeom>
          <a:noFill/>
          <a:ln/>
        </p:spPr>
        <p:txBody>
          <a:bodyPr wrap="square" lIns="0" tIns="0" rIns="0" bIns="0" rtlCol="0" anchor="ctr"/>
          <a:lstStyle/>
          <a:p>
            <a:pPr marL="0" indent="0">
              <a:buNone/>
            </a:pPr>
            <a:r>
              <a:rPr lang="en-US" sz="1100" b="1" kern="0" spc="200" dirty="0">
                <a:solidFill>
                  <a:srgbClr val="2EB8A6"/>
                </a:solidFill>
              </a:rPr>
              <a:t>PLATFORMS ACTIVE</a:t>
            </a:r>
            <a:endParaRPr lang="en-US" sz="1100" dirty="0"/>
          </a:p>
        </p:txBody>
      </p:sp>
      <p:sp>
        <p:nvSpPr>
          <p:cNvPr id="5" name="Text 3"/>
          <p:cNvSpPr/>
          <p:nvPr/>
        </p:nvSpPr>
        <p:spPr>
          <a:xfrm>
            <a:off x="365760" y="1261872"/>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Saatchi Art — international marketplace, highly AI-indexed</a:t>
            </a:r>
            <a:endParaRPr lang="en-US" sz="1050" dirty="0"/>
          </a:p>
        </p:txBody>
      </p:sp>
      <p:sp>
        <p:nvSpPr>
          <p:cNvPr id="6" name="Text 4"/>
          <p:cNvSpPr/>
          <p:nvPr/>
        </p:nvSpPr>
        <p:spPr>
          <a:xfrm>
            <a:off x="365760" y="1600200"/>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Bluethumb — Rising Star 2024, Top 50 2025</a:t>
            </a:r>
            <a:endParaRPr lang="en-US" sz="1050" dirty="0"/>
          </a:p>
        </p:txBody>
      </p:sp>
      <p:sp>
        <p:nvSpPr>
          <p:cNvPr id="7" name="Text 5"/>
          <p:cNvSpPr/>
          <p:nvPr/>
        </p:nvSpPr>
        <p:spPr>
          <a:xfrm>
            <a:off x="365760" y="1938528"/>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Art Lovers Australia — feature interview + profile</a:t>
            </a:r>
            <a:endParaRPr lang="en-US" sz="1050" dirty="0"/>
          </a:p>
        </p:txBody>
      </p:sp>
      <p:sp>
        <p:nvSpPr>
          <p:cNvPr id="8" name="Text 6"/>
          <p:cNvSpPr/>
          <p:nvPr/>
        </p:nvSpPr>
        <p:spPr>
          <a:xfrm>
            <a:off x="365760" y="2276856"/>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Artsy Shark — 2022 featured artist (authoritative site)</a:t>
            </a:r>
            <a:endParaRPr lang="en-US" sz="1050" dirty="0"/>
          </a:p>
        </p:txBody>
      </p:sp>
      <p:sp>
        <p:nvSpPr>
          <p:cNvPr id="9" name="Text 7"/>
          <p:cNvSpPr/>
          <p:nvPr/>
        </p:nvSpPr>
        <p:spPr>
          <a:xfrm>
            <a:off x="365760" y="2615184"/>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Artist Close Up — interview profile</a:t>
            </a:r>
            <a:endParaRPr lang="en-US" sz="1050" dirty="0"/>
          </a:p>
        </p:txBody>
      </p:sp>
      <p:sp>
        <p:nvSpPr>
          <p:cNvPr id="10" name="Text 8"/>
          <p:cNvSpPr/>
          <p:nvPr/>
        </p:nvSpPr>
        <p:spPr>
          <a:xfrm>
            <a:off x="365760" y="2953512"/>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Circle Foundation for the Arts — member profile</a:t>
            </a:r>
            <a:endParaRPr lang="en-US" sz="1050" dirty="0"/>
          </a:p>
        </p:txBody>
      </p:sp>
      <p:sp>
        <p:nvSpPr>
          <p:cNvPr id="11" name="Text 9"/>
          <p:cNvSpPr/>
          <p:nvPr/>
        </p:nvSpPr>
        <p:spPr>
          <a:xfrm>
            <a:off x="365760" y="3291840"/>
            <a:ext cx="3886200" cy="310896"/>
          </a:xfrm>
          <a:prstGeom prst="rect">
            <a:avLst/>
          </a:prstGeom>
          <a:noFill/>
          <a:ln/>
        </p:spPr>
        <p:txBody>
          <a:bodyPr wrap="square" lIns="0" tIns="0" rIns="0" bIns="0" rtlCol="0" anchor="ctr"/>
          <a:lstStyle/>
          <a:p>
            <a:pPr marL="342900" indent="-342900">
              <a:buSzPct val="100000"/>
              <a:buChar char="•"/>
            </a:pPr>
            <a:r>
              <a:rPr lang="en-US" sz="1050" dirty="0">
                <a:solidFill>
                  <a:srgbClr val="1E2A35"/>
                </a:solidFill>
              </a:rPr>
              <a:t>Instagram (two accounts), Facebook, LinkedIn</a:t>
            </a:r>
            <a:endParaRPr lang="en-US" sz="1050" dirty="0"/>
          </a:p>
        </p:txBody>
      </p:sp>
      <p:sp>
        <p:nvSpPr>
          <p:cNvPr id="12" name="Shape 10"/>
          <p:cNvSpPr/>
          <p:nvPr/>
        </p:nvSpPr>
        <p:spPr>
          <a:xfrm>
            <a:off x="4572000" y="896112"/>
            <a:ext cx="36576" cy="3749040"/>
          </a:xfrm>
          <a:prstGeom prst="rect">
            <a:avLst/>
          </a:prstGeom>
          <a:solidFill>
            <a:srgbClr val="E6DDD4"/>
          </a:solidFill>
          <a:ln w="12700">
            <a:solidFill>
              <a:srgbClr val="E6DDD4"/>
            </a:solidFill>
            <a:prstDash val="solid"/>
          </a:ln>
        </p:spPr>
        <p:txBody>
          <a:bodyPr/>
          <a:lstStyle/>
          <a:p>
            <a:endParaRPr lang="en-US"/>
          </a:p>
        </p:txBody>
      </p:sp>
      <p:sp>
        <p:nvSpPr>
          <p:cNvPr id="13" name="Text 11"/>
          <p:cNvSpPr/>
          <p:nvPr/>
        </p:nvSpPr>
        <p:spPr>
          <a:xfrm>
            <a:off x="4846320" y="914400"/>
            <a:ext cx="3977640" cy="274320"/>
          </a:xfrm>
          <a:prstGeom prst="rect">
            <a:avLst/>
          </a:prstGeom>
          <a:noFill/>
          <a:ln/>
        </p:spPr>
        <p:txBody>
          <a:bodyPr wrap="square" lIns="0" tIns="0" rIns="0" bIns="0" rtlCol="0" anchor="ctr"/>
          <a:lstStyle/>
          <a:p>
            <a:pPr marL="0" indent="0">
              <a:buNone/>
            </a:pPr>
            <a:r>
              <a:rPr lang="en-US" sz="1100" b="1" kern="0" spc="200" dirty="0">
                <a:solidFill>
                  <a:srgbClr val="C94040"/>
                </a:solidFill>
              </a:rPr>
              <a:t>MISSING PLATFORMS</a:t>
            </a:r>
            <a:endParaRPr lang="en-US" sz="1100" dirty="0"/>
          </a:p>
        </p:txBody>
      </p:sp>
      <p:sp>
        <p:nvSpPr>
          <p:cNvPr id="14" name="Shape 12"/>
          <p:cNvSpPr/>
          <p:nvPr/>
        </p:nvSpPr>
        <p:spPr>
          <a:xfrm>
            <a:off x="4846320" y="1261872"/>
            <a:ext cx="3977640" cy="438912"/>
          </a:xfrm>
          <a:prstGeom prst="rect">
            <a:avLst/>
          </a:prstGeom>
          <a:solidFill>
            <a:srgbClr val="FDFAF7"/>
          </a:solidFill>
          <a:ln w="12700">
            <a:solidFill>
              <a:srgbClr val="E6DDD4"/>
            </a:solidFill>
            <a:prstDash val="solid"/>
          </a:ln>
        </p:spPr>
        <p:txBody>
          <a:bodyPr/>
          <a:lstStyle/>
          <a:p>
            <a:endParaRPr lang="en-US"/>
          </a:p>
        </p:txBody>
      </p:sp>
      <p:sp>
        <p:nvSpPr>
          <p:cNvPr id="15" name="Shape 13"/>
          <p:cNvSpPr/>
          <p:nvPr/>
        </p:nvSpPr>
        <p:spPr>
          <a:xfrm>
            <a:off x="4846320" y="1261872"/>
            <a:ext cx="64008" cy="438912"/>
          </a:xfrm>
          <a:prstGeom prst="rect">
            <a:avLst/>
          </a:prstGeom>
          <a:solidFill>
            <a:srgbClr val="C94040"/>
          </a:solidFill>
          <a:ln w="12700">
            <a:solidFill>
              <a:srgbClr val="C94040"/>
            </a:solidFill>
            <a:prstDash val="solid"/>
          </a:ln>
        </p:spPr>
        <p:txBody>
          <a:bodyPr/>
          <a:lstStyle/>
          <a:p>
            <a:endParaRPr lang="en-US"/>
          </a:p>
        </p:txBody>
      </p:sp>
      <p:sp>
        <p:nvSpPr>
          <p:cNvPr id="16" name="Text 14"/>
          <p:cNvSpPr/>
          <p:nvPr/>
        </p:nvSpPr>
        <p:spPr>
          <a:xfrm>
            <a:off x="5029200" y="1298448"/>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YouTube</a:t>
            </a:r>
            <a:endParaRPr lang="en-US" sz="1150" dirty="0"/>
          </a:p>
        </p:txBody>
      </p:sp>
      <p:sp>
        <p:nvSpPr>
          <p:cNvPr id="17" name="Text 15"/>
          <p:cNvSpPr/>
          <p:nvPr/>
        </p:nvSpPr>
        <p:spPr>
          <a:xfrm>
            <a:off x="5029200" y="1499616"/>
            <a:ext cx="3657600" cy="164592"/>
          </a:xfrm>
          <a:prstGeom prst="rect">
            <a:avLst/>
          </a:prstGeom>
          <a:noFill/>
          <a:ln/>
        </p:spPr>
        <p:txBody>
          <a:bodyPr wrap="square" lIns="0" tIns="0" rIns="0" bIns="0" rtlCol="0" anchor="ctr"/>
          <a:lstStyle/>
          <a:p>
            <a:pPr marL="0" indent="0">
              <a:buNone/>
            </a:pPr>
            <a:r>
              <a:rPr lang="en-US" sz="950" dirty="0">
                <a:solidFill>
                  <a:srgbClr val="7A8A94"/>
                </a:solidFill>
              </a:rPr>
              <a:t>High priority — art technique videos highly cited by AI</a:t>
            </a:r>
            <a:endParaRPr lang="en-US" sz="950" dirty="0"/>
          </a:p>
        </p:txBody>
      </p:sp>
      <p:sp>
        <p:nvSpPr>
          <p:cNvPr id="18" name="Shape 16"/>
          <p:cNvSpPr/>
          <p:nvPr/>
        </p:nvSpPr>
        <p:spPr>
          <a:xfrm>
            <a:off x="4846320" y="1783080"/>
            <a:ext cx="3977640" cy="438912"/>
          </a:xfrm>
          <a:prstGeom prst="rect">
            <a:avLst/>
          </a:prstGeom>
          <a:solidFill>
            <a:srgbClr val="FDFAF7"/>
          </a:solidFill>
          <a:ln w="12700">
            <a:solidFill>
              <a:srgbClr val="E6DDD4"/>
            </a:solidFill>
            <a:prstDash val="solid"/>
          </a:ln>
        </p:spPr>
        <p:txBody>
          <a:bodyPr/>
          <a:lstStyle/>
          <a:p>
            <a:endParaRPr lang="en-US"/>
          </a:p>
        </p:txBody>
      </p:sp>
      <p:sp>
        <p:nvSpPr>
          <p:cNvPr id="19" name="Shape 17"/>
          <p:cNvSpPr/>
          <p:nvPr/>
        </p:nvSpPr>
        <p:spPr>
          <a:xfrm>
            <a:off x="4846320" y="1783080"/>
            <a:ext cx="64008" cy="438912"/>
          </a:xfrm>
          <a:prstGeom prst="rect">
            <a:avLst/>
          </a:prstGeom>
          <a:solidFill>
            <a:srgbClr val="C94040"/>
          </a:solidFill>
          <a:ln w="12700">
            <a:solidFill>
              <a:srgbClr val="C94040"/>
            </a:solidFill>
            <a:prstDash val="solid"/>
          </a:ln>
        </p:spPr>
        <p:txBody>
          <a:bodyPr/>
          <a:lstStyle/>
          <a:p>
            <a:endParaRPr lang="en-US"/>
          </a:p>
        </p:txBody>
      </p:sp>
      <p:sp>
        <p:nvSpPr>
          <p:cNvPr id="20" name="Text 18"/>
          <p:cNvSpPr/>
          <p:nvPr/>
        </p:nvSpPr>
        <p:spPr>
          <a:xfrm>
            <a:off x="5029200" y="1819656"/>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Wikipedia</a:t>
            </a:r>
            <a:endParaRPr lang="en-US" sz="1150" dirty="0"/>
          </a:p>
        </p:txBody>
      </p:sp>
      <p:sp>
        <p:nvSpPr>
          <p:cNvPr id="21" name="Text 19"/>
          <p:cNvSpPr/>
          <p:nvPr/>
        </p:nvSpPr>
        <p:spPr>
          <a:xfrm>
            <a:off x="5029200" y="2020824"/>
            <a:ext cx="3657600" cy="164592"/>
          </a:xfrm>
          <a:prstGeom prst="rect">
            <a:avLst/>
          </a:prstGeom>
          <a:noFill/>
          <a:ln/>
        </p:spPr>
        <p:txBody>
          <a:bodyPr wrap="square" lIns="0" tIns="0" rIns="0" bIns="0" rtlCol="0" anchor="ctr"/>
          <a:lstStyle/>
          <a:p>
            <a:pPr marL="0" indent="0">
              <a:buNone/>
            </a:pPr>
            <a:r>
              <a:rPr lang="en-US" sz="950" dirty="0">
                <a:solidFill>
                  <a:srgbClr val="7A8A94"/>
                </a:solidFill>
              </a:rPr>
              <a:t>High priority — entity resolution for AI models</a:t>
            </a:r>
            <a:endParaRPr lang="en-US" sz="950" dirty="0"/>
          </a:p>
        </p:txBody>
      </p:sp>
      <p:sp>
        <p:nvSpPr>
          <p:cNvPr id="22" name="Shape 20"/>
          <p:cNvSpPr/>
          <p:nvPr/>
        </p:nvSpPr>
        <p:spPr>
          <a:xfrm>
            <a:off x="4846320" y="2304288"/>
            <a:ext cx="3977640" cy="438912"/>
          </a:xfrm>
          <a:prstGeom prst="rect">
            <a:avLst/>
          </a:prstGeom>
          <a:solidFill>
            <a:srgbClr val="FDFAF7"/>
          </a:solidFill>
          <a:ln w="12700">
            <a:solidFill>
              <a:srgbClr val="E6DDD4"/>
            </a:solidFill>
            <a:prstDash val="solid"/>
          </a:ln>
        </p:spPr>
        <p:txBody>
          <a:bodyPr/>
          <a:lstStyle/>
          <a:p>
            <a:endParaRPr lang="en-US"/>
          </a:p>
        </p:txBody>
      </p:sp>
      <p:sp>
        <p:nvSpPr>
          <p:cNvPr id="23" name="Shape 21"/>
          <p:cNvSpPr/>
          <p:nvPr/>
        </p:nvSpPr>
        <p:spPr>
          <a:xfrm>
            <a:off x="4846320" y="2304288"/>
            <a:ext cx="64008" cy="438912"/>
          </a:xfrm>
          <a:prstGeom prst="rect">
            <a:avLst/>
          </a:prstGeom>
          <a:solidFill>
            <a:srgbClr val="C94040"/>
          </a:solidFill>
          <a:ln w="12700">
            <a:solidFill>
              <a:srgbClr val="C94040"/>
            </a:solidFill>
            <a:prstDash val="solid"/>
          </a:ln>
        </p:spPr>
        <p:txBody>
          <a:bodyPr/>
          <a:lstStyle/>
          <a:p>
            <a:endParaRPr lang="en-US"/>
          </a:p>
        </p:txBody>
      </p:sp>
      <p:sp>
        <p:nvSpPr>
          <p:cNvPr id="24" name="Text 22"/>
          <p:cNvSpPr/>
          <p:nvPr/>
        </p:nvSpPr>
        <p:spPr>
          <a:xfrm>
            <a:off x="5029200" y="2340864"/>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Wikidata</a:t>
            </a:r>
            <a:endParaRPr lang="en-US" sz="1150" dirty="0"/>
          </a:p>
        </p:txBody>
      </p:sp>
      <p:sp>
        <p:nvSpPr>
          <p:cNvPr id="25" name="Text 23"/>
          <p:cNvSpPr/>
          <p:nvPr/>
        </p:nvSpPr>
        <p:spPr>
          <a:xfrm>
            <a:off x="5029200" y="2542032"/>
            <a:ext cx="3657600" cy="164592"/>
          </a:xfrm>
          <a:prstGeom prst="rect">
            <a:avLst/>
          </a:prstGeom>
          <a:noFill/>
          <a:ln/>
        </p:spPr>
        <p:txBody>
          <a:bodyPr wrap="square" lIns="0" tIns="0" rIns="0" bIns="0" rtlCol="0" anchor="ctr"/>
          <a:lstStyle/>
          <a:p>
            <a:pPr marL="0" indent="0">
              <a:buNone/>
            </a:pPr>
            <a:r>
              <a:rPr lang="en-US" sz="950" dirty="0">
                <a:solidFill>
                  <a:srgbClr val="7A8A94"/>
                </a:solidFill>
              </a:rPr>
              <a:t>High priority — easier than Wikipedia; sufficient for AI entity linking</a:t>
            </a:r>
            <a:endParaRPr lang="en-US" sz="950" dirty="0"/>
          </a:p>
        </p:txBody>
      </p:sp>
      <p:sp>
        <p:nvSpPr>
          <p:cNvPr id="26" name="Shape 24"/>
          <p:cNvSpPr/>
          <p:nvPr/>
        </p:nvSpPr>
        <p:spPr>
          <a:xfrm>
            <a:off x="4846320" y="2825496"/>
            <a:ext cx="3977640" cy="438912"/>
          </a:xfrm>
          <a:prstGeom prst="rect">
            <a:avLst/>
          </a:prstGeom>
          <a:solidFill>
            <a:srgbClr val="FDFAF7"/>
          </a:solidFill>
          <a:ln w="12700">
            <a:solidFill>
              <a:srgbClr val="E6DDD4"/>
            </a:solidFill>
            <a:prstDash val="solid"/>
          </a:ln>
        </p:spPr>
        <p:txBody>
          <a:bodyPr/>
          <a:lstStyle/>
          <a:p>
            <a:endParaRPr lang="en-US"/>
          </a:p>
        </p:txBody>
      </p:sp>
      <p:sp>
        <p:nvSpPr>
          <p:cNvPr id="27" name="Shape 25"/>
          <p:cNvSpPr/>
          <p:nvPr/>
        </p:nvSpPr>
        <p:spPr>
          <a:xfrm>
            <a:off x="4846320" y="2825496"/>
            <a:ext cx="64008" cy="438912"/>
          </a:xfrm>
          <a:prstGeom prst="rect">
            <a:avLst/>
          </a:prstGeom>
          <a:solidFill>
            <a:srgbClr val="D4891A"/>
          </a:solidFill>
          <a:ln w="12700">
            <a:solidFill>
              <a:srgbClr val="D4891A"/>
            </a:solidFill>
            <a:prstDash val="solid"/>
          </a:ln>
        </p:spPr>
        <p:txBody>
          <a:bodyPr/>
          <a:lstStyle/>
          <a:p>
            <a:endParaRPr lang="en-US"/>
          </a:p>
        </p:txBody>
      </p:sp>
      <p:sp>
        <p:nvSpPr>
          <p:cNvPr id="28" name="Text 26"/>
          <p:cNvSpPr/>
          <p:nvPr/>
        </p:nvSpPr>
        <p:spPr>
          <a:xfrm>
            <a:off x="5029200" y="2862072"/>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Reddit (r/AustralianArt)</a:t>
            </a:r>
            <a:endParaRPr lang="en-US" sz="1150" dirty="0"/>
          </a:p>
        </p:txBody>
      </p:sp>
      <p:sp>
        <p:nvSpPr>
          <p:cNvPr id="29" name="Text 27"/>
          <p:cNvSpPr/>
          <p:nvPr/>
        </p:nvSpPr>
        <p:spPr>
          <a:xfrm>
            <a:off x="5029200" y="3063240"/>
            <a:ext cx="3657600" cy="164592"/>
          </a:xfrm>
          <a:prstGeom prst="rect">
            <a:avLst/>
          </a:prstGeom>
          <a:noFill/>
          <a:ln/>
        </p:spPr>
        <p:txBody>
          <a:bodyPr wrap="square" lIns="0" tIns="0" rIns="0" bIns="0" rtlCol="0" anchor="ctr"/>
          <a:lstStyle/>
          <a:p>
            <a:pPr marL="0" indent="0">
              <a:buNone/>
            </a:pPr>
            <a:r>
              <a:rPr lang="en-US" sz="950" dirty="0">
                <a:solidFill>
                  <a:srgbClr val="7A8A94"/>
                </a:solidFill>
              </a:rPr>
              <a:t>No mentions found — community engagement drives organic citations</a:t>
            </a:r>
            <a:endParaRPr lang="en-US" sz="950" dirty="0"/>
          </a:p>
        </p:txBody>
      </p:sp>
      <p:sp>
        <p:nvSpPr>
          <p:cNvPr id="30" name="Shape 28"/>
          <p:cNvSpPr/>
          <p:nvPr/>
        </p:nvSpPr>
        <p:spPr>
          <a:xfrm>
            <a:off x="4846320" y="3346704"/>
            <a:ext cx="3977640" cy="438912"/>
          </a:xfrm>
          <a:prstGeom prst="rect">
            <a:avLst/>
          </a:prstGeom>
          <a:solidFill>
            <a:srgbClr val="FDFAF7"/>
          </a:solidFill>
          <a:ln w="12700">
            <a:solidFill>
              <a:srgbClr val="E6DDD4"/>
            </a:solidFill>
            <a:prstDash val="solid"/>
          </a:ln>
        </p:spPr>
        <p:txBody>
          <a:bodyPr/>
          <a:lstStyle/>
          <a:p>
            <a:endParaRPr lang="en-US"/>
          </a:p>
        </p:txBody>
      </p:sp>
      <p:sp>
        <p:nvSpPr>
          <p:cNvPr id="31" name="Shape 29"/>
          <p:cNvSpPr/>
          <p:nvPr/>
        </p:nvSpPr>
        <p:spPr>
          <a:xfrm>
            <a:off x="4846320" y="3346704"/>
            <a:ext cx="64008" cy="438912"/>
          </a:xfrm>
          <a:prstGeom prst="rect">
            <a:avLst/>
          </a:prstGeom>
          <a:solidFill>
            <a:srgbClr val="D4891A"/>
          </a:solidFill>
          <a:ln w="12700">
            <a:solidFill>
              <a:srgbClr val="D4891A"/>
            </a:solidFill>
            <a:prstDash val="solid"/>
          </a:ln>
        </p:spPr>
        <p:txBody>
          <a:bodyPr/>
          <a:lstStyle/>
          <a:p>
            <a:endParaRPr lang="en-US"/>
          </a:p>
        </p:txBody>
      </p:sp>
      <p:sp>
        <p:nvSpPr>
          <p:cNvPr id="32" name="Text 30"/>
          <p:cNvSpPr/>
          <p:nvPr/>
        </p:nvSpPr>
        <p:spPr>
          <a:xfrm>
            <a:off x="5029200" y="3383280"/>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Pinterest</a:t>
            </a:r>
            <a:endParaRPr lang="en-US" sz="1150" dirty="0"/>
          </a:p>
        </p:txBody>
      </p:sp>
      <p:sp>
        <p:nvSpPr>
          <p:cNvPr id="33" name="Text 31"/>
          <p:cNvSpPr/>
          <p:nvPr/>
        </p:nvSpPr>
        <p:spPr>
          <a:xfrm>
            <a:off x="5029200" y="3584448"/>
            <a:ext cx="3657600" cy="164592"/>
          </a:xfrm>
          <a:prstGeom prst="rect">
            <a:avLst/>
          </a:prstGeom>
          <a:noFill/>
          <a:ln/>
        </p:spPr>
        <p:txBody>
          <a:bodyPr wrap="square" lIns="0" tIns="0" rIns="0" bIns="0" rtlCol="0" anchor="ctr"/>
          <a:lstStyle/>
          <a:p>
            <a:pPr marL="0" indent="0">
              <a:buNone/>
            </a:pPr>
            <a:r>
              <a:rPr lang="en-US" sz="950" dirty="0">
                <a:solidFill>
                  <a:srgbClr val="7A8A94"/>
                </a:solidFill>
              </a:rPr>
              <a:t>Visual platform ideal for art — no confirmed presence</a:t>
            </a:r>
            <a:endParaRPr lang="en-US" sz="950" dirty="0"/>
          </a:p>
        </p:txBody>
      </p:sp>
      <p:sp>
        <p:nvSpPr>
          <p:cNvPr id="34" name="Shape 32"/>
          <p:cNvSpPr/>
          <p:nvPr/>
        </p:nvSpPr>
        <p:spPr>
          <a:xfrm>
            <a:off x="4846320" y="3867912"/>
            <a:ext cx="3977640" cy="438912"/>
          </a:xfrm>
          <a:prstGeom prst="rect">
            <a:avLst/>
          </a:prstGeom>
          <a:solidFill>
            <a:srgbClr val="FDFAF7"/>
          </a:solidFill>
          <a:ln w="12700">
            <a:solidFill>
              <a:srgbClr val="E6DDD4"/>
            </a:solidFill>
            <a:prstDash val="solid"/>
          </a:ln>
        </p:spPr>
        <p:txBody>
          <a:bodyPr/>
          <a:lstStyle/>
          <a:p>
            <a:endParaRPr lang="en-US"/>
          </a:p>
        </p:txBody>
      </p:sp>
      <p:sp>
        <p:nvSpPr>
          <p:cNvPr id="35" name="Shape 33"/>
          <p:cNvSpPr/>
          <p:nvPr/>
        </p:nvSpPr>
        <p:spPr>
          <a:xfrm>
            <a:off x="4846320" y="3867912"/>
            <a:ext cx="64008" cy="438912"/>
          </a:xfrm>
          <a:prstGeom prst="rect">
            <a:avLst/>
          </a:prstGeom>
          <a:solidFill>
            <a:srgbClr val="D4891A"/>
          </a:solidFill>
          <a:ln w="12700">
            <a:solidFill>
              <a:srgbClr val="D4891A"/>
            </a:solidFill>
            <a:prstDash val="solid"/>
          </a:ln>
        </p:spPr>
        <p:txBody>
          <a:bodyPr/>
          <a:lstStyle/>
          <a:p>
            <a:endParaRPr lang="en-US"/>
          </a:p>
        </p:txBody>
      </p:sp>
      <p:sp>
        <p:nvSpPr>
          <p:cNvPr id="36" name="Text 34"/>
          <p:cNvSpPr/>
          <p:nvPr/>
        </p:nvSpPr>
        <p:spPr>
          <a:xfrm>
            <a:off x="5029200" y="3904488"/>
            <a:ext cx="3657600" cy="219456"/>
          </a:xfrm>
          <a:prstGeom prst="rect">
            <a:avLst/>
          </a:prstGeom>
          <a:noFill/>
          <a:ln/>
        </p:spPr>
        <p:txBody>
          <a:bodyPr wrap="square" lIns="0" tIns="0" rIns="0" bIns="0" rtlCol="0" anchor="ctr"/>
          <a:lstStyle/>
          <a:p>
            <a:pPr marL="0" indent="0">
              <a:buNone/>
            </a:pPr>
            <a:r>
              <a:rPr lang="en-US" sz="1150" b="1" dirty="0">
                <a:solidFill>
                  <a:srgbClr val="1E2A35"/>
                </a:solidFill>
              </a:rPr>
              <a:t>Google Arts &amp; Culture</a:t>
            </a:r>
            <a:endParaRPr lang="en-US" sz="1150" dirty="0"/>
          </a:p>
        </p:txBody>
      </p:sp>
      <p:sp>
        <p:nvSpPr>
          <p:cNvPr id="37" name="Text 35"/>
          <p:cNvSpPr/>
          <p:nvPr/>
        </p:nvSpPr>
        <p:spPr>
          <a:xfrm>
            <a:off x="5029200" y="4105656"/>
            <a:ext cx="3657600" cy="164592"/>
          </a:xfrm>
          <a:prstGeom prst="rect">
            <a:avLst/>
          </a:prstGeom>
          <a:noFill/>
          <a:ln/>
        </p:spPr>
        <p:txBody>
          <a:bodyPr wrap="square" lIns="0" tIns="0" rIns="0" bIns="0" rtlCol="0" anchor="ctr"/>
          <a:lstStyle/>
          <a:p>
            <a:pPr marL="0" indent="0">
              <a:buNone/>
            </a:pPr>
            <a:r>
              <a:rPr lang="en-US" sz="950" dirty="0">
                <a:solidFill>
                  <a:srgbClr val="7A8A94"/>
                </a:solidFill>
              </a:rPr>
              <a:t>Not listed — institutional credibility signal</a:t>
            </a:r>
            <a:endParaRPr lang="en-US" sz="950" dirty="0"/>
          </a:p>
        </p:txBody>
      </p:sp>
      <p:sp>
        <p:nvSpPr>
          <p:cNvPr id="38" name="Shape 36"/>
          <p:cNvSpPr/>
          <p:nvPr/>
        </p:nvSpPr>
        <p:spPr>
          <a:xfrm>
            <a:off x="0" y="4937760"/>
            <a:ext cx="9144000" cy="205740"/>
          </a:xfrm>
          <a:prstGeom prst="rect">
            <a:avLst/>
          </a:prstGeom>
          <a:solidFill>
            <a:srgbClr val="E6DDD4"/>
          </a:solidFill>
          <a:ln w="12700">
            <a:solidFill>
              <a:srgbClr val="E6DDD4"/>
            </a:solidFill>
            <a:prstDash val="solid"/>
          </a:ln>
        </p:spPr>
        <p:txBody>
          <a:bodyPr/>
          <a:lstStyle/>
          <a:p>
            <a:endParaRPr lang="en-US"/>
          </a:p>
        </p:txBody>
      </p:sp>
      <p:sp>
        <p:nvSpPr>
          <p:cNvPr id="39" name="Text 37"/>
          <p:cNvSpPr/>
          <p:nvPr/>
        </p:nvSpPr>
        <p:spPr>
          <a:xfrm>
            <a:off x="365760" y="4937760"/>
            <a:ext cx="8412480" cy="205740"/>
          </a:xfrm>
          <a:prstGeom prst="rect">
            <a:avLst/>
          </a:prstGeom>
          <a:noFill/>
          <a:ln/>
        </p:spPr>
        <p:txBody>
          <a:bodyPr wrap="square" lIns="0" tIns="0" rIns="0" bIns="0" rtlCol="0" anchor="ctr"/>
          <a:lstStyle/>
          <a:p>
            <a:pPr marL="0" indent="0">
              <a:buNone/>
            </a:pPr>
            <a:r>
              <a:rPr lang="en-US" sz="900" dirty="0">
                <a:solidFill>
                  <a:srgbClr val="7A8A94"/>
                </a:solidFill>
              </a:rPr>
              <a:t>GEO Audit Report  |  Lucinda's Studio  |  18 May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1E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3A4B"/>
          </a:solidFill>
          <a:ln w="12700">
            <a:solidFill>
              <a:srgbClr val="1B3A4B"/>
            </a:solidFill>
            <a:prstDash val="solid"/>
          </a:ln>
        </p:spPr>
        <p:txBody>
          <a:bodyPr/>
          <a:lstStyle/>
          <a:p>
            <a:endParaRPr lang="en-US"/>
          </a:p>
        </p:txBody>
      </p:sp>
      <p:sp>
        <p:nvSpPr>
          <p:cNvPr id="3" name="Text 1"/>
          <p:cNvSpPr/>
          <p:nvPr/>
        </p:nvSpPr>
        <p:spPr>
          <a:xfrm>
            <a:off x="411480" y="0"/>
            <a:ext cx="8321040" cy="777240"/>
          </a:xfrm>
          <a:prstGeom prst="rect">
            <a:avLst/>
          </a:prstGeom>
          <a:noFill/>
          <a:ln/>
        </p:spPr>
        <p:txBody>
          <a:bodyPr wrap="square" lIns="0" tIns="0" rIns="0" bIns="0" rtlCol="0" anchor="ctr"/>
          <a:lstStyle/>
          <a:p>
            <a:pPr marL="0" indent="0">
              <a:buNone/>
            </a:pPr>
            <a:r>
              <a:rPr lang="en-US" sz="1900" b="1" kern="0" spc="200" dirty="0">
                <a:solidFill>
                  <a:srgbClr val="FFFFFF"/>
                </a:solidFill>
              </a:rPr>
              <a:t>RECOMMENDED NEXT STEPS</a:t>
            </a:r>
            <a:endParaRPr lang="en-US" sz="1900" dirty="0"/>
          </a:p>
        </p:txBody>
      </p:sp>
      <p:sp>
        <p:nvSpPr>
          <p:cNvPr id="4" name="Shape 2"/>
          <p:cNvSpPr/>
          <p:nvPr/>
        </p:nvSpPr>
        <p:spPr>
          <a:xfrm>
            <a:off x="274320" y="896112"/>
            <a:ext cx="2788920" cy="384048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5" name="Shape 3"/>
          <p:cNvSpPr/>
          <p:nvPr/>
        </p:nvSpPr>
        <p:spPr>
          <a:xfrm>
            <a:off x="274320" y="896112"/>
            <a:ext cx="2788920" cy="457200"/>
          </a:xfrm>
          <a:prstGeom prst="rect">
            <a:avLst/>
          </a:prstGeom>
          <a:solidFill>
            <a:srgbClr val="C94040"/>
          </a:solidFill>
          <a:ln w="12700">
            <a:solidFill>
              <a:srgbClr val="C94040"/>
            </a:solidFill>
            <a:prstDash val="solid"/>
          </a:ln>
        </p:spPr>
        <p:txBody>
          <a:bodyPr/>
          <a:lstStyle/>
          <a:p>
            <a:endParaRPr lang="en-US"/>
          </a:p>
        </p:txBody>
      </p:sp>
      <p:sp>
        <p:nvSpPr>
          <p:cNvPr id="6" name="Text 4"/>
          <p:cNvSpPr/>
          <p:nvPr/>
        </p:nvSpPr>
        <p:spPr>
          <a:xfrm>
            <a:off x="411480" y="896112"/>
            <a:ext cx="2514600" cy="457200"/>
          </a:xfrm>
          <a:prstGeom prst="rect">
            <a:avLst/>
          </a:prstGeom>
          <a:noFill/>
          <a:ln/>
        </p:spPr>
        <p:txBody>
          <a:bodyPr wrap="square" lIns="0" tIns="0" rIns="0" bIns="0" rtlCol="0" anchor="ctr"/>
          <a:lstStyle/>
          <a:p>
            <a:pPr marL="0" indent="0">
              <a:buNone/>
            </a:pPr>
            <a:r>
              <a:rPr lang="en-US" sz="1300" b="1" dirty="0">
                <a:solidFill>
                  <a:srgbClr val="FFFFFF"/>
                </a:solidFill>
              </a:rPr>
              <a:t>Week 1–2</a:t>
            </a:r>
            <a:endParaRPr lang="en-US" sz="1300" dirty="0"/>
          </a:p>
        </p:txBody>
      </p:sp>
      <p:sp>
        <p:nvSpPr>
          <p:cNvPr id="7" name="Text 5"/>
          <p:cNvSpPr/>
          <p:nvPr/>
        </p:nvSpPr>
        <p:spPr>
          <a:xfrm>
            <a:off x="438912" y="1463040"/>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Whitelist AI crawlers in security plugin (GPTBot, ClaudeBot, etc.)</a:t>
            </a:r>
            <a:endParaRPr lang="en-US" sz="1100" dirty="0"/>
          </a:p>
        </p:txBody>
      </p:sp>
      <p:sp>
        <p:nvSpPr>
          <p:cNvPr id="8" name="Text 6"/>
          <p:cNvSpPr/>
          <p:nvPr/>
        </p:nvSpPr>
        <p:spPr>
          <a:xfrm>
            <a:off x="438912" y="2121408"/>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Create /llms.txt file</a:t>
            </a:r>
            <a:endParaRPr lang="en-US" sz="1100" dirty="0"/>
          </a:p>
        </p:txBody>
      </p:sp>
      <p:sp>
        <p:nvSpPr>
          <p:cNvPr id="9" name="Text 7"/>
          <p:cNvSpPr/>
          <p:nvPr/>
        </p:nvSpPr>
        <p:spPr>
          <a:xfrm>
            <a:off x="438912" y="2779776"/>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Install Yoast or RankMath — add Person + Organization schema</a:t>
            </a:r>
            <a:endParaRPr lang="en-US" sz="1100" dirty="0"/>
          </a:p>
        </p:txBody>
      </p:sp>
      <p:sp>
        <p:nvSpPr>
          <p:cNvPr id="10" name="Text 8"/>
          <p:cNvSpPr/>
          <p:nvPr/>
        </p:nvSpPr>
        <p:spPr>
          <a:xfrm>
            <a:off x="438912" y="3438144"/>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301-redirect duplicate contact page</a:t>
            </a:r>
            <a:endParaRPr lang="en-US" sz="1100" dirty="0"/>
          </a:p>
        </p:txBody>
      </p:sp>
      <p:sp>
        <p:nvSpPr>
          <p:cNvPr id="11" name="Shape 9"/>
          <p:cNvSpPr/>
          <p:nvPr/>
        </p:nvSpPr>
        <p:spPr>
          <a:xfrm>
            <a:off x="3246120" y="896112"/>
            <a:ext cx="2788920" cy="384048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2" name="Shape 10"/>
          <p:cNvSpPr/>
          <p:nvPr/>
        </p:nvSpPr>
        <p:spPr>
          <a:xfrm>
            <a:off x="3246120" y="896112"/>
            <a:ext cx="2788920" cy="457200"/>
          </a:xfrm>
          <a:prstGeom prst="rect">
            <a:avLst/>
          </a:prstGeom>
          <a:solidFill>
            <a:srgbClr val="D4891A"/>
          </a:solidFill>
          <a:ln w="12700">
            <a:solidFill>
              <a:srgbClr val="D4891A"/>
            </a:solidFill>
            <a:prstDash val="solid"/>
          </a:ln>
        </p:spPr>
        <p:txBody>
          <a:bodyPr/>
          <a:lstStyle/>
          <a:p>
            <a:endParaRPr lang="en-US"/>
          </a:p>
        </p:txBody>
      </p:sp>
      <p:sp>
        <p:nvSpPr>
          <p:cNvPr id="13" name="Text 11"/>
          <p:cNvSpPr/>
          <p:nvPr/>
        </p:nvSpPr>
        <p:spPr>
          <a:xfrm>
            <a:off x="3383280" y="896112"/>
            <a:ext cx="2514600" cy="457200"/>
          </a:xfrm>
          <a:prstGeom prst="rect">
            <a:avLst/>
          </a:prstGeom>
          <a:noFill/>
          <a:ln/>
        </p:spPr>
        <p:txBody>
          <a:bodyPr wrap="square" lIns="0" tIns="0" rIns="0" bIns="0" rtlCol="0" anchor="ctr"/>
          <a:lstStyle/>
          <a:p>
            <a:pPr marL="0" indent="0">
              <a:buNone/>
            </a:pPr>
            <a:r>
              <a:rPr lang="en-US" sz="1300" b="1" dirty="0">
                <a:solidFill>
                  <a:srgbClr val="FFFFFF"/>
                </a:solidFill>
              </a:rPr>
              <a:t>Month 1</a:t>
            </a:r>
            <a:endParaRPr lang="en-US" sz="1300" dirty="0"/>
          </a:p>
        </p:txBody>
      </p:sp>
      <p:sp>
        <p:nvSpPr>
          <p:cNvPr id="14" name="Text 12"/>
          <p:cNvSpPr/>
          <p:nvPr/>
        </p:nvSpPr>
        <p:spPr>
          <a:xfrm>
            <a:off x="3410712" y="1463040"/>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Write Artist Statement page (500+ words, first-person, quotable)</a:t>
            </a:r>
            <a:endParaRPr lang="en-US" sz="1100" dirty="0"/>
          </a:p>
        </p:txBody>
      </p:sp>
      <p:sp>
        <p:nvSpPr>
          <p:cNvPr id="15" name="Text 13"/>
          <p:cNvSpPr/>
          <p:nvPr/>
        </p:nvSpPr>
        <p:spPr>
          <a:xfrm>
            <a:off x="3410712" y="2121408"/>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Add FAQ sections to Commission and Classes pages + FAQPage schema</a:t>
            </a:r>
            <a:endParaRPr lang="en-US" sz="1100" dirty="0"/>
          </a:p>
        </p:txBody>
      </p:sp>
      <p:sp>
        <p:nvSpPr>
          <p:cNvPr id="16" name="Text 14"/>
          <p:cNvSpPr/>
          <p:nvPr/>
        </p:nvSpPr>
        <p:spPr>
          <a:xfrm>
            <a:off x="3410712" y="2779776"/>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Set up domain email (Google Workspace)</a:t>
            </a:r>
            <a:endParaRPr lang="en-US" sz="1100" dirty="0"/>
          </a:p>
        </p:txBody>
      </p:sp>
      <p:sp>
        <p:nvSpPr>
          <p:cNvPr id="17" name="Text 15"/>
          <p:cNvSpPr/>
          <p:nvPr/>
        </p:nvSpPr>
        <p:spPr>
          <a:xfrm>
            <a:off x="3410712" y="3438144"/>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Expand LinkedIn profile — full bio, awards, Netflix mention</a:t>
            </a:r>
            <a:endParaRPr lang="en-US" sz="1100" dirty="0"/>
          </a:p>
        </p:txBody>
      </p:sp>
      <p:sp>
        <p:nvSpPr>
          <p:cNvPr id="18" name="Shape 16"/>
          <p:cNvSpPr/>
          <p:nvPr/>
        </p:nvSpPr>
        <p:spPr>
          <a:xfrm>
            <a:off x="6217920" y="896112"/>
            <a:ext cx="2788920" cy="3840480"/>
          </a:xfrm>
          <a:prstGeom prst="rect">
            <a:avLst/>
          </a:prstGeom>
          <a:solidFill>
            <a:srgbClr val="FDFAF7"/>
          </a:solidFill>
          <a:ln w="12700">
            <a:solidFill>
              <a:srgbClr val="E6DDD4"/>
            </a:solidFill>
            <a:prstDash val="solid"/>
          </a:ln>
          <a:effectLst>
            <a:outerShdw blurRad="101600" dist="38100" dir="8100000" algn="bl" rotWithShape="0">
              <a:srgbClr val="000000">
                <a:alpha val="10000"/>
              </a:srgbClr>
            </a:outerShdw>
          </a:effectLst>
        </p:spPr>
        <p:txBody>
          <a:bodyPr/>
          <a:lstStyle/>
          <a:p>
            <a:endParaRPr lang="en-US"/>
          </a:p>
        </p:txBody>
      </p:sp>
      <p:sp>
        <p:nvSpPr>
          <p:cNvPr id="19" name="Shape 17"/>
          <p:cNvSpPr/>
          <p:nvPr/>
        </p:nvSpPr>
        <p:spPr>
          <a:xfrm>
            <a:off x="6217920" y="896112"/>
            <a:ext cx="2788920" cy="457200"/>
          </a:xfrm>
          <a:prstGeom prst="rect">
            <a:avLst/>
          </a:prstGeom>
          <a:solidFill>
            <a:srgbClr val="1D6E63"/>
          </a:solidFill>
          <a:ln w="12700">
            <a:solidFill>
              <a:srgbClr val="1D6E63"/>
            </a:solidFill>
            <a:prstDash val="solid"/>
          </a:ln>
        </p:spPr>
        <p:txBody>
          <a:bodyPr/>
          <a:lstStyle/>
          <a:p>
            <a:endParaRPr lang="en-US"/>
          </a:p>
        </p:txBody>
      </p:sp>
      <p:sp>
        <p:nvSpPr>
          <p:cNvPr id="20" name="Text 18"/>
          <p:cNvSpPr/>
          <p:nvPr/>
        </p:nvSpPr>
        <p:spPr>
          <a:xfrm>
            <a:off x="6355080" y="896112"/>
            <a:ext cx="2514600" cy="457200"/>
          </a:xfrm>
          <a:prstGeom prst="rect">
            <a:avLst/>
          </a:prstGeom>
          <a:noFill/>
          <a:ln/>
        </p:spPr>
        <p:txBody>
          <a:bodyPr wrap="square" lIns="0" tIns="0" rIns="0" bIns="0" rtlCol="0" anchor="ctr"/>
          <a:lstStyle/>
          <a:p>
            <a:pPr marL="0" indent="0">
              <a:buNone/>
            </a:pPr>
            <a:r>
              <a:rPr lang="en-US" sz="1300" b="1" dirty="0">
                <a:solidFill>
                  <a:srgbClr val="FFFFFF"/>
                </a:solidFill>
              </a:rPr>
              <a:t>Month 2–3</a:t>
            </a:r>
            <a:endParaRPr lang="en-US" sz="1300" dirty="0"/>
          </a:p>
        </p:txBody>
      </p:sp>
      <p:sp>
        <p:nvSpPr>
          <p:cNvPr id="21" name="Text 19"/>
          <p:cNvSpPr/>
          <p:nvPr/>
        </p:nvSpPr>
        <p:spPr>
          <a:xfrm>
            <a:off x="6382512" y="1463040"/>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Create Wikidata entity for Lucinda Leveille</a:t>
            </a:r>
            <a:endParaRPr lang="en-US" sz="1100" dirty="0"/>
          </a:p>
        </p:txBody>
      </p:sp>
      <p:sp>
        <p:nvSpPr>
          <p:cNvPr id="22" name="Text 20"/>
          <p:cNvSpPr/>
          <p:nvPr/>
        </p:nvSpPr>
        <p:spPr>
          <a:xfrm>
            <a:off x="6382512" y="2121408"/>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Launch YouTube channel — 3 short painting/studio videos</a:t>
            </a:r>
            <a:endParaRPr lang="en-US" sz="1100" dirty="0"/>
          </a:p>
        </p:txBody>
      </p:sp>
      <p:sp>
        <p:nvSpPr>
          <p:cNvPr id="23" name="Text 21"/>
          <p:cNvSpPr/>
          <p:nvPr/>
        </p:nvSpPr>
        <p:spPr>
          <a:xfrm>
            <a:off x="6382512" y="2779776"/>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Consolidate to one Instagram account</a:t>
            </a:r>
            <a:endParaRPr lang="en-US" sz="1100" dirty="0"/>
          </a:p>
        </p:txBody>
      </p:sp>
      <p:sp>
        <p:nvSpPr>
          <p:cNvPr id="24" name="Text 22"/>
          <p:cNvSpPr/>
          <p:nvPr/>
        </p:nvSpPr>
        <p:spPr>
          <a:xfrm>
            <a:off x="6382512" y="3438144"/>
            <a:ext cx="2468880" cy="594360"/>
          </a:xfrm>
          <a:prstGeom prst="rect">
            <a:avLst/>
          </a:prstGeom>
          <a:noFill/>
          <a:ln/>
        </p:spPr>
        <p:txBody>
          <a:bodyPr wrap="square" lIns="0" tIns="0" rIns="0" bIns="0" rtlCol="0" anchor="ctr"/>
          <a:lstStyle/>
          <a:p>
            <a:pPr marL="342900" indent="-342900">
              <a:buSzPct val="100000"/>
              <a:buChar char="•"/>
            </a:pPr>
            <a:r>
              <a:rPr lang="en-US" sz="1100" dirty="0">
                <a:solidFill>
                  <a:srgbClr val="1E2A35"/>
                </a:solidFill>
              </a:rPr>
              <a:t>Publish first SEO/GEO-targeted blog post</a:t>
            </a:r>
            <a:endParaRPr lang="en-US" sz="1100" dirty="0"/>
          </a:p>
        </p:txBody>
      </p:sp>
      <p:sp>
        <p:nvSpPr>
          <p:cNvPr id="25" name="Shape 23"/>
          <p:cNvSpPr/>
          <p:nvPr/>
        </p:nvSpPr>
        <p:spPr>
          <a:xfrm>
            <a:off x="274320" y="4754880"/>
            <a:ext cx="8595360" cy="219456"/>
          </a:xfrm>
          <a:prstGeom prst="rect">
            <a:avLst/>
          </a:prstGeom>
          <a:solidFill>
            <a:srgbClr val="E6DDD4"/>
          </a:solidFill>
          <a:ln w="12700">
            <a:solidFill>
              <a:srgbClr val="E6DDD4"/>
            </a:solidFill>
            <a:prstDash val="solid"/>
          </a:ln>
        </p:spPr>
        <p:txBody>
          <a:bodyPr/>
          <a:lstStyle/>
          <a:p>
            <a:endParaRPr lang="en-US"/>
          </a:p>
        </p:txBody>
      </p:sp>
      <p:sp>
        <p:nvSpPr>
          <p:cNvPr id="26" name="Text 24"/>
          <p:cNvSpPr/>
          <p:nvPr/>
        </p:nvSpPr>
        <p:spPr>
          <a:xfrm>
            <a:off x="457200" y="4754880"/>
            <a:ext cx="8229600" cy="219456"/>
          </a:xfrm>
          <a:prstGeom prst="rect">
            <a:avLst/>
          </a:prstGeom>
          <a:noFill/>
          <a:ln/>
        </p:spPr>
        <p:txBody>
          <a:bodyPr wrap="square" lIns="0" tIns="0" rIns="0" bIns="0" rtlCol="0" anchor="ctr"/>
          <a:lstStyle/>
          <a:p>
            <a:pPr marL="0" indent="0">
              <a:buNone/>
            </a:pPr>
            <a:r>
              <a:rPr lang="en-US" sz="950" i="1" dirty="0">
                <a:solidFill>
                  <a:srgbClr val="7A8A94"/>
                </a:solidFill>
              </a:rPr>
              <a:t>Resolving the HTTP 403 crawler block alone could unlock indexing by all major AI training and retrieval systems — it is the single highest-leverage fix.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1948</Words>
  <Application>Microsoft Macintosh PowerPoint</Application>
  <PresentationFormat>On-screen Show (16:9)</PresentationFormat>
  <Paragraphs>258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 Audit Report – Lucinda's Studio</dc:title>
  <dc:subject>PptxGenJS Presentation</dc:subject>
  <dc:creator>PptxGenJS</dc:creator>
  <cp:lastModifiedBy>Harry Simpson</cp:lastModifiedBy>
  <cp:revision>2</cp:revision>
  <dcterms:created xsi:type="dcterms:W3CDTF">2026-05-18T13:56:00Z</dcterms:created>
  <dcterms:modified xsi:type="dcterms:W3CDTF">2026-05-19T02:30:23Z</dcterms:modified>
</cp:coreProperties>
</file>