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891B2"/>
          </a:solidFill>
          <a:ln/>
        </p:spPr>
      </p:sp>
      <p:sp>
        <p:nvSpPr>
          <p:cNvPr id="3" name="Shape 1"/>
          <p:cNvSpPr/>
          <p:nvPr/>
        </p:nvSpPr>
        <p:spPr>
          <a:xfrm>
            <a:off x="0" y="64008"/>
            <a:ext cx="320040" cy="5079492"/>
          </a:xfrm>
          <a:prstGeom prst="rect">
            <a:avLst/>
          </a:prstGeom>
          <a:solidFill>
            <a:srgbClr val="1A2D5A"/>
          </a:solidFill>
          <a:ln/>
        </p:spPr>
      </p:sp>
      <p:sp>
        <p:nvSpPr>
          <p:cNvPr id="4" name="Text 2"/>
          <p:cNvSpPr/>
          <p:nvPr/>
        </p:nvSpPr>
        <p:spPr>
          <a:xfrm>
            <a:off x="594360" y="1005840"/>
            <a:ext cx="8229600" cy="347472"/>
          </a:xfrm>
          <a:prstGeom prst="rect">
            <a:avLst/>
          </a:prstGeom>
          <a:noFill/>
          <a:ln/>
        </p:spPr>
        <p:txBody>
          <a:bodyPr wrap="square" lIns="0" tIns="0" rIns="0" bIns="0" rtlCol="0" anchor="ctr"/>
          <a:lstStyle/>
          <a:p>
            <a:pPr indent="0" marL="0">
              <a:buNone/>
            </a:pPr>
            <a:r>
              <a:rPr lang="en-US" sz="1050" b="1" spc="500" kern="0" dirty="0">
                <a:solidFill>
                  <a:srgbClr val="0891B2"/>
                </a:solidFill>
              </a:rPr>
              <a:t>GEO AUDIT REPORT</a:t>
            </a:r>
            <a:endParaRPr lang="en-US" sz="1050" dirty="0"/>
          </a:p>
        </p:txBody>
      </p:sp>
      <p:sp>
        <p:nvSpPr>
          <p:cNvPr id="5" name="Text 3"/>
          <p:cNvSpPr/>
          <p:nvPr/>
        </p:nvSpPr>
        <p:spPr>
          <a:xfrm>
            <a:off x="594360" y="1417320"/>
            <a:ext cx="7772400" cy="1417320"/>
          </a:xfrm>
          <a:prstGeom prst="rect">
            <a:avLst/>
          </a:prstGeom>
          <a:noFill/>
          <a:ln/>
        </p:spPr>
        <p:txBody>
          <a:bodyPr wrap="square" lIns="0" tIns="0" rIns="0" bIns="0" rtlCol="0" anchor="ctr"/>
          <a:lstStyle/>
          <a:p>
            <a:pPr algn="l" indent="0" marL="0">
              <a:buNone/>
            </a:pPr>
            <a:r>
              <a:rPr lang="en-US" sz="3800" b="1" dirty="0">
                <a:solidFill>
                  <a:srgbClr val="FFFFFF"/>
                </a:solidFill>
              </a:rPr>
              <a:t>Rohnees Electricals</a:t>
            </a:r>
            <a:endParaRPr lang="en-US" sz="3800" dirty="0"/>
          </a:p>
          <a:p>
            <a:pPr algn="l" indent="0" marL="0">
              <a:buNone/>
            </a:pPr>
            <a:r>
              <a:rPr lang="en-US" sz="3800" b="1" dirty="0">
                <a:solidFill>
                  <a:srgbClr val="FFFFFF"/>
                </a:solidFill>
              </a:rPr>
              <a:t>PTY LTD</a:t>
            </a:r>
            <a:endParaRPr lang="en-US" sz="3800" dirty="0"/>
          </a:p>
        </p:txBody>
      </p:sp>
      <p:sp>
        <p:nvSpPr>
          <p:cNvPr id="6" name="Shape 4"/>
          <p:cNvSpPr/>
          <p:nvPr/>
        </p:nvSpPr>
        <p:spPr>
          <a:xfrm>
            <a:off x="594360" y="2971800"/>
            <a:ext cx="2743200" cy="1371600"/>
          </a:xfrm>
          <a:prstGeom prst="rect">
            <a:avLst/>
          </a:prstGeom>
          <a:solidFill>
            <a:srgbClr val="DC2626"/>
          </a:solidFill>
          <a:ln/>
        </p:spPr>
      </p:sp>
      <p:sp>
        <p:nvSpPr>
          <p:cNvPr id="7" name="Text 5"/>
          <p:cNvSpPr/>
          <p:nvPr/>
        </p:nvSpPr>
        <p:spPr>
          <a:xfrm>
            <a:off x="594360" y="3017520"/>
            <a:ext cx="2743200" cy="777240"/>
          </a:xfrm>
          <a:prstGeom prst="rect">
            <a:avLst/>
          </a:prstGeom>
          <a:noFill/>
          <a:ln/>
        </p:spPr>
        <p:txBody>
          <a:bodyPr wrap="square" lIns="0" tIns="0" rIns="0" bIns="0" rtlCol="0" anchor="b"/>
          <a:lstStyle/>
          <a:p>
            <a:pPr algn="ctr" indent="0" marL="0">
              <a:buNone/>
            </a:pPr>
            <a:r>
              <a:rPr lang="en-US" sz="5600" b="1" dirty="0">
                <a:solidFill>
                  <a:srgbClr val="FFFFFF"/>
                </a:solidFill>
              </a:rPr>
              <a:t>23</a:t>
            </a:r>
            <a:endParaRPr lang="en-US" sz="5600" dirty="0"/>
          </a:p>
        </p:txBody>
      </p:sp>
      <p:sp>
        <p:nvSpPr>
          <p:cNvPr id="8" name="Text 6"/>
          <p:cNvSpPr/>
          <p:nvPr/>
        </p:nvSpPr>
        <p:spPr>
          <a:xfrm>
            <a:off x="594360" y="3794760"/>
            <a:ext cx="2743200" cy="384048"/>
          </a:xfrm>
          <a:prstGeom prst="rect">
            <a:avLst/>
          </a:prstGeom>
          <a:noFill/>
          <a:ln/>
        </p:spPr>
        <p:txBody>
          <a:bodyPr wrap="square" lIns="0" tIns="0" rIns="0" bIns="0" rtlCol="0" anchor="ctr"/>
          <a:lstStyle/>
          <a:p>
            <a:pPr algn="ctr" indent="0" marL="0">
              <a:buNone/>
            </a:pPr>
            <a:r>
              <a:rPr lang="en-US" sz="950" b="1" spc="100" kern="0" dirty="0">
                <a:solidFill>
                  <a:srgbClr val="FFFFFF"/>
                </a:solidFill>
              </a:rPr>
              <a:t>OUT OF 100  ·  CRITICAL</a:t>
            </a:r>
            <a:endParaRPr lang="en-US" sz="950" dirty="0"/>
          </a:p>
        </p:txBody>
      </p:sp>
      <p:sp>
        <p:nvSpPr>
          <p:cNvPr id="9" name="Text 7"/>
          <p:cNvSpPr/>
          <p:nvPr/>
        </p:nvSpPr>
        <p:spPr>
          <a:xfrm>
            <a:off x="594360" y="4434840"/>
            <a:ext cx="8229600" cy="274320"/>
          </a:xfrm>
          <a:prstGeom prst="rect">
            <a:avLst/>
          </a:prstGeom>
          <a:noFill/>
          <a:ln/>
        </p:spPr>
        <p:txBody>
          <a:bodyPr wrap="square" lIns="0" tIns="0" rIns="0" bIns="0" rtlCol="0" anchor="ctr"/>
          <a:lstStyle/>
          <a:p>
            <a:pPr indent="0" marL="0">
              <a:buNone/>
            </a:pPr>
            <a:r>
              <a:rPr lang="en-US" sz="950" b="1" dirty="0">
                <a:solidFill>
                  <a:srgbClr val="94A3B8"/>
                </a:solidFill>
              </a:rPr>
              <a:t>Audit Date:  </a:t>
            </a:r>
            <a:pPr indent="0" marL="0">
              <a:buNone/>
            </a:pPr>
            <a:r>
              <a:rPr lang="en-US" sz="950" dirty="0">
                <a:solidFill>
                  <a:srgbClr val="94A3B8"/>
                </a:solidFill>
              </a:rPr>
              <a:t>20 May 2026</a:t>
            </a:r>
            <a:pPr indent="0" marL="0">
              <a:buNone/>
            </a:pPr>
            <a:r>
              <a:rPr lang="en-US" sz="950" dirty="0">
                <a:solidFill>
                  <a:srgbClr val="94A3B8"/>
                </a:solidFill>
              </a:rPr>
              <a:t>     ·     </a:t>
            </a:r>
            <a:pPr indent="0" marL="0">
              <a:buNone/>
            </a:pPr>
            <a:r>
              <a:rPr lang="en-US" sz="950" b="1" dirty="0">
                <a:solidFill>
                  <a:srgbClr val="94A3B8"/>
                </a:solidFill>
              </a:rPr>
              <a:t>URL:  </a:t>
            </a:r>
            <a:pPr indent="0" marL="0">
              <a:buNone/>
            </a:pPr>
            <a:r>
              <a:rPr lang="en-US" sz="950" dirty="0">
                <a:solidFill>
                  <a:srgbClr val="94A3B8"/>
                </a:solidFill>
              </a:rPr>
              <a:t>rohneeselectricals.com.au</a:t>
            </a:r>
            <a:pPr indent="0" marL="0">
              <a:buNone/>
            </a:pPr>
            <a:r>
              <a:rPr lang="en-US" sz="950" dirty="0">
                <a:solidFill>
                  <a:srgbClr val="94A3B8"/>
                </a:solidFill>
              </a:rPr>
              <a:t>     ·     </a:t>
            </a:r>
            <a:pPr indent="0" marL="0">
              <a:buNone/>
            </a:pPr>
            <a:r>
              <a:rPr lang="en-US" sz="950" b="1" dirty="0">
                <a:solidFill>
                  <a:srgbClr val="94A3B8"/>
                </a:solidFill>
              </a:rPr>
              <a:t>Pages analysed:  </a:t>
            </a:r>
            <a:pPr indent="0" marL="0">
              <a:buNone/>
            </a:pPr>
            <a:r>
              <a:rPr lang="en-US" sz="950" dirty="0">
                <a:solidFill>
                  <a:srgbClr val="94A3B8"/>
                </a:solidFill>
              </a:rPr>
              <a:t>11</a:t>
            </a:r>
            <a:endParaRPr lang="en-US" sz="950" dirty="0"/>
          </a:p>
        </p:txBody>
      </p:sp>
      <p:sp>
        <p:nvSpPr>
          <p:cNvPr id="10" name="Shape 8"/>
          <p:cNvSpPr/>
          <p:nvPr/>
        </p:nvSpPr>
        <p:spPr>
          <a:xfrm>
            <a:off x="0" y="4892040"/>
            <a:ext cx="9144000" cy="251460"/>
          </a:xfrm>
          <a:prstGeom prst="rect">
            <a:avLst/>
          </a:prstGeom>
          <a:solidFill>
            <a:srgbClr val="1A2D5A"/>
          </a:solidFill>
          <a:ln/>
        </p:spPr>
      </p:sp>
      <p:sp>
        <p:nvSpPr>
          <p:cNvPr id="11" name="Text 9"/>
          <p:cNvSpPr/>
          <p:nvPr/>
        </p:nvSpPr>
        <p:spPr>
          <a:xfrm>
            <a:off x="0" y="4892040"/>
            <a:ext cx="9144000" cy="251460"/>
          </a:xfrm>
          <a:prstGeom prst="rect">
            <a:avLst/>
          </a:prstGeom>
          <a:noFill/>
          <a:ln/>
        </p:spPr>
        <p:txBody>
          <a:bodyPr wrap="square" lIns="0" tIns="0" rIns="0" bIns="0" rtlCol="0" anchor="ctr"/>
          <a:lstStyle/>
          <a:p>
            <a:pPr algn="ctr" indent="0" marL="0">
              <a:buNone/>
            </a:pPr>
            <a:r>
              <a:rPr lang="en-US" sz="900" dirty="0">
                <a:solidFill>
                  <a:srgbClr val="5D7A9E"/>
                </a:solidFill>
              </a:rPr>
              <a:t>Macquarie Fields, NSW 2564  ·  South West Sydney  ·  Local Electrical Contractor  ·  ABN 53 162 220 680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86868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EXECUTIVE SUMMARY</a:t>
            </a:r>
            <a:endParaRPr lang="en-US" sz="1300" dirty="0"/>
          </a:p>
        </p:txBody>
      </p:sp>
      <p:sp>
        <p:nvSpPr>
          <p:cNvPr id="4" name="Text 2"/>
          <p:cNvSpPr/>
          <p:nvPr/>
        </p:nvSpPr>
        <p:spPr>
          <a:xfrm>
            <a:off x="411480" y="749808"/>
            <a:ext cx="8321040" cy="384048"/>
          </a:xfrm>
          <a:prstGeom prst="rect">
            <a:avLst/>
          </a:prstGeom>
          <a:noFill/>
          <a:ln/>
        </p:spPr>
        <p:txBody>
          <a:bodyPr wrap="square" lIns="0" tIns="0" rIns="0" bIns="0" rtlCol="0" anchor="ctr"/>
          <a:lstStyle/>
          <a:p>
            <a:pPr indent="0" marL="0">
              <a:buNone/>
            </a:pPr>
            <a:r>
              <a:rPr lang="en-US" sz="1800" b="1" dirty="0">
                <a:solidFill>
                  <a:srgbClr val="1E293B"/>
                </a:solidFill>
              </a:rPr>
              <a:t>The Gap Between Real-World Credibility and AI Visibility</a:t>
            </a:r>
            <a:endParaRPr lang="en-US" sz="1800" dirty="0"/>
          </a:p>
        </p:txBody>
      </p:sp>
      <p:sp>
        <p:nvSpPr>
          <p:cNvPr id="5" name="Text 3"/>
          <p:cNvSpPr/>
          <p:nvPr/>
        </p:nvSpPr>
        <p:spPr>
          <a:xfrm>
            <a:off x="411480" y="1197864"/>
            <a:ext cx="8321040" cy="1005840"/>
          </a:xfrm>
          <a:prstGeom prst="rect">
            <a:avLst/>
          </a:prstGeom>
          <a:noFill/>
          <a:ln/>
        </p:spPr>
        <p:txBody>
          <a:bodyPr wrap="square" lIns="0" tIns="0" rIns="0" bIns="0" rtlCol="0" anchor="ctr"/>
          <a:lstStyle/>
          <a:p>
            <a:pPr algn="l" indent="0" marL="0">
              <a:buNone/>
            </a:pPr>
            <a:r>
              <a:rPr lang="en-US" sz="1150" dirty="0">
                <a:solidFill>
                  <a:srgbClr val="475569"/>
                </a:solidFill>
              </a:rPr>
              <a:t>Rohnees Electricals is a legitimate, licensed, 15-year-old electrical contractor with verified registration (ABN 53 162 220 680), trade directory presence across 8+ Australian platforms, and genuine customer reviews averaging 4.4/5. Almost none of these assets are visible to AI systems. The site has zero schema markup, no llms.txt, no meta descriptions, two placeholder service pages, and content so thin that AI models cannot extract a single citable passage.</a:t>
            </a:r>
            <a:endParaRPr lang="en-US" sz="1150" dirty="0"/>
          </a:p>
        </p:txBody>
      </p:sp>
      <p:sp>
        <p:nvSpPr>
          <p:cNvPr id="6" name="Shape 4"/>
          <p:cNvSpPr/>
          <p:nvPr/>
        </p:nvSpPr>
        <p:spPr>
          <a:xfrm>
            <a:off x="274320" y="2331720"/>
            <a:ext cx="2011680" cy="15087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7" name="Shape 5"/>
          <p:cNvSpPr/>
          <p:nvPr/>
        </p:nvSpPr>
        <p:spPr>
          <a:xfrm>
            <a:off x="274320" y="2331720"/>
            <a:ext cx="2011680" cy="54864"/>
          </a:xfrm>
          <a:prstGeom prst="rect">
            <a:avLst/>
          </a:prstGeom>
          <a:solidFill>
            <a:srgbClr val="DC2626"/>
          </a:solidFill>
          <a:ln/>
        </p:spPr>
      </p:sp>
      <p:sp>
        <p:nvSpPr>
          <p:cNvPr id="8" name="Text 6"/>
          <p:cNvSpPr/>
          <p:nvPr/>
        </p:nvSpPr>
        <p:spPr>
          <a:xfrm>
            <a:off x="274320" y="2496312"/>
            <a:ext cx="2011680" cy="640080"/>
          </a:xfrm>
          <a:prstGeom prst="rect">
            <a:avLst/>
          </a:prstGeom>
          <a:noFill/>
          <a:ln/>
        </p:spPr>
        <p:txBody>
          <a:bodyPr wrap="square" lIns="0" tIns="0" rIns="0" bIns="0" rtlCol="0" anchor="ctr"/>
          <a:lstStyle/>
          <a:p>
            <a:pPr algn="ctr" indent="0" marL="0">
              <a:buNone/>
            </a:pPr>
            <a:r>
              <a:rPr lang="en-US" sz="3400" b="1" dirty="0">
                <a:solidFill>
                  <a:srgbClr val="DC2626"/>
                </a:solidFill>
              </a:rPr>
              <a:t>0</a:t>
            </a:r>
            <a:endParaRPr lang="en-US" sz="3400" dirty="0"/>
          </a:p>
        </p:txBody>
      </p:sp>
      <p:sp>
        <p:nvSpPr>
          <p:cNvPr id="9" name="Text 7"/>
          <p:cNvSpPr/>
          <p:nvPr/>
        </p:nvSpPr>
        <p:spPr>
          <a:xfrm>
            <a:off x="274320" y="3154680"/>
            <a:ext cx="2011680" cy="347472"/>
          </a:xfrm>
          <a:prstGeom prst="rect">
            <a:avLst/>
          </a:prstGeom>
          <a:noFill/>
          <a:ln/>
        </p:spPr>
        <p:txBody>
          <a:bodyPr wrap="square" lIns="0" tIns="0" rIns="0" bIns="0" rtlCol="0" anchor="ctr"/>
          <a:lstStyle/>
          <a:p>
            <a:pPr algn="ctr" indent="0" marL="0">
              <a:buNone/>
            </a:pPr>
            <a:r>
              <a:rPr lang="en-US" sz="950" b="1" dirty="0">
                <a:solidFill>
                  <a:srgbClr val="1E293B"/>
                </a:solidFill>
              </a:rPr>
              <a:t>Schema Markup</a:t>
            </a:r>
            <a:endParaRPr lang="en-US" sz="950" dirty="0"/>
          </a:p>
        </p:txBody>
      </p:sp>
      <p:sp>
        <p:nvSpPr>
          <p:cNvPr id="10" name="Text 8"/>
          <p:cNvSpPr/>
          <p:nvPr/>
        </p:nvSpPr>
        <p:spPr>
          <a:xfrm>
            <a:off x="274320" y="3483864"/>
            <a:ext cx="2011680" cy="274320"/>
          </a:xfrm>
          <a:prstGeom prst="rect">
            <a:avLst/>
          </a:prstGeom>
          <a:noFill/>
          <a:ln/>
        </p:spPr>
        <p:txBody>
          <a:bodyPr wrap="square" lIns="0" tIns="0" rIns="0" bIns="0" rtlCol="0" anchor="ctr"/>
          <a:lstStyle/>
          <a:p>
            <a:pPr algn="ctr" indent="0" marL="0">
              <a:buNone/>
            </a:pPr>
            <a:r>
              <a:rPr lang="en-US" sz="850" dirty="0">
                <a:solidFill>
                  <a:srgbClr val="475569"/>
                </a:solidFill>
              </a:rPr>
              <a:t>Across all 11 pages</a:t>
            </a:r>
            <a:endParaRPr lang="en-US" sz="850" dirty="0"/>
          </a:p>
        </p:txBody>
      </p:sp>
      <p:sp>
        <p:nvSpPr>
          <p:cNvPr id="11" name="Shape 9"/>
          <p:cNvSpPr/>
          <p:nvPr/>
        </p:nvSpPr>
        <p:spPr>
          <a:xfrm>
            <a:off x="2450592" y="2331720"/>
            <a:ext cx="2011680" cy="15087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2" name="Shape 10"/>
          <p:cNvSpPr/>
          <p:nvPr/>
        </p:nvSpPr>
        <p:spPr>
          <a:xfrm>
            <a:off x="2450592" y="2331720"/>
            <a:ext cx="2011680" cy="54864"/>
          </a:xfrm>
          <a:prstGeom prst="rect">
            <a:avLst/>
          </a:prstGeom>
          <a:solidFill>
            <a:srgbClr val="D97706"/>
          </a:solidFill>
          <a:ln/>
        </p:spPr>
      </p:sp>
      <p:sp>
        <p:nvSpPr>
          <p:cNvPr id="13" name="Text 11"/>
          <p:cNvSpPr/>
          <p:nvPr/>
        </p:nvSpPr>
        <p:spPr>
          <a:xfrm>
            <a:off x="2450592" y="2496312"/>
            <a:ext cx="2011680" cy="640080"/>
          </a:xfrm>
          <a:prstGeom prst="rect">
            <a:avLst/>
          </a:prstGeom>
          <a:noFill/>
          <a:ln/>
        </p:spPr>
        <p:txBody>
          <a:bodyPr wrap="square" lIns="0" tIns="0" rIns="0" bIns="0" rtlCol="0" anchor="ctr"/>
          <a:lstStyle/>
          <a:p>
            <a:pPr algn="ctr" indent="0" marL="0">
              <a:buNone/>
            </a:pPr>
            <a:r>
              <a:rPr lang="en-US" sz="3400" b="1" dirty="0">
                <a:solidFill>
                  <a:srgbClr val="D97706"/>
                </a:solidFill>
              </a:rPr>
              <a:t>~16</a:t>
            </a:r>
            <a:endParaRPr lang="en-US" sz="3400" dirty="0"/>
          </a:p>
        </p:txBody>
      </p:sp>
      <p:sp>
        <p:nvSpPr>
          <p:cNvPr id="14" name="Text 12"/>
          <p:cNvSpPr/>
          <p:nvPr/>
        </p:nvSpPr>
        <p:spPr>
          <a:xfrm>
            <a:off x="2450592" y="3154680"/>
            <a:ext cx="2011680" cy="347472"/>
          </a:xfrm>
          <a:prstGeom prst="rect">
            <a:avLst/>
          </a:prstGeom>
          <a:noFill/>
          <a:ln/>
        </p:spPr>
        <p:txBody>
          <a:bodyPr wrap="square" lIns="0" tIns="0" rIns="0" bIns="0" rtlCol="0" anchor="ctr"/>
          <a:lstStyle/>
          <a:p>
            <a:pPr algn="ctr" indent="0" marL="0">
              <a:buNone/>
            </a:pPr>
            <a:r>
              <a:rPr lang="en-US" sz="950" b="1" dirty="0">
                <a:solidFill>
                  <a:srgbClr val="1E293B"/>
                </a:solidFill>
              </a:rPr>
              <a:t>Review Volume</a:t>
            </a:r>
            <a:endParaRPr lang="en-US" sz="950" dirty="0"/>
          </a:p>
        </p:txBody>
      </p:sp>
      <p:sp>
        <p:nvSpPr>
          <p:cNvPr id="15" name="Text 13"/>
          <p:cNvSpPr/>
          <p:nvPr/>
        </p:nvSpPr>
        <p:spPr>
          <a:xfrm>
            <a:off x="2450592" y="3483864"/>
            <a:ext cx="2011680" cy="274320"/>
          </a:xfrm>
          <a:prstGeom prst="rect">
            <a:avLst/>
          </a:prstGeom>
          <a:noFill/>
          <a:ln/>
        </p:spPr>
        <p:txBody>
          <a:bodyPr wrap="square" lIns="0" tIns="0" rIns="0" bIns="0" rtlCol="0" anchor="ctr"/>
          <a:lstStyle/>
          <a:p>
            <a:pPr algn="ctr" indent="0" marL="0">
              <a:buNone/>
            </a:pPr>
            <a:r>
              <a:rPr lang="en-US" sz="850" dirty="0">
                <a:solidFill>
                  <a:srgbClr val="475569"/>
                </a:solidFill>
              </a:rPr>
              <a:t>Over 13 years of operation</a:t>
            </a:r>
            <a:endParaRPr lang="en-US" sz="850" dirty="0"/>
          </a:p>
        </p:txBody>
      </p:sp>
      <p:sp>
        <p:nvSpPr>
          <p:cNvPr id="16" name="Shape 14"/>
          <p:cNvSpPr/>
          <p:nvPr/>
        </p:nvSpPr>
        <p:spPr>
          <a:xfrm>
            <a:off x="4626864" y="2331720"/>
            <a:ext cx="2011680" cy="15087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7" name="Shape 15"/>
          <p:cNvSpPr/>
          <p:nvPr/>
        </p:nvSpPr>
        <p:spPr>
          <a:xfrm>
            <a:off x="4626864" y="2331720"/>
            <a:ext cx="2011680" cy="54864"/>
          </a:xfrm>
          <a:prstGeom prst="rect">
            <a:avLst/>
          </a:prstGeom>
          <a:solidFill>
            <a:srgbClr val="D97706"/>
          </a:solidFill>
          <a:ln/>
        </p:spPr>
      </p:sp>
      <p:sp>
        <p:nvSpPr>
          <p:cNvPr id="18" name="Text 16"/>
          <p:cNvSpPr/>
          <p:nvPr/>
        </p:nvSpPr>
        <p:spPr>
          <a:xfrm>
            <a:off x="4626864" y="2496312"/>
            <a:ext cx="2011680" cy="640080"/>
          </a:xfrm>
          <a:prstGeom prst="rect">
            <a:avLst/>
          </a:prstGeom>
          <a:noFill/>
          <a:ln/>
        </p:spPr>
        <p:txBody>
          <a:bodyPr wrap="square" lIns="0" tIns="0" rIns="0" bIns="0" rtlCol="0" anchor="ctr"/>
          <a:lstStyle/>
          <a:p>
            <a:pPr algn="ctr" indent="0" marL="0">
              <a:buNone/>
            </a:pPr>
            <a:r>
              <a:rPr lang="en-US" sz="3400" b="1" dirty="0">
                <a:solidFill>
                  <a:srgbClr val="D97706"/>
                </a:solidFill>
              </a:rPr>
              <a:t>7/9</a:t>
            </a:r>
            <a:endParaRPr lang="en-US" sz="3400" dirty="0"/>
          </a:p>
        </p:txBody>
      </p:sp>
      <p:sp>
        <p:nvSpPr>
          <p:cNvPr id="19" name="Text 17"/>
          <p:cNvSpPr/>
          <p:nvPr/>
        </p:nvSpPr>
        <p:spPr>
          <a:xfrm>
            <a:off x="4626864" y="3154680"/>
            <a:ext cx="2011680" cy="347472"/>
          </a:xfrm>
          <a:prstGeom prst="rect">
            <a:avLst/>
          </a:prstGeom>
          <a:noFill/>
          <a:ln/>
        </p:spPr>
        <p:txBody>
          <a:bodyPr wrap="square" lIns="0" tIns="0" rIns="0" bIns="0" rtlCol="0" anchor="ctr"/>
          <a:lstStyle/>
          <a:p>
            <a:pPr algn="ctr" indent="0" marL="0">
              <a:buNone/>
            </a:pPr>
            <a:r>
              <a:rPr lang="en-US" sz="950" b="1" dirty="0">
                <a:solidFill>
                  <a:srgbClr val="1E293B"/>
                </a:solidFill>
              </a:rPr>
              <a:t>Service Pages with Content</a:t>
            </a:r>
            <a:endParaRPr lang="en-US" sz="950" dirty="0"/>
          </a:p>
        </p:txBody>
      </p:sp>
      <p:sp>
        <p:nvSpPr>
          <p:cNvPr id="20" name="Text 18"/>
          <p:cNvSpPr/>
          <p:nvPr/>
        </p:nvSpPr>
        <p:spPr>
          <a:xfrm>
            <a:off x="4626864" y="3483864"/>
            <a:ext cx="2011680" cy="274320"/>
          </a:xfrm>
          <a:prstGeom prst="rect">
            <a:avLst/>
          </a:prstGeom>
          <a:noFill/>
          <a:ln/>
        </p:spPr>
        <p:txBody>
          <a:bodyPr wrap="square" lIns="0" tIns="0" rIns="0" bIns="0" rtlCol="0" anchor="ctr"/>
          <a:lstStyle/>
          <a:p>
            <a:pPr algn="ctr" indent="0" marL="0">
              <a:buNone/>
            </a:pPr>
            <a:r>
              <a:rPr lang="en-US" sz="850" dirty="0">
                <a:solidFill>
                  <a:srgbClr val="475569"/>
                </a:solidFill>
              </a:rPr>
              <a:t>2 are 'Coming Soon'</a:t>
            </a:r>
            <a:endParaRPr lang="en-US" sz="850" dirty="0"/>
          </a:p>
        </p:txBody>
      </p:sp>
      <p:sp>
        <p:nvSpPr>
          <p:cNvPr id="21" name="Shape 19"/>
          <p:cNvSpPr/>
          <p:nvPr/>
        </p:nvSpPr>
        <p:spPr>
          <a:xfrm>
            <a:off x="6803136" y="2331720"/>
            <a:ext cx="2011680" cy="15087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2" name="Shape 20"/>
          <p:cNvSpPr/>
          <p:nvPr/>
        </p:nvSpPr>
        <p:spPr>
          <a:xfrm>
            <a:off x="6803136" y="2331720"/>
            <a:ext cx="2011680" cy="54864"/>
          </a:xfrm>
          <a:prstGeom prst="rect">
            <a:avLst/>
          </a:prstGeom>
          <a:solidFill>
            <a:srgbClr val="DC2626"/>
          </a:solidFill>
          <a:ln/>
        </p:spPr>
      </p:sp>
      <p:sp>
        <p:nvSpPr>
          <p:cNvPr id="23" name="Text 21"/>
          <p:cNvSpPr/>
          <p:nvPr/>
        </p:nvSpPr>
        <p:spPr>
          <a:xfrm>
            <a:off x="6803136" y="2496312"/>
            <a:ext cx="2011680" cy="640080"/>
          </a:xfrm>
          <a:prstGeom prst="rect">
            <a:avLst/>
          </a:prstGeom>
          <a:noFill/>
          <a:ln/>
        </p:spPr>
        <p:txBody>
          <a:bodyPr wrap="square" lIns="0" tIns="0" rIns="0" bIns="0" rtlCol="0" anchor="ctr"/>
          <a:lstStyle/>
          <a:p>
            <a:pPr algn="ctr" indent="0" marL="0">
              <a:buNone/>
            </a:pPr>
            <a:r>
              <a:rPr lang="en-US" sz="3400" b="1" dirty="0">
                <a:solidFill>
                  <a:srgbClr val="DC2626"/>
                </a:solidFill>
              </a:rPr>
              <a:t>0</a:t>
            </a:r>
            <a:endParaRPr lang="en-US" sz="3400" dirty="0"/>
          </a:p>
        </p:txBody>
      </p:sp>
      <p:sp>
        <p:nvSpPr>
          <p:cNvPr id="24" name="Text 22"/>
          <p:cNvSpPr/>
          <p:nvPr/>
        </p:nvSpPr>
        <p:spPr>
          <a:xfrm>
            <a:off x="6803136" y="3154680"/>
            <a:ext cx="2011680" cy="347472"/>
          </a:xfrm>
          <a:prstGeom prst="rect">
            <a:avLst/>
          </a:prstGeom>
          <a:noFill/>
          <a:ln/>
        </p:spPr>
        <p:txBody>
          <a:bodyPr wrap="square" lIns="0" tIns="0" rIns="0" bIns="0" rtlCol="0" anchor="ctr"/>
          <a:lstStyle/>
          <a:p>
            <a:pPr algn="ctr" indent="0" marL="0">
              <a:buNone/>
            </a:pPr>
            <a:r>
              <a:rPr lang="en-US" sz="950" b="1" dirty="0">
                <a:solidFill>
                  <a:srgbClr val="1E293B"/>
                </a:solidFill>
              </a:rPr>
              <a:t>Meta Descriptions</a:t>
            </a:r>
            <a:endParaRPr lang="en-US" sz="950" dirty="0"/>
          </a:p>
        </p:txBody>
      </p:sp>
      <p:sp>
        <p:nvSpPr>
          <p:cNvPr id="25" name="Text 23"/>
          <p:cNvSpPr/>
          <p:nvPr/>
        </p:nvSpPr>
        <p:spPr>
          <a:xfrm>
            <a:off x="6803136" y="3483864"/>
            <a:ext cx="2011680" cy="274320"/>
          </a:xfrm>
          <a:prstGeom prst="rect">
            <a:avLst/>
          </a:prstGeom>
          <a:noFill/>
          <a:ln/>
        </p:spPr>
        <p:txBody>
          <a:bodyPr wrap="square" lIns="0" tIns="0" rIns="0" bIns="0" rtlCol="0" anchor="ctr"/>
          <a:lstStyle/>
          <a:p>
            <a:pPr algn="ctr" indent="0" marL="0">
              <a:buNone/>
            </a:pPr>
            <a:r>
              <a:rPr lang="en-US" sz="850" dirty="0">
                <a:solidFill>
                  <a:srgbClr val="475569"/>
                </a:solidFill>
              </a:rPr>
              <a:t>Missing on every page</a:t>
            </a:r>
            <a:endParaRPr lang="en-US" sz="850" dirty="0"/>
          </a:p>
        </p:txBody>
      </p:sp>
      <p:sp>
        <p:nvSpPr>
          <p:cNvPr id="26" name="Shape 24"/>
          <p:cNvSpPr/>
          <p:nvPr/>
        </p:nvSpPr>
        <p:spPr>
          <a:xfrm>
            <a:off x="0" y="3995928"/>
            <a:ext cx="9144000" cy="502920"/>
          </a:xfrm>
          <a:prstGeom prst="rect">
            <a:avLst/>
          </a:prstGeom>
          <a:solidFill>
            <a:srgbClr val="DC2626"/>
          </a:solidFill>
          <a:ln/>
        </p:spPr>
      </p:sp>
      <p:sp>
        <p:nvSpPr>
          <p:cNvPr id="27" name="Text 25"/>
          <p:cNvSpPr/>
          <p:nvPr/>
        </p:nvSpPr>
        <p:spPr>
          <a:xfrm>
            <a:off x="411480" y="3995928"/>
            <a:ext cx="8321040" cy="502920"/>
          </a:xfrm>
          <a:prstGeom prst="rect">
            <a:avLst/>
          </a:prstGeom>
          <a:noFill/>
          <a:ln/>
        </p:spPr>
        <p:txBody>
          <a:bodyPr wrap="square" lIns="0" tIns="0" rIns="0" bIns="0" rtlCol="0" anchor="ctr"/>
          <a:lstStyle/>
          <a:p>
            <a:pPr algn="ctr" indent="0" marL="0">
              <a:buNone/>
            </a:pPr>
            <a:r>
              <a:rPr lang="en-US" sz="1100" b="1" dirty="0">
                <a:solidFill>
                  <a:srgbClr val="FFFFFF"/>
                </a:solidFill>
              </a:rPr>
              <a:t>The business is entirely invisible to ChatGPT, Perplexity, Gemini, and Google AI Overviews for any electrical service query in South West Sydney.</a:t>
            </a:r>
            <a:endParaRPr lang="en-US" sz="1100" dirty="0"/>
          </a:p>
        </p:txBody>
      </p:sp>
      <p:sp>
        <p:nvSpPr>
          <p:cNvPr id="28" name="Text 26"/>
          <p:cNvSpPr/>
          <p:nvPr/>
        </p:nvSpPr>
        <p:spPr>
          <a:xfrm>
            <a:off x="411480" y="4636008"/>
            <a:ext cx="8321040" cy="320040"/>
          </a:xfrm>
          <a:prstGeom prst="rect">
            <a:avLst/>
          </a:prstGeom>
          <a:noFill/>
          <a:ln/>
        </p:spPr>
        <p:txBody>
          <a:bodyPr wrap="square" lIns="0" tIns="0" rIns="0" bIns="0" rtlCol="0" anchor="ctr"/>
          <a:lstStyle/>
          <a:p>
            <a:pPr algn="ctr" indent="0" marL="0">
              <a:buNone/>
            </a:pPr>
            <a:r>
              <a:rPr lang="en-US" sz="950" i="1" dirty="0">
                <a:solidFill>
                  <a:srgbClr val="475569"/>
                </a:solidFill>
              </a:rPr>
              <a:t>Owner: Dilip Gorad, Electrical Engineer  ·  Est. 15+ years  ·  Reviews: 4.4★ avg across 8+ platforms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86868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SCORE BREAKDOWN</a:t>
            </a:r>
            <a:endParaRPr lang="en-US" sz="1300" dirty="0"/>
          </a:p>
        </p:txBody>
      </p:sp>
      <p:sp>
        <p:nvSpPr>
          <p:cNvPr id="4" name="Shape 2"/>
          <p:cNvSpPr/>
          <p:nvPr/>
        </p:nvSpPr>
        <p:spPr>
          <a:xfrm>
            <a:off x="274320" y="74980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5" name="Shape 3"/>
          <p:cNvSpPr/>
          <p:nvPr/>
        </p:nvSpPr>
        <p:spPr>
          <a:xfrm>
            <a:off x="274320" y="749808"/>
            <a:ext cx="2715768" cy="868680"/>
          </a:xfrm>
          <a:prstGeom prst="rect">
            <a:avLst/>
          </a:prstGeom>
          <a:solidFill>
            <a:srgbClr val="DC2626"/>
          </a:solidFill>
          <a:ln/>
        </p:spPr>
      </p:sp>
      <p:sp>
        <p:nvSpPr>
          <p:cNvPr id="6" name="Text 4"/>
          <p:cNvSpPr/>
          <p:nvPr/>
        </p:nvSpPr>
        <p:spPr>
          <a:xfrm>
            <a:off x="274320" y="80467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18</a:t>
            </a:r>
            <a:endParaRPr lang="en-US" sz="4600" dirty="0"/>
          </a:p>
        </p:txBody>
      </p:sp>
      <p:sp>
        <p:nvSpPr>
          <p:cNvPr id="7" name="Text 5"/>
          <p:cNvSpPr/>
          <p:nvPr/>
        </p:nvSpPr>
        <p:spPr>
          <a:xfrm>
            <a:off x="274320" y="140817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8" name="Text 6"/>
          <p:cNvSpPr/>
          <p:nvPr/>
        </p:nvSpPr>
        <p:spPr>
          <a:xfrm>
            <a:off x="402336" y="170992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AI Citability</a:t>
            </a:r>
            <a:endParaRPr lang="en-US" sz="1200" dirty="0"/>
          </a:p>
        </p:txBody>
      </p:sp>
      <p:sp>
        <p:nvSpPr>
          <p:cNvPr id="9" name="Text 7"/>
          <p:cNvSpPr/>
          <p:nvPr/>
        </p:nvSpPr>
        <p:spPr>
          <a:xfrm>
            <a:off x="402336" y="218541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25%</a:t>
            </a:r>
            <a:endParaRPr lang="en-US" sz="1000" dirty="0"/>
          </a:p>
        </p:txBody>
      </p:sp>
      <p:sp>
        <p:nvSpPr>
          <p:cNvPr id="10" name="Shape 8"/>
          <p:cNvSpPr/>
          <p:nvPr/>
        </p:nvSpPr>
        <p:spPr>
          <a:xfrm>
            <a:off x="3172968" y="74980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1" name="Shape 9"/>
          <p:cNvSpPr/>
          <p:nvPr/>
        </p:nvSpPr>
        <p:spPr>
          <a:xfrm>
            <a:off x="3172968" y="749808"/>
            <a:ext cx="2715768" cy="868680"/>
          </a:xfrm>
          <a:prstGeom prst="rect">
            <a:avLst/>
          </a:prstGeom>
          <a:solidFill>
            <a:srgbClr val="DC2626"/>
          </a:solidFill>
          <a:ln/>
        </p:spPr>
      </p:sp>
      <p:sp>
        <p:nvSpPr>
          <p:cNvPr id="12" name="Text 10"/>
          <p:cNvSpPr/>
          <p:nvPr/>
        </p:nvSpPr>
        <p:spPr>
          <a:xfrm>
            <a:off x="3172968" y="80467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14</a:t>
            </a:r>
            <a:endParaRPr lang="en-US" sz="4600" dirty="0"/>
          </a:p>
        </p:txBody>
      </p:sp>
      <p:sp>
        <p:nvSpPr>
          <p:cNvPr id="13" name="Text 11"/>
          <p:cNvSpPr/>
          <p:nvPr/>
        </p:nvSpPr>
        <p:spPr>
          <a:xfrm>
            <a:off x="3172968" y="140817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14" name="Text 12"/>
          <p:cNvSpPr/>
          <p:nvPr/>
        </p:nvSpPr>
        <p:spPr>
          <a:xfrm>
            <a:off x="3300984" y="170992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Brand Authority</a:t>
            </a:r>
            <a:endParaRPr lang="en-US" sz="1200" dirty="0"/>
          </a:p>
        </p:txBody>
      </p:sp>
      <p:sp>
        <p:nvSpPr>
          <p:cNvPr id="15" name="Text 13"/>
          <p:cNvSpPr/>
          <p:nvPr/>
        </p:nvSpPr>
        <p:spPr>
          <a:xfrm>
            <a:off x="3300984" y="218541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20%</a:t>
            </a:r>
            <a:endParaRPr lang="en-US" sz="1000" dirty="0"/>
          </a:p>
        </p:txBody>
      </p:sp>
      <p:sp>
        <p:nvSpPr>
          <p:cNvPr id="16" name="Shape 14"/>
          <p:cNvSpPr/>
          <p:nvPr/>
        </p:nvSpPr>
        <p:spPr>
          <a:xfrm>
            <a:off x="6071616" y="74980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7" name="Shape 15"/>
          <p:cNvSpPr/>
          <p:nvPr/>
        </p:nvSpPr>
        <p:spPr>
          <a:xfrm>
            <a:off x="6071616" y="749808"/>
            <a:ext cx="2715768" cy="868680"/>
          </a:xfrm>
          <a:prstGeom prst="rect">
            <a:avLst/>
          </a:prstGeom>
          <a:solidFill>
            <a:srgbClr val="D97706"/>
          </a:solidFill>
          <a:ln/>
        </p:spPr>
      </p:sp>
      <p:sp>
        <p:nvSpPr>
          <p:cNvPr id="18" name="Text 16"/>
          <p:cNvSpPr/>
          <p:nvPr/>
        </p:nvSpPr>
        <p:spPr>
          <a:xfrm>
            <a:off x="6071616" y="80467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32</a:t>
            </a:r>
            <a:endParaRPr lang="en-US" sz="4600" dirty="0"/>
          </a:p>
        </p:txBody>
      </p:sp>
      <p:sp>
        <p:nvSpPr>
          <p:cNvPr id="19" name="Text 17"/>
          <p:cNvSpPr/>
          <p:nvPr/>
        </p:nvSpPr>
        <p:spPr>
          <a:xfrm>
            <a:off x="6071616" y="140817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20" name="Text 18"/>
          <p:cNvSpPr/>
          <p:nvPr/>
        </p:nvSpPr>
        <p:spPr>
          <a:xfrm>
            <a:off x="6199632" y="170992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Content E-E-A-T</a:t>
            </a:r>
            <a:endParaRPr lang="en-US" sz="1200" dirty="0"/>
          </a:p>
        </p:txBody>
      </p:sp>
      <p:sp>
        <p:nvSpPr>
          <p:cNvPr id="21" name="Text 19"/>
          <p:cNvSpPr/>
          <p:nvPr/>
        </p:nvSpPr>
        <p:spPr>
          <a:xfrm>
            <a:off x="6199632" y="218541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20%</a:t>
            </a:r>
            <a:endParaRPr lang="en-US" sz="1000" dirty="0"/>
          </a:p>
        </p:txBody>
      </p:sp>
      <p:sp>
        <p:nvSpPr>
          <p:cNvPr id="22" name="Shape 20"/>
          <p:cNvSpPr/>
          <p:nvPr/>
        </p:nvSpPr>
        <p:spPr>
          <a:xfrm>
            <a:off x="274320" y="271576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3" name="Shape 21"/>
          <p:cNvSpPr/>
          <p:nvPr/>
        </p:nvSpPr>
        <p:spPr>
          <a:xfrm>
            <a:off x="274320" y="2715768"/>
            <a:ext cx="2715768" cy="868680"/>
          </a:xfrm>
          <a:prstGeom prst="rect">
            <a:avLst/>
          </a:prstGeom>
          <a:solidFill>
            <a:srgbClr val="D97706"/>
          </a:solidFill>
          <a:ln/>
        </p:spPr>
      </p:sp>
      <p:sp>
        <p:nvSpPr>
          <p:cNvPr id="24" name="Text 22"/>
          <p:cNvSpPr/>
          <p:nvPr/>
        </p:nvSpPr>
        <p:spPr>
          <a:xfrm>
            <a:off x="274320" y="277063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57</a:t>
            </a:r>
            <a:endParaRPr lang="en-US" sz="4600" dirty="0"/>
          </a:p>
        </p:txBody>
      </p:sp>
      <p:sp>
        <p:nvSpPr>
          <p:cNvPr id="25" name="Text 23"/>
          <p:cNvSpPr/>
          <p:nvPr/>
        </p:nvSpPr>
        <p:spPr>
          <a:xfrm>
            <a:off x="274320" y="337413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26" name="Text 24"/>
          <p:cNvSpPr/>
          <p:nvPr/>
        </p:nvSpPr>
        <p:spPr>
          <a:xfrm>
            <a:off x="402336" y="367588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Technical GEO</a:t>
            </a:r>
            <a:endParaRPr lang="en-US" sz="1200" dirty="0"/>
          </a:p>
        </p:txBody>
      </p:sp>
      <p:sp>
        <p:nvSpPr>
          <p:cNvPr id="27" name="Text 25"/>
          <p:cNvSpPr/>
          <p:nvPr/>
        </p:nvSpPr>
        <p:spPr>
          <a:xfrm>
            <a:off x="402336" y="415137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15%</a:t>
            </a:r>
            <a:endParaRPr lang="en-US" sz="1000" dirty="0"/>
          </a:p>
        </p:txBody>
      </p:sp>
      <p:sp>
        <p:nvSpPr>
          <p:cNvPr id="28" name="Shape 26"/>
          <p:cNvSpPr/>
          <p:nvPr/>
        </p:nvSpPr>
        <p:spPr>
          <a:xfrm>
            <a:off x="3172968" y="271576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9" name="Shape 27"/>
          <p:cNvSpPr/>
          <p:nvPr/>
        </p:nvSpPr>
        <p:spPr>
          <a:xfrm>
            <a:off x="3172968" y="2715768"/>
            <a:ext cx="2715768" cy="868680"/>
          </a:xfrm>
          <a:prstGeom prst="rect">
            <a:avLst/>
          </a:prstGeom>
          <a:solidFill>
            <a:srgbClr val="DC2626"/>
          </a:solidFill>
          <a:ln/>
        </p:spPr>
      </p:sp>
      <p:sp>
        <p:nvSpPr>
          <p:cNvPr id="30" name="Text 28"/>
          <p:cNvSpPr/>
          <p:nvPr/>
        </p:nvSpPr>
        <p:spPr>
          <a:xfrm>
            <a:off x="3172968" y="277063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4</a:t>
            </a:r>
            <a:endParaRPr lang="en-US" sz="4600" dirty="0"/>
          </a:p>
        </p:txBody>
      </p:sp>
      <p:sp>
        <p:nvSpPr>
          <p:cNvPr id="31" name="Text 29"/>
          <p:cNvSpPr/>
          <p:nvPr/>
        </p:nvSpPr>
        <p:spPr>
          <a:xfrm>
            <a:off x="3172968" y="337413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32" name="Text 30"/>
          <p:cNvSpPr/>
          <p:nvPr/>
        </p:nvSpPr>
        <p:spPr>
          <a:xfrm>
            <a:off x="3300984" y="367588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Schema &amp; Structured Data</a:t>
            </a:r>
            <a:endParaRPr lang="en-US" sz="1200" dirty="0"/>
          </a:p>
        </p:txBody>
      </p:sp>
      <p:sp>
        <p:nvSpPr>
          <p:cNvPr id="33" name="Text 31"/>
          <p:cNvSpPr/>
          <p:nvPr/>
        </p:nvSpPr>
        <p:spPr>
          <a:xfrm>
            <a:off x="3300984" y="415137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10%</a:t>
            </a:r>
            <a:endParaRPr lang="en-US" sz="1000" dirty="0"/>
          </a:p>
        </p:txBody>
      </p:sp>
      <p:sp>
        <p:nvSpPr>
          <p:cNvPr id="34" name="Shape 32"/>
          <p:cNvSpPr/>
          <p:nvPr/>
        </p:nvSpPr>
        <p:spPr>
          <a:xfrm>
            <a:off x="6071616" y="2715768"/>
            <a:ext cx="2715768" cy="18288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35" name="Shape 33"/>
          <p:cNvSpPr/>
          <p:nvPr/>
        </p:nvSpPr>
        <p:spPr>
          <a:xfrm>
            <a:off x="6071616" y="2715768"/>
            <a:ext cx="2715768" cy="868680"/>
          </a:xfrm>
          <a:prstGeom prst="rect">
            <a:avLst/>
          </a:prstGeom>
          <a:solidFill>
            <a:srgbClr val="DC2626"/>
          </a:solidFill>
          <a:ln/>
        </p:spPr>
      </p:sp>
      <p:sp>
        <p:nvSpPr>
          <p:cNvPr id="36" name="Text 34"/>
          <p:cNvSpPr/>
          <p:nvPr/>
        </p:nvSpPr>
        <p:spPr>
          <a:xfrm>
            <a:off x="6071616" y="2770632"/>
            <a:ext cx="2715768" cy="658368"/>
          </a:xfrm>
          <a:prstGeom prst="rect">
            <a:avLst/>
          </a:prstGeom>
          <a:noFill/>
          <a:ln/>
        </p:spPr>
        <p:txBody>
          <a:bodyPr wrap="square" lIns="0" tIns="0" rIns="0" bIns="0" rtlCol="0" anchor="ctr"/>
          <a:lstStyle/>
          <a:p>
            <a:pPr algn="ctr" indent="0" marL="0">
              <a:buNone/>
            </a:pPr>
            <a:r>
              <a:rPr lang="en-US" sz="4600" b="1" dirty="0">
                <a:solidFill>
                  <a:srgbClr val="FFFFFF"/>
                </a:solidFill>
              </a:rPr>
              <a:t>8</a:t>
            </a:r>
            <a:endParaRPr lang="en-US" sz="4600" dirty="0"/>
          </a:p>
        </p:txBody>
      </p:sp>
      <p:sp>
        <p:nvSpPr>
          <p:cNvPr id="37" name="Text 35"/>
          <p:cNvSpPr/>
          <p:nvPr/>
        </p:nvSpPr>
        <p:spPr>
          <a:xfrm>
            <a:off x="6071616" y="3374136"/>
            <a:ext cx="2715768" cy="201168"/>
          </a:xfrm>
          <a:prstGeom prst="rect">
            <a:avLst/>
          </a:prstGeom>
          <a:noFill/>
          <a:ln/>
        </p:spPr>
        <p:txBody>
          <a:bodyPr wrap="square" lIns="0" tIns="0" rIns="0" bIns="0" rtlCol="0" anchor="ctr"/>
          <a:lstStyle/>
          <a:p>
            <a:pPr algn="ctr" indent="0" marL="0">
              <a:buNone/>
            </a:pPr>
            <a:r>
              <a:rPr lang="en-US" sz="1100" dirty="0">
                <a:solidFill>
                  <a:srgbClr val="FFFFFF"/>
                </a:solidFill>
              </a:rPr>
              <a:t>/ 100</a:t>
            </a:r>
            <a:endParaRPr lang="en-US" sz="1100" dirty="0"/>
          </a:p>
        </p:txBody>
      </p:sp>
      <p:sp>
        <p:nvSpPr>
          <p:cNvPr id="38" name="Text 36"/>
          <p:cNvSpPr/>
          <p:nvPr/>
        </p:nvSpPr>
        <p:spPr>
          <a:xfrm>
            <a:off x="6199632" y="3675888"/>
            <a:ext cx="2459736" cy="457200"/>
          </a:xfrm>
          <a:prstGeom prst="rect">
            <a:avLst/>
          </a:prstGeom>
          <a:noFill/>
          <a:ln/>
        </p:spPr>
        <p:txBody>
          <a:bodyPr wrap="square" lIns="0" tIns="0" rIns="0" bIns="0" rtlCol="0" anchor="ctr"/>
          <a:lstStyle/>
          <a:p>
            <a:pPr algn="l" indent="0" marL="0">
              <a:buNone/>
            </a:pPr>
            <a:r>
              <a:rPr lang="en-US" sz="1200" b="1" dirty="0">
                <a:solidFill>
                  <a:srgbClr val="1E293B"/>
                </a:solidFill>
              </a:rPr>
              <a:t>Platform Optimization</a:t>
            </a:r>
            <a:endParaRPr lang="en-US" sz="1200" dirty="0"/>
          </a:p>
        </p:txBody>
      </p:sp>
      <p:sp>
        <p:nvSpPr>
          <p:cNvPr id="39" name="Text 37"/>
          <p:cNvSpPr/>
          <p:nvPr/>
        </p:nvSpPr>
        <p:spPr>
          <a:xfrm>
            <a:off x="6199632" y="4151376"/>
            <a:ext cx="2459736" cy="292608"/>
          </a:xfrm>
          <a:prstGeom prst="rect">
            <a:avLst/>
          </a:prstGeom>
          <a:noFill/>
          <a:ln/>
        </p:spPr>
        <p:txBody>
          <a:bodyPr wrap="square" lIns="0" tIns="0" rIns="0" bIns="0" rtlCol="0" anchor="ctr"/>
          <a:lstStyle/>
          <a:p>
            <a:pPr algn="l" indent="0" marL="0">
              <a:buNone/>
            </a:pPr>
            <a:r>
              <a:rPr lang="en-US" sz="1000" dirty="0">
                <a:solidFill>
                  <a:srgbClr val="475569"/>
                </a:solidFill>
              </a:rPr>
              <a:t>Weight: 10%</a:t>
            </a:r>
            <a:endParaRPr lang="en-US" sz="1000" dirty="0"/>
          </a:p>
        </p:txBody>
      </p:sp>
      <p:sp>
        <p:nvSpPr>
          <p:cNvPr id="40" name="Shape 38"/>
          <p:cNvSpPr/>
          <p:nvPr/>
        </p:nvSpPr>
        <p:spPr>
          <a:xfrm>
            <a:off x="0" y="4764024"/>
            <a:ext cx="9144000" cy="379476"/>
          </a:xfrm>
          <a:prstGeom prst="rect">
            <a:avLst/>
          </a:prstGeom>
          <a:solidFill>
            <a:srgbClr val="0D1B3E"/>
          </a:solidFill>
          <a:ln/>
        </p:spPr>
      </p:sp>
      <p:sp>
        <p:nvSpPr>
          <p:cNvPr id="41" name="Text 39"/>
          <p:cNvSpPr/>
          <p:nvPr/>
        </p:nvSpPr>
        <p:spPr>
          <a:xfrm>
            <a:off x="0" y="4764024"/>
            <a:ext cx="9144000" cy="379476"/>
          </a:xfrm>
          <a:prstGeom prst="rect">
            <a:avLst/>
          </a:prstGeom>
          <a:noFill/>
          <a:ln/>
        </p:spPr>
        <p:txBody>
          <a:bodyPr wrap="square" lIns="0" tIns="0" rIns="0" bIns="0" rtlCol="0" anchor="ctr"/>
          <a:lstStyle/>
          <a:p>
            <a:pPr algn="ctr" indent="0" marL="0">
              <a:buNone/>
            </a:pPr>
            <a:r>
              <a:rPr lang="en-US" sz="1200" b="1" spc="50" kern="0" dirty="0">
                <a:solidFill>
                  <a:srgbClr val="FFFFFF"/>
                </a:solidFill>
              </a:rPr>
              <a:t>OVERALL GEO SCORE:  23 / 100  —  CRITICAL  —  Site is largely invisible to AI systems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DC2626"/>
          </a:solidFill>
          <a:ln/>
        </p:spPr>
      </p:sp>
      <p:sp>
        <p:nvSpPr>
          <p:cNvPr id="3" name="Text 1"/>
          <p:cNvSpPr/>
          <p:nvPr/>
        </p:nvSpPr>
        <p:spPr>
          <a:xfrm>
            <a:off x="411480" y="0"/>
            <a:ext cx="832104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CRITICAL ISSUES — Fix Immediately</a:t>
            </a:r>
            <a:endParaRPr lang="en-US" sz="1300" dirty="0"/>
          </a:p>
        </p:txBody>
      </p:sp>
      <p:sp>
        <p:nvSpPr>
          <p:cNvPr id="4" name="Shape 2"/>
          <p:cNvSpPr/>
          <p:nvPr/>
        </p:nvSpPr>
        <p:spPr>
          <a:xfrm>
            <a:off x="274320" y="749808"/>
            <a:ext cx="457200" cy="393192"/>
          </a:xfrm>
          <a:prstGeom prst="rect">
            <a:avLst/>
          </a:prstGeom>
          <a:solidFill>
            <a:srgbClr val="DC2626"/>
          </a:solidFill>
          <a:ln/>
        </p:spPr>
      </p:sp>
      <p:sp>
        <p:nvSpPr>
          <p:cNvPr id="5" name="Text 3"/>
          <p:cNvSpPr/>
          <p:nvPr/>
        </p:nvSpPr>
        <p:spPr>
          <a:xfrm>
            <a:off x="274320" y="749808"/>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C1</a:t>
            </a:r>
            <a:endParaRPr lang="en-US" sz="950" dirty="0"/>
          </a:p>
        </p:txBody>
      </p:sp>
      <p:sp>
        <p:nvSpPr>
          <p:cNvPr id="6" name="Text 4"/>
          <p:cNvSpPr/>
          <p:nvPr/>
        </p:nvSpPr>
        <p:spPr>
          <a:xfrm>
            <a:off x="868680" y="749808"/>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No llms.txt file</a:t>
            </a:r>
            <a:endParaRPr lang="en-US" sz="1150" dirty="0"/>
          </a:p>
        </p:txBody>
      </p:sp>
      <p:sp>
        <p:nvSpPr>
          <p:cNvPr id="7" name="Text 5"/>
          <p:cNvSpPr/>
          <p:nvPr/>
        </p:nvSpPr>
        <p:spPr>
          <a:xfrm>
            <a:off x="868680" y="978408"/>
            <a:ext cx="7955280" cy="301752"/>
          </a:xfrm>
          <a:prstGeom prst="rect">
            <a:avLst/>
          </a:prstGeom>
          <a:noFill/>
          <a:ln/>
        </p:spPr>
        <p:txBody>
          <a:bodyPr wrap="square" lIns="0" tIns="0" rIns="0" bIns="0" rtlCol="0" anchor="ctr"/>
          <a:lstStyle/>
          <a:p>
            <a:pPr indent="0" marL="0">
              <a:buNone/>
            </a:pPr>
            <a:r>
              <a:rPr lang="en-US" sz="950" dirty="0">
                <a:solidFill>
                  <a:srgbClr val="475569"/>
                </a:solidFill>
              </a:rPr>
              <a:t>AI crawlers (GPTBot, ClaudeBot, PerplexityBot) have no guidance on what the site is, who it serves, or which pages to prioritise for citation.</a:t>
            </a:r>
            <a:endParaRPr lang="en-US" sz="950" dirty="0"/>
          </a:p>
        </p:txBody>
      </p:sp>
      <p:sp>
        <p:nvSpPr>
          <p:cNvPr id="8" name="Shape 6"/>
          <p:cNvSpPr/>
          <p:nvPr/>
        </p:nvSpPr>
        <p:spPr>
          <a:xfrm>
            <a:off x="274320" y="1307592"/>
            <a:ext cx="8595360" cy="9144"/>
          </a:xfrm>
          <a:prstGeom prst="rect">
            <a:avLst/>
          </a:prstGeom>
          <a:solidFill>
            <a:srgbClr val="E2E8F0"/>
          </a:solidFill>
          <a:ln/>
        </p:spPr>
      </p:sp>
      <p:sp>
        <p:nvSpPr>
          <p:cNvPr id="9" name="Shape 7"/>
          <p:cNvSpPr/>
          <p:nvPr/>
        </p:nvSpPr>
        <p:spPr>
          <a:xfrm>
            <a:off x="274320" y="1380744"/>
            <a:ext cx="457200" cy="393192"/>
          </a:xfrm>
          <a:prstGeom prst="rect">
            <a:avLst/>
          </a:prstGeom>
          <a:solidFill>
            <a:srgbClr val="DC2626"/>
          </a:solidFill>
          <a:ln/>
        </p:spPr>
      </p:sp>
      <p:sp>
        <p:nvSpPr>
          <p:cNvPr id="10" name="Text 8"/>
          <p:cNvSpPr/>
          <p:nvPr/>
        </p:nvSpPr>
        <p:spPr>
          <a:xfrm>
            <a:off x="274320" y="1380744"/>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C2</a:t>
            </a:r>
            <a:endParaRPr lang="en-US" sz="950" dirty="0"/>
          </a:p>
        </p:txBody>
      </p:sp>
      <p:sp>
        <p:nvSpPr>
          <p:cNvPr id="11" name="Text 9"/>
          <p:cNvSpPr/>
          <p:nvPr/>
        </p:nvSpPr>
        <p:spPr>
          <a:xfrm>
            <a:off x="868680" y="1380744"/>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Zero schema markup on all 11 pages</a:t>
            </a:r>
            <a:endParaRPr lang="en-US" sz="1150" dirty="0"/>
          </a:p>
        </p:txBody>
      </p:sp>
      <p:sp>
        <p:nvSpPr>
          <p:cNvPr id="12" name="Text 10"/>
          <p:cNvSpPr/>
          <p:nvPr/>
        </p:nvSpPr>
        <p:spPr>
          <a:xfrm>
            <a:off x="868680" y="1609344"/>
            <a:ext cx="7955280" cy="301752"/>
          </a:xfrm>
          <a:prstGeom prst="rect">
            <a:avLst/>
          </a:prstGeom>
          <a:noFill/>
          <a:ln/>
        </p:spPr>
        <p:txBody>
          <a:bodyPr wrap="square" lIns="0" tIns="0" rIns="0" bIns="0" rtlCol="0" anchor="ctr"/>
          <a:lstStyle/>
          <a:p>
            <a:pPr indent="0" marL="0">
              <a:buNone/>
            </a:pPr>
            <a:r>
              <a:rPr lang="en-US" sz="950" dirty="0">
                <a:solidFill>
                  <a:srgbClr val="475569"/>
                </a:solidFill>
              </a:rPr>
              <a:t>Yoast SEO is installed but not outputting schema — a configuration fault. Without it, Rohnees cannot appear in AI-generated 'best electrician near me' responses.</a:t>
            </a:r>
            <a:endParaRPr lang="en-US" sz="950" dirty="0"/>
          </a:p>
        </p:txBody>
      </p:sp>
      <p:sp>
        <p:nvSpPr>
          <p:cNvPr id="13" name="Shape 11"/>
          <p:cNvSpPr/>
          <p:nvPr/>
        </p:nvSpPr>
        <p:spPr>
          <a:xfrm>
            <a:off x="274320" y="1938528"/>
            <a:ext cx="8595360" cy="9144"/>
          </a:xfrm>
          <a:prstGeom prst="rect">
            <a:avLst/>
          </a:prstGeom>
          <a:solidFill>
            <a:srgbClr val="E2E8F0"/>
          </a:solidFill>
          <a:ln/>
        </p:spPr>
      </p:sp>
      <p:sp>
        <p:nvSpPr>
          <p:cNvPr id="14" name="Shape 12"/>
          <p:cNvSpPr/>
          <p:nvPr/>
        </p:nvSpPr>
        <p:spPr>
          <a:xfrm>
            <a:off x="274320" y="2011680"/>
            <a:ext cx="457200" cy="393192"/>
          </a:xfrm>
          <a:prstGeom prst="rect">
            <a:avLst/>
          </a:prstGeom>
          <a:solidFill>
            <a:srgbClr val="DC2626"/>
          </a:solidFill>
          <a:ln/>
        </p:spPr>
      </p:sp>
      <p:sp>
        <p:nvSpPr>
          <p:cNvPr id="15" name="Text 13"/>
          <p:cNvSpPr/>
          <p:nvPr/>
        </p:nvSpPr>
        <p:spPr>
          <a:xfrm>
            <a:off x="274320" y="2011680"/>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C3</a:t>
            </a:r>
            <a:endParaRPr lang="en-US" sz="950" dirty="0"/>
          </a:p>
        </p:txBody>
      </p:sp>
      <p:sp>
        <p:nvSpPr>
          <p:cNvPr id="16" name="Text 14"/>
          <p:cNvSpPr/>
          <p:nvPr/>
        </p:nvSpPr>
        <p:spPr>
          <a:xfrm>
            <a:off x="868680" y="2011680"/>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Two service pages are 'Coming Soon' placeholders</a:t>
            </a:r>
            <a:endParaRPr lang="en-US" sz="1150" dirty="0"/>
          </a:p>
        </p:txBody>
      </p:sp>
      <p:sp>
        <p:nvSpPr>
          <p:cNvPr id="17" name="Text 15"/>
          <p:cNvSpPr/>
          <p:nvPr/>
        </p:nvSpPr>
        <p:spPr>
          <a:xfrm>
            <a:off x="868680" y="2240280"/>
            <a:ext cx="7955280" cy="301752"/>
          </a:xfrm>
          <a:prstGeom prst="rect">
            <a:avLst/>
          </a:prstGeom>
          <a:noFill/>
          <a:ln/>
        </p:spPr>
        <p:txBody>
          <a:bodyPr wrap="square" lIns="0" tIns="0" rIns="0" bIns="0" rtlCol="0" anchor="ctr"/>
          <a:lstStyle/>
          <a:p>
            <a:pPr indent="0" marL="0">
              <a:buNone/>
            </a:pPr>
            <a:r>
              <a:rPr lang="en-US" sz="950" dirty="0">
                <a:solidFill>
                  <a:srgbClr val="475569"/>
                </a:solidFill>
              </a:rPr>
              <a:t>/home-automation-2/ and /project-management/ have zero content. AI systems will never cite a placeholder page.</a:t>
            </a:r>
            <a:endParaRPr lang="en-US" sz="950" dirty="0"/>
          </a:p>
        </p:txBody>
      </p:sp>
      <p:sp>
        <p:nvSpPr>
          <p:cNvPr id="18" name="Shape 16"/>
          <p:cNvSpPr/>
          <p:nvPr/>
        </p:nvSpPr>
        <p:spPr>
          <a:xfrm>
            <a:off x="274320" y="2569464"/>
            <a:ext cx="8595360" cy="9144"/>
          </a:xfrm>
          <a:prstGeom prst="rect">
            <a:avLst/>
          </a:prstGeom>
          <a:solidFill>
            <a:srgbClr val="E2E8F0"/>
          </a:solidFill>
          <a:ln/>
        </p:spPr>
      </p:sp>
      <p:sp>
        <p:nvSpPr>
          <p:cNvPr id="19" name="Shape 17"/>
          <p:cNvSpPr/>
          <p:nvPr/>
        </p:nvSpPr>
        <p:spPr>
          <a:xfrm>
            <a:off x="274320" y="2642616"/>
            <a:ext cx="457200" cy="393192"/>
          </a:xfrm>
          <a:prstGeom prst="rect">
            <a:avLst/>
          </a:prstGeom>
          <a:solidFill>
            <a:srgbClr val="DC2626"/>
          </a:solidFill>
          <a:ln/>
        </p:spPr>
      </p:sp>
      <p:sp>
        <p:nvSpPr>
          <p:cNvPr id="20" name="Text 18"/>
          <p:cNvSpPr/>
          <p:nvPr/>
        </p:nvSpPr>
        <p:spPr>
          <a:xfrm>
            <a:off x="274320" y="2642616"/>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C4</a:t>
            </a:r>
            <a:endParaRPr lang="en-US" sz="950" dirty="0"/>
          </a:p>
        </p:txBody>
      </p:sp>
      <p:sp>
        <p:nvSpPr>
          <p:cNvPr id="21" name="Text 19"/>
          <p:cNvSpPr/>
          <p:nvPr/>
        </p:nvSpPr>
        <p:spPr>
          <a:xfrm>
            <a:off x="868680" y="2642616"/>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No meta descriptions on any of 11 pages</a:t>
            </a:r>
            <a:endParaRPr lang="en-US" sz="1150" dirty="0"/>
          </a:p>
        </p:txBody>
      </p:sp>
      <p:sp>
        <p:nvSpPr>
          <p:cNvPr id="22" name="Text 20"/>
          <p:cNvSpPr/>
          <p:nvPr/>
        </p:nvSpPr>
        <p:spPr>
          <a:xfrm>
            <a:off x="868680" y="2871216"/>
            <a:ext cx="7955280" cy="301752"/>
          </a:xfrm>
          <a:prstGeom prst="rect">
            <a:avLst/>
          </a:prstGeom>
          <a:noFill/>
          <a:ln/>
        </p:spPr>
        <p:txBody>
          <a:bodyPr wrap="square" lIns="0" tIns="0" rIns="0" bIns="0" rtlCol="0" anchor="ctr"/>
          <a:lstStyle/>
          <a:p>
            <a:pPr indent="0" marL="0">
              <a:buNone/>
            </a:pPr>
            <a:r>
              <a:rPr lang="en-US" sz="950" dirty="0">
                <a:solidFill>
                  <a:srgbClr val="475569"/>
                </a:solidFill>
              </a:rPr>
              <a:t>AI systems and search engines have no fallback descriptive signal. Every page appears identical to a crawler.</a:t>
            </a:r>
            <a:endParaRPr lang="en-US" sz="950" dirty="0"/>
          </a:p>
        </p:txBody>
      </p:sp>
      <p:sp>
        <p:nvSpPr>
          <p:cNvPr id="23" name="Shape 21"/>
          <p:cNvSpPr/>
          <p:nvPr/>
        </p:nvSpPr>
        <p:spPr>
          <a:xfrm>
            <a:off x="274320" y="3200400"/>
            <a:ext cx="8595360" cy="9144"/>
          </a:xfrm>
          <a:prstGeom prst="rect">
            <a:avLst/>
          </a:prstGeom>
          <a:solidFill>
            <a:srgbClr val="E2E8F0"/>
          </a:solidFill>
          <a:ln/>
        </p:spPr>
      </p:sp>
      <p:sp>
        <p:nvSpPr>
          <p:cNvPr id="24" name="Shape 22"/>
          <p:cNvSpPr/>
          <p:nvPr/>
        </p:nvSpPr>
        <p:spPr>
          <a:xfrm>
            <a:off x="274320" y="3273552"/>
            <a:ext cx="457200" cy="393192"/>
          </a:xfrm>
          <a:prstGeom prst="rect">
            <a:avLst/>
          </a:prstGeom>
          <a:solidFill>
            <a:srgbClr val="DC2626"/>
          </a:solidFill>
          <a:ln/>
        </p:spPr>
      </p:sp>
      <p:sp>
        <p:nvSpPr>
          <p:cNvPr id="25" name="Text 23"/>
          <p:cNvSpPr/>
          <p:nvPr/>
        </p:nvSpPr>
        <p:spPr>
          <a:xfrm>
            <a:off x="274320" y="3273552"/>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C5</a:t>
            </a:r>
            <a:endParaRPr lang="en-US" sz="950" dirty="0"/>
          </a:p>
        </p:txBody>
      </p:sp>
      <p:sp>
        <p:nvSpPr>
          <p:cNvPr id="26" name="Text 24"/>
          <p:cNvSpPr/>
          <p:nvPr/>
        </p:nvSpPr>
        <p:spPr>
          <a:xfrm>
            <a:off x="868680" y="3273552"/>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"Employee Name" placeholder text is live in production</a:t>
            </a:r>
            <a:endParaRPr lang="en-US" sz="1150" dirty="0"/>
          </a:p>
        </p:txBody>
      </p:sp>
      <p:sp>
        <p:nvSpPr>
          <p:cNvPr id="27" name="Text 25"/>
          <p:cNvSpPr/>
          <p:nvPr/>
        </p:nvSpPr>
        <p:spPr>
          <a:xfrm>
            <a:off x="868680" y="3502152"/>
            <a:ext cx="7955280" cy="301752"/>
          </a:xfrm>
          <a:prstGeom prst="rect">
            <a:avLst/>
          </a:prstGeom>
          <a:noFill/>
          <a:ln/>
        </p:spPr>
        <p:txBody>
          <a:bodyPr wrap="square" lIns="0" tIns="0" rIns="0" bIns="0" rtlCol="0" anchor="ctr"/>
          <a:lstStyle/>
          <a:p>
            <a:pPr indent="0" marL="0">
              <a:buNone/>
            </a:pPr>
            <a:r>
              <a:rPr lang="en-US" sz="950" dirty="0">
                <a:solidFill>
                  <a:srgbClr val="475569"/>
                </a:solidFill>
              </a:rPr>
              <a:t>The About page team section shows four entries labelled 'Employee Name' — the most damaging trust signal on the site.</a:t>
            </a:r>
            <a:endParaRPr lang="en-US" sz="950" dirty="0"/>
          </a:p>
        </p:txBody>
      </p:sp>
      <p:sp>
        <p:nvSpPr>
          <p:cNvPr id="28" name="Shape 26"/>
          <p:cNvSpPr/>
          <p:nvPr/>
        </p:nvSpPr>
        <p:spPr>
          <a:xfrm>
            <a:off x="274320" y="3831336"/>
            <a:ext cx="8595360" cy="9144"/>
          </a:xfrm>
          <a:prstGeom prst="rect">
            <a:avLst/>
          </a:prstGeom>
          <a:solidFill>
            <a:srgbClr val="E2E8F0"/>
          </a:solidFill>
          <a:ln/>
        </p:spPr>
      </p:sp>
      <p:sp>
        <p:nvSpPr>
          <p:cNvPr id="29" name="Shape 27"/>
          <p:cNvSpPr/>
          <p:nvPr/>
        </p:nvSpPr>
        <p:spPr>
          <a:xfrm>
            <a:off x="274320" y="3904488"/>
            <a:ext cx="457200" cy="393192"/>
          </a:xfrm>
          <a:prstGeom prst="rect">
            <a:avLst/>
          </a:prstGeom>
          <a:solidFill>
            <a:srgbClr val="DC2626"/>
          </a:solidFill>
          <a:ln/>
        </p:spPr>
      </p:sp>
      <p:sp>
        <p:nvSpPr>
          <p:cNvPr id="30" name="Text 28"/>
          <p:cNvSpPr/>
          <p:nvPr/>
        </p:nvSpPr>
        <p:spPr>
          <a:xfrm>
            <a:off x="274320" y="3904488"/>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C6</a:t>
            </a:r>
            <a:endParaRPr lang="en-US" sz="950" dirty="0"/>
          </a:p>
        </p:txBody>
      </p:sp>
      <p:sp>
        <p:nvSpPr>
          <p:cNvPr id="31" name="Text 29"/>
          <p:cNvSpPr/>
          <p:nvPr/>
        </p:nvSpPr>
        <p:spPr>
          <a:xfrm>
            <a:off x="868680" y="3904488"/>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NSW Electrical Contractor Licence number not displayed</a:t>
            </a:r>
            <a:endParaRPr lang="en-US" sz="1150" dirty="0"/>
          </a:p>
        </p:txBody>
      </p:sp>
      <p:sp>
        <p:nvSpPr>
          <p:cNvPr id="32" name="Text 30"/>
          <p:cNvSpPr/>
          <p:nvPr/>
        </p:nvSpPr>
        <p:spPr>
          <a:xfrm>
            <a:off x="868680" y="4133088"/>
            <a:ext cx="7955280" cy="301752"/>
          </a:xfrm>
          <a:prstGeom prst="rect">
            <a:avLst/>
          </a:prstGeom>
          <a:noFill/>
          <a:ln/>
        </p:spPr>
        <p:txBody>
          <a:bodyPr wrap="square" lIns="0" tIns="0" rIns="0" bIns="0" rtlCol="0" anchor="ctr"/>
          <a:lstStyle/>
          <a:p>
            <a:pPr indent="0" marL="0">
              <a:buNone/>
            </a:pPr>
            <a:r>
              <a:rPr lang="en-US" sz="950" dirty="0">
                <a:solidFill>
                  <a:srgbClr val="475569"/>
                </a:solidFill>
              </a:rPr>
              <a:t>A regulatory expectation and primary trust credential for AI systems evaluating authoritativeness. Potentially a compliance issue.</a:t>
            </a:r>
            <a:endParaRPr lang="en-US" sz="950" dirty="0"/>
          </a:p>
        </p:txBody>
      </p:sp>
      <p:sp>
        <p:nvSpPr>
          <p:cNvPr id="33" name="Shape 31"/>
          <p:cNvSpPr/>
          <p:nvPr/>
        </p:nvSpPr>
        <p:spPr>
          <a:xfrm>
            <a:off x="274320" y="4462272"/>
            <a:ext cx="8595360" cy="9144"/>
          </a:xfrm>
          <a:prstGeom prst="rect">
            <a:avLst/>
          </a:prstGeom>
          <a:solidFill>
            <a:srgbClr val="E2E8F0"/>
          </a:solidFill>
          <a:ln/>
        </p:spPr>
      </p:sp>
      <p:sp>
        <p:nvSpPr>
          <p:cNvPr id="34" name="Shape 32"/>
          <p:cNvSpPr/>
          <p:nvPr/>
        </p:nvSpPr>
        <p:spPr>
          <a:xfrm>
            <a:off x="274320" y="4535424"/>
            <a:ext cx="457200" cy="393192"/>
          </a:xfrm>
          <a:prstGeom prst="rect">
            <a:avLst/>
          </a:prstGeom>
          <a:solidFill>
            <a:srgbClr val="DC2626"/>
          </a:solidFill>
          <a:ln/>
        </p:spPr>
      </p:sp>
      <p:sp>
        <p:nvSpPr>
          <p:cNvPr id="35" name="Text 33"/>
          <p:cNvSpPr/>
          <p:nvPr/>
        </p:nvSpPr>
        <p:spPr>
          <a:xfrm>
            <a:off x="274320" y="4535424"/>
            <a:ext cx="457200" cy="393192"/>
          </a:xfrm>
          <a:prstGeom prst="rect">
            <a:avLst/>
          </a:prstGeom>
          <a:noFill/>
          <a:ln/>
        </p:spPr>
        <p:txBody>
          <a:bodyPr wrap="square" lIns="0" tIns="0" rIns="0" bIns="0" rtlCol="0" anchor="ctr"/>
          <a:lstStyle/>
          <a:p>
            <a:pPr algn="ctr" indent="0" marL="0">
              <a:buNone/>
            </a:pPr>
            <a:r>
              <a:rPr lang="en-US" sz="950" b="1" dirty="0">
                <a:solidFill>
                  <a:srgbClr val="FFFFFF"/>
                </a:solidFill>
              </a:rPr>
              <a:t>C7</a:t>
            </a:r>
            <a:endParaRPr lang="en-US" sz="950" dirty="0"/>
          </a:p>
        </p:txBody>
      </p:sp>
      <p:sp>
        <p:nvSpPr>
          <p:cNvPr id="36" name="Text 34"/>
          <p:cNvSpPr/>
          <p:nvPr/>
        </p:nvSpPr>
        <p:spPr>
          <a:xfrm>
            <a:off x="868680" y="4535424"/>
            <a:ext cx="7955280" cy="219456"/>
          </a:xfrm>
          <a:prstGeom prst="rect">
            <a:avLst/>
          </a:prstGeom>
          <a:noFill/>
          <a:ln/>
        </p:spPr>
        <p:txBody>
          <a:bodyPr wrap="square" lIns="0" tIns="0" rIns="0" bIns="0" rtlCol="0" anchor="ctr"/>
          <a:lstStyle/>
          <a:p>
            <a:pPr indent="0" marL="0">
              <a:buNone/>
            </a:pPr>
            <a:r>
              <a:rPr lang="en-US" sz="1150" b="1" dirty="0">
                <a:solidFill>
                  <a:srgbClr val="1E293B"/>
                </a:solidFill>
              </a:rPr>
              <a:t>No Google Business Profile / review volume critically low</a:t>
            </a:r>
            <a:endParaRPr lang="en-US" sz="1150" dirty="0"/>
          </a:p>
        </p:txBody>
      </p:sp>
      <p:sp>
        <p:nvSpPr>
          <p:cNvPr id="37" name="Text 35"/>
          <p:cNvSpPr/>
          <p:nvPr/>
        </p:nvSpPr>
        <p:spPr>
          <a:xfrm>
            <a:off x="868680" y="4764024"/>
            <a:ext cx="7955280" cy="301752"/>
          </a:xfrm>
          <a:prstGeom prst="rect">
            <a:avLst/>
          </a:prstGeom>
          <a:noFill/>
          <a:ln/>
        </p:spPr>
        <p:txBody>
          <a:bodyPr wrap="square" lIns="0" tIns="0" rIns="0" bIns="0" rtlCol="0" anchor="ctr"/>
          <a:lstStyle/>
          <a:p>
            <a:pPr indent="0" marL="0">
              <a:buNone/>
            </a:pPr>
            <a:r>
              <a:rPr lang="en-US" sz="950" dirty="0">
                <a:solidFill>
                  <a:srgbClr val="475569"/>
                </a:solidFill>
              </a:rPr>
              <a:t>AI Overviews draw directly from GBP. Only ~16 confirmed reviews across all platforms over 13 years of operation.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DC2626"/>
          </a:solidFill>
          <a:ln/>
        </p:spPr>
      </p:sp>
      <p:sp>
        <p:nvSpPr>
          <p:cNvPr id="3" name="Text 1"/>
          <p:cNvSpPr/>
          <p:nvPr/>
        </p:nvSpPr>
        <p:spPr>
          <a:xfrm>
            <a:off x="411480" y="0"/>
            <a:ext cx="832104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CRITICAL ISSUES — Technical &amp; Content Foundations</a:t>
            </a:r>
            <a:endParaRPr lang="en-US" sz="1300" dirty="0"/>
          </a:p>
        </p:txBody>
      </p:sp>
      <p:sp>
        <p:nvSpPr>
          <p:cNvPr id="4" name="Shape 2"/>
          <p:cNvSpPr/>
          <p:nvPr/>
        </p:nvSpPr>
        <p:spPr>
          <a:xfrm>
            <a:off x="320040" y="749808"/>
            <a:ext cx="8503920" cy="132588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 name="Shape 3"/>
          <p:cNvSpPr/>
          <p:nvPr/>
        </p:nvSpPr>
        <p:spPr>
          <a:xfrm>
            <a:off x="320040" y="749808"/>
            <a:ext cx="64008" cy="1325880"/>
          </a:xfrm>
          <a:prstGeom prst="rect">
            <a:avLst/>
          </a:prstGeom>
          <a:solidFill>
            <a:srgbClr val="DC2626"/>
          </a:solidFill>
          <a:ln/>
        </p:spPr>
      </p:sp>
      <p:sp>
        <p:nvSpPr>
          <p:cNvPr id="6" name="Text 4"/>
          <p:cNvSpPr/>
          <p:nvPr/>
        </p:nvSpPr>
        <p:spPr>
          <a:xfrm>
            <a:off x="512064" y="841248"/>
            <a:ext cx="8229600" cy="292608"/>
          </a:xfrm>
          <a:prstGeom prst="rect">
            <a:avLst/>
          </a:prstGeom>
          <a:noFill/>
          <a:ln/>
        </p:spPr>
        <p:txBody>
          <a:bodyPr wrap="square" lIns="0" tIns="0" rIns="0" bIns="0" rtlCol="0" anchor="ctr"/>
          <a:lstStyle/>
          <a:p>
            <a:pPr indent="0" marL="0">
              <a:buNone/>
            </a:pPr>
            <a:r>
              <a:rPr lang="en-US" sz="1250" b="1" dirty="0">
                <a:solidFill>
                  <a:srgbClr val="1E293B"/>
                </a:solidFill>
              </a:rPr>
              <a:t>C1 — No llms.txt File</a:t>
            </a:r>
            <a:endParaRPr lang="en-US" sz="1250" dirty="0"/>
          </a:p>
        </p:txBody>
      </p:sp>
      <p:sp>
        <p:nvSpPr>
          <p:cNvPr id="7" name="Text 5"/>
          <p:cNvSpPr/>
          <p:nvPr/>
        </p:nvSpPr>
        <p:spPr>
          <a:xfrm>
            <a:off x="512064" y="1170432"/>
            <a:ext cx="8138160" cy="841248"/>
          </a:xfrm>
          <a:prstGeom prst="rect">
            <a:avLst/>
          </a:prstGeom>
          <a:noFill/>
          <a:ln/>
        </p:spPr>
        <p:txBody>
          <a:bodyPr wrap="square" lIns="0" tIns="0" rIns="0" bIns="0" rtlCol="0" anchor="ctr"/>
          <a:lstStyle/>
          <a:p>
            <a:pPr indent="0" marL="0">
              <a:buNone/>
            </a:pPr>
            <a:r>
              <a:rPr lang="en-US" sz="1050" dirty="0">
                <a:solidFill>
                  <a:srgbClr val="475569"/>
                </a:solidFill>
              </a:rPr>
              <a:t>Create /llms.txt at the webroot with a business summary, service description, ABN, and a page index. Every major AI crawler (GPTBot, ClaudeBot, PerplexityBot) uses this file to understand what a site is and which pages to prioritise for citation. Currently returns a 404.</a:t>
            </a:r>
            <a:endParaRPr lang="en-US" sz="1050" dirty="0"/>
          </a:p>
        </p:txBody>
      </p:sp>
      <p:sp>
        <p:nvSpPr>
          <p:cNvPr id="8" name="Shape 6"/>
          <p:cNvSpPr/>
          <p:nvPr/>
        </p:nvSpPr>
        <p:spPr>
          <a:xfrm>
            <a:off x="320040" y="2185416"/>
            <a:ext cx="8503920" cy="132588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9" name="Shape 7"/>
          <p:cNvSpPr/>
          <p:nvPr/>
        </p:nvSpPr>
        <p:spPr>
          <a:xfrm>
            <a:off x="320040" y="2185416"/>
            <a:ext cx="64008" cy="1325880"/>
          </a:xfrm>
          <a:prstGeom prst="rect">
            <a:avLst/>
          </a:prstGeom>
          <a:solidFill>
            <a:srgbClr val="DC2626"/>
          </a:solidFill>
          <a:ln/>
        </p:spPr>
      </p:sp>
      <p:sp>
        <p:nvSpPr>
          <p:cNvPr id="10" name="Text 8"/>
          <p:cNvSpPr/>
          <p:nvPr/>
        </p:nvSpPr>
        <p:spPr>
          <a:xfrm>
            <a:off x="512064" y="2276856"/>
            <a:ext cx="8229600" cy="292608"/>
          </a:xfrm>
          <a:prstGeom prst="rect">
            <a:avLst/>
          </a:prstGeom>
          <a:noFill/>
          <a:ln/>
        </p:spPr>
        <p:txBody>
          <a:bodyPr wrap="square" lIns="0" tIns="0" rIns="0" bIns="0" rtlCol="0" anchor="ctr"/>
          <a:lstStyle/>
          <a:p>
            <a:pPr indent="0" marL="0">
              <a:buNone/>
            </a:pPr>
            <a:r>
              <a:rPr lang="en-US" sz="1250" b="1" dirty="0">
                <a:solidFill>
                  <a:srgbClr val="1E293B"/>
                </a:solidFill>
              </a:rPr>
              <a:t>C2 — Zero Schema Markup on All 11 Pages</a:t>
            </a:r>
            <a:endParaRPr lang="en-US" sz="1250" dirty="0"/>
          </a:p>
        </p:txBody>
      </p:sp>
      <p:sp>
        <p:nvSpPr>
          <p:cNvPr id="11" name="Text 9"/>
          <p:cNvSpPr/>
          <p:nvPr/>
        </p:nvSpPr>
        <p:spPr>
          <a:xfrm>
            <a:off x="512064" y="2606040"/>
            <a:ext cx="8138160" cy="841248"/>
          </a:xfrm>
          <a:prstGeom prst="rect">
            <a:avLst/>
          </a:prstGeom>
          <a:noFill/>
          <a:ln/>
        </p:spPr>
        <p:txBody>
          <a:bodyPr wrap="square" lIns="0" tIns="0" rIns="0" bIns="0" rtlCol="0" anchor="ctr"/>
          <a:lstStyle/>
          <a:p>
            <a:pPr indent="0" marL="0">
              <a:buNone/>
            </a:pPr>
            <a:r>
              <a:rPr lang="en-US" sz="1050" dirty="0">
                <a:solidFill>
                  <a:srgbClr val="475569"/>
                </a:solidFill>
              </a:rPr>
              <a:t>AI systems use LocalBusiness / ElectricalContractor schema as the primary signal to identify a local business entity. Yoast SEO is installed but not outputting schema — this is a configuration fault, not a missing plugin. Fix Yoast's Knowledge Graph settings and add LocalBusiness + ElectricalContractor JSON-LD to the homepage &lt;head&gt;.</a:t>
            </a:r>
            <a:endParaRPr lang="en-US" sz="1050" dirty="0"/>
          </a:p>
        </p:txBody>
      </p:sp>
      <p:sp>
        <p:nvSpPr>
          <p:cNvPr id="12" name="Shape 10"/>
          <p:cNvSpPr/>
          <p:nvPr/>
        </p:nvSpPr>
        <p:spPr>
          <a:xfrm>
            <a:off x="320040" y="3621024"/>
            <a:ext cx="8503920" cy="132588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3" name="Shape 11"/>
          <p:cNvSpPr/>
          <p:nvPr/>
        </p:nvSpPr>
        <p:spPr>
          <a:xfrm>
            <a:off x="320040" y="3621024"/>
            <a:ext cx="64008" cy="1325880"/>
          </a:xfrm>
          <a:prstGeom prst="rect">
            <a:avLst/>
          </a:prstGeom>
          <a:solidFill>
            <a:srgbClr val="DC2626"/>
          </a:solidFill>
          <a:ln/>
        </p:spPr>
      </p:sp>
      <p:sp>
        <p:nvSpPr>
          <p:cNvPr id="14" name="Text 12"/>
          <p:cNvSpPr/>
          <p:nvPr/>
        </p:nvSpPr>
        <p:spPr>
          <a:xfrm>
            <a:off x="512064" y="3712464"/>
            <a:ext cx="8229600" cy="292608"/>
          </a:xfrm>
          <a:prstGeom prst="rect">
            <a:avLst/>
          </a:prstGeom>
          <a:noFill/>
          <a:ln/>
        </p:spPr>
        <p:txBody>
          <a:bodyPr wrap="square" lIns="0" tIns="0" rIns="0" bIns="0" rtlCol="0" anchor="ctr"/>
          <a:lstStyle/>
          <a:p>
            <a:pPr indent="0" marL="0">
              <a:buNone/>
            </a:pPr>
            <a:r>
              <a:rPr lang="en-US" sz="1250" b="1" dirty="0">
                <a:solidFill>
                  <a:srgbClr val="1E293B"/>
                </a:solidFill>
              </a:rPr>
              <a:t>C3 — Two Service Pages Are 'Coming Soon' Placeholders</a:t>
            </a:r>
            <a:endParaRPr lang="en-US" sz="1250" dirty="0"/>
          </a:p>
        </p:txBody>
      </p:sp>
      <p:sp>
        <p:nvSpPr>
          <p:cNvPr id="15" name="Text 13"/>
          <p:cNvSpPr/>
          <p:nvPr/>
        </p:nvSpPr>
        <p:spPr>
          <a:xfrm>
            <a:off x="512064" y="4041648"/>
            <a:ext cx="8138160" cy="841248"/>
          </a:xfrm>
          <a:prstGeom prst="rect">
            <a:avLst/>
          </a:prstGeom>
          <a:noFill/>
          <a:ln/>
        </p:spPr>
        <p:txBody>
          <a:bodyPr wrap="square" lIns="0" tIns="0" rIns="0" bIns="0" rtlCol="0" anchor="ctr"/>
          <a:lstStyle/>
          <a:p>
            <a:pPr indent="0" marL="0">
              <a:buNone/>
            </a:pPr>
            <a:r>
              <a:rPr lang="en-US" sz="1050" dirty="0">
                <a:solidFill>
                  <a:srgbClr val="475569"/>
                </a:solidFill>
              </a:rPr>
              <a:t>Pages: /home-automation-2/ and /project-management/ are both listed core services with zero body content. Two of eleven pages waste crawl budget and signal low content quality to AI systems. Write minimum 400-word service descriptions for both, with technical specifics and local suburb mentions.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DC2626"/>
          </a:solidFill>
          <a:ln/>
        </p:spPr>
      </p:sp>
      <p:sp>
        <p:nvSpPr>
          <p:cNvPr id="3" name="Text 1"/>
          <p:cNvSpPr/>
          <p:nvPr/>
        </p:nvSpPr>
        <p:spPr>
          <a:xfrm>
            <a:off x="411480" y="0"/>
            <a:ext cx="832104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CRITICAL ISSUES — Trust &amp; Visibility Gaps</a:t>
            </a:r>
            <a:endParaRPr lang="en-US" sz="1300" dirty="0"/>
          </a:p>
        </p:txBody>
      </p:sp>
      <p:sp>
        <p:nvSpPr>
          <p:cNvPr id="4" name="Shape 2"/>
          <p:cNvSpPr/>
          <p:nvPr/>
        </p:nvSpPr>
        <p:spPr>
          <a:xfrm>
            <a:off x="320040" y="731520"/>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 name="Shape 3"/>
          <p:cNvSpPr/>
          <p:nvPr/>
        </p:nvSpPr>
        <p:spPr>
          <a:xfrm>
            <a:off x="320040" y="731520"/>
            <a:ext cx="64008" cy="1005840"/>
          </a:xfrm>
          <a:prstGeom prst="rect">
            <a:avLst/>
          </a:prstGeom>
          <a:solidFill>
            <a:srgbClr val="DC2626"/>
          </a:solidFill>
          <a:ln/>
        </p:spPr>
      </p:sp>
      <p:sp>
        <p:nvSpPr>
          <p:cNvPr id="6" name="Text 4"/>
          <p:cNvSpPr/>
          <p:nvPr/>
        </p:nvSpPr>
        <p:spPr>
          <a:xfrm>
            <a:off x="512064" y="804672"/>
            <a:ext cx="8229600" cy="256032"/>
          </a:xfrm>
          <a:prstGeom prst="rect">
            <a:avLst/>
          </a:prstGeom>
          <a:noFill/>
          <a:ln/>
        </p:spPr>
        <p:txBody>
          <a:bodyPr wrap="square" lIns="0" tIns="0" rIns="0" bIns="0" rtlCol="0" anchor="ctr"/>
          <a:lstStyle/>
          <a:p>
            <a:pPr indent="0" marL="0">
              <a:buNone/>
            </a:pPr>
            <a:r>
              <a:rPr lang="en-US" sz="1150" b="1" dirty="0">
                <a:solidFill>
                  <a:srgbClr val="1E293B"/>
                </a:solidFill>
              </a:rPr>
              <a:t>C4 — No Meta Descriptions on Any of 11 Pages</a:t>
            </a:r>
            <a:endParaRPr lang="en-US" sz="1150" dirty="0"/>
          </a:p>
        </p:txBody>
      </p:sp>
      <p:sp>
        <p:nvSpPr>
          <p:cNvPr id="7" name="Text 5"/>
          <p:cNvSpPr/>
          <p:nvPr/>
        </p:nvSpPr>
        <p:spPr>
          <a:xfrm>
            <a:off x="512064" y="1078992"/>
            <a:ext cx="8138160" cy="603504"/>
          </a:xfrm>
          <a:prstGeom prst="rect">
            <a:avLst/>
          </a:prstGeom>
          <a:noFill/>
          <a:ln/>
        </p:spPr>
        <p:txBody>
          <a:bodyPr wrap="square" lIns="0" tIns="0" rIns="0" bIns="0" rtlCol="0" anchor="ctr"/>
          <a:lstStyle/>
          <a:p>
            <a:pPr indent="0" marL="0">
              <a:buNone/>
            </a:pPr>
            <a:r>
              <a:rPr lang="en-US" sz="1000" dirty="0">
                <a:solidFill>
                  <a:srgbClr val="475569"/>
                </a:solidFill>
              </a:rPr>
              <a:t>Add 140–160 character meta descriptions to all pages via Yoast SEO, in answer-first format. Example for homepage: 'Licensed electrician in Macquarie Fields &amp; South West Sydney — residential, commercial, and industrial electrical work. Free quotes. Call 0423 905 982.'</a:t>
            </a:r>
            <a:endParaRPr lang="en-US" sz="1000" dirty="0"/>
          </a:p>
        </p:txBody>
      </p:sp>
      <p:sp>
        <p:nvSpPr>
          <p:cNvPr id="8" name="Shape 6"/>
          <p:cNvSpPr/>
          <p:nvPr/>
        </p:nvSpPr>
        <p:spPr>
          <a:xfrm>
            <a:off x="320040" y="1819656"/>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9" name="Shape 7"/>
          <p:cNvSpPr/>
          <p:nvPr/>
        </p:nvSpPr>
        <p:spPr>
          <a:xfrm>
            <a:off x="320040" y="1819656"/>
            <a:ext cx="64008" cy="1005840"/>
          </a:xfrm>
          <a:prstGeom prst="rect">
            <a:avLst/>
          </a:prstGeom>
          <a:solidFill>
            <a:srgbClr val="DC2626"/>
          </a:solidFill>
          <a:ln/>
        </p:spPr>
      </p:sp>
      <p:sp>
        <p:nvSpPr>
          <p:cNvPr id="10" name="Text 8"/>
          <p:cNvSpPr/>
          <p:nvPr/>
        </p:nvSpPr>
        <p:spPr>
          <a:xfrm>
            <a:off x="512064" y="1892808"/>
            <a:ext cx="8229600" cy="256032"/>
          </a:xfrm>
          <a:prstGeom prst="rect">
            <a:avLst/>
          </a:prstGeom>
          <a:noFill/>
          <a:ln/>
        </p:spPr>
        <p:txBody>
          <a:bodyPr wrap="square" lIns="0" tIns="0" rIns="0" bIns="0" rtlCol="0" anchor="ctr"/>
          <a:lstStyle/>
          <a:p>
            <a:pPr indent="0" marL="0">
              <a:buNone/>
            </a:pPr>
            <a:r>
              <a:rPr lang="en-US" sz="1150" b="1" dirty="0">
                <a:solidFill>
                  <a:srgbClr val="1E293B"/>
                </a:solidFill>
              </a:rPr>
              <a:t>C5 — "Employee Name" Placeholder Text Live in Production</a:t>
            </a:r>
            <a:endParaRPr lang="en-US" sz="1150" dirty="0"/>
          </a:p>
        </p:txBody>
      </p:sp>
      <p:sp>
        <p:nvSpPr>
          <p:cNvPr id="11" name="Text 9"/>
          <p:cNvSpPr/>
          <p:nvPr/>
        </p:nvSpPr>
        <p:spPr>
          <a:xfrm>
            <a:off x="512064" y="2167128"/>
            <a:ext cx="8138160" cy="603504"/>
          </a:xfrm>
          <a:prstGeom prst="rect">
            <a:avLst/>
          </a:prstGeom>
          <a:noFill/>
          <a:ln/>
        </p:spPr>
        <p:txBody>
          <a:bodyPr wrap="square" lIns="0" tIns="0" rIns="0" bIns="0" rtlCol="0" anchor="ctr"/>
          <a:lstStyle/>
          <a:p>
            <a:pPr indent="0" marL="0">
              <a:buNone/>
            </a:pPr>
            <a:r>
              <a:rPr lang="en-US" sz="1000" dirty="0">
                <a:solidFill>
                  <a:srgbClr val="475569"/>
                </a:solidFill>
              </a:rPr>
              <a:t>The About page team section shows four entries labelled 'Employee Name' with no real names, photos, or qualifications. Replace all four instances with real team member names and one-line descriptions, or remove the section entirely.</a:t>
            </a:r>
            <a:endParaRPr lang="en-US" sz="1000" dirty="0"/>
          </a:p>
        </p:txBody>
      </p:sp>
      <p:sp>
        <p:nvSpPr>
          <p:cNvPr id="12" name="Shape 10"/>
          <p:cNvSpPr/>
          <p:nvPr/>
        </p:nvSpPr>
        <p:spPr>
          <a:xfrm>
            <a:off x="320040" y="2907792"/>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3" name="Shape 11"/>
          <p:cNvSpPr/>
          <p:nvPr/>
        </p:nvSpPr>
        <p:spPr>
          <a:xfrm>
            <a:off x="320040" y="2907792"/>
            <a:ext cx="64008" cy="1005840"/>
          </a:xfrm>
          <a:prstGeom prst="rect">
            <a:avLst/>
          </a:prstGeom>
          <a:solidFill>
            <a:srgbClr val="DC2626"/>
          </a:solidFill>
          <a:ln/>
        </p:spPr>
      </p:sp>
      <p:sp>
        <p:nvSpPr>
          <p:cNvPr id="14" name="Text 12"/>
          <p:cNvSpPr/>
          <p:nvPr/>
        </p:nvSpPr>
        <p:spPr>
          <a:xfrm>
            <a:off x="512064" y="2980944"/>
            <a:ext cx="8229600" cy="256032"/>
          </a:xfrm>
          <a:prstGeom prst="rect">
            <a:avLst/>
          </a:prstGeom>
          <a:noFill/>
          <a:ln/>
        </p:spPr>
        <p:txBody>
          <a:bodyPr wrap="square" lIns="0" tIns="0" rIns="0" bIns="0" rtlCol="0" anchor="ctr"/>
          <a:lstStyle/>
          <a:p>
            <a:pPr indent="0" marL="0">
              <a:buNone/>
            </a:pPr>
            <a:r>
              <a:rPr lang="en-US" sz="1150" b="1" dirty="0">
                <a:solidFill>
                  <a:srgbClr val="1E293B"/>
                </a:solidFill>
              </a:rPr>
              <a:t>C6 — NSW Electrical Contractor Licence Number Not Displayed</a:t>
            </a:r>
            <a:endParaRPr lang="en-US" sz="1150" dirty="0"/>
          </a:p>
        </p:txBody>
      </p:sp>
      <p:sp>
        <p:nvSpPr>
          <p:cNvPr id="15" name="Text 13"/>
          <p:cNvSpPr/>
          <p:nvPr/>
        </p:nvSpPr>
        <p:spPr>
          <a:xfrm>
            <a:off x="512064" y="3255264"/>
            <a:ext cx="8138160" cy="603504"/>
          </a:xfrm>
          <a:prstGeom prst="rect">
            <a:avLst/>
          </a:prstGeom>
          <a:noFill/>
          <a:ln/>
        </p:spPr>
        <p:txBody>
          <a:bodyPr wrap="square" lIns="0" tIns="0" rIns="0" bIns="0" rtlCol="0" anchor="ctr"/>
          <a:lstStyle/>
          <a:p>
            <a:pPr indent="0" marL="0">
              <a:buNone/>
            </a:pPr>
            <a:r>
              <a:rPr lang="en-US" sz="1000" dirty="0">
                <a:solidFill>
                  <a:srgbClr val="475569"/>
                </a:solidFill>
              </a:rPr>
              <a:t>In NSW, displaying the electrical contractor licence number is a regulatory expectation and primary trust credential. Add the licence number to the footer alongside ABN/ACN, and to the About page credentials section.</a:t>
            </a:r>
            <a:endParaRPr lang="en-US" sz="1000" dirty="0"/>
          </a:p>
        </p:txBody>
      </p:sp>
      <p:sp>
        <p:nvSpPr>
          <p:cNvPr id="16" name="Shape 14"/>
          <p:cNvSpPr/>
          <p:nvPr/>
        </p:nvSpPr>
        <p:spPr>
          <a:xfrm>
            <a:off x="320040" y="3995928"/>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7" name="Shape 15"/>
          <p:cNvSpPr/>
          <p:nvPr/>
        </p:nvSpPr>
        <p:spPr>
          <a:xfrm>
            <a:off x="320040" y="3995928"/>
            <a:ext cx="64008" cy="1005840"/>
          </a:xfrm>
          <a:prstGeom prst="rect">
            <a:avLst/>
          </a:prstGeom>
          <a:solidFill>
            <a:srgbClr val="DC2626"/>
          </a:solidFill>
          <a:ln/>
        </p:spPr>
      </p:sp>
      <p:sp>
        <p:nvSpPr>
          <p:cNvPr id="18" name="Text 16"/>
          <p:cNvSpPr/>
          <p:nvPr/>
        </p:nvSpPr>
        <p:spPr>
          <a:xfrm>
            <a:off x="512064" y="4069080"/>
            <a:ext cx="8229600" cy="256032"/>
          </a:xfrm>
          <a:prstGeom prst="rect">
            <a:avLst/>
          </a:prstGeom>
          <a:noFill/>
          <a:ln/>
        </p:spPr>
        <p:txBody>
          <a:bodyPr wrap="square" lIns="0" tIns="0" rIns="0" bIns="0" rtlCol="0" anchor="ctr"/>
          <a:lstStyle/>
          <a:p>
            <a:pPr indent="0" marL="0">
              <a:buNone/>
            </a:pPr>
            <a:r>
              <a:rPr lang="en-US" sz="1150" b="1" dirty="0">
                <a:solidFill>
                  <a:srgbClr val="1E293B"/>
                </a:solidFill>
              </a:rPr>
              <a:t>C7 — No Google Business Profile / Critically Low Review Volume</a:t>
            </a:r>
            <a:endParaRPr lang="en-US" sz="1150" dirty="0"/>
          </a:p>
        </p:txBody>
      </p:sp>
      <p:sp>
        <p:nvSpPr>
          <p:cNvPr id="19" name="Text 17"/>
          <p:cNvSpPr/>
          <p:nvPr/>
        </p:nvSpPr>
        <p:spPr>
          <a:xfrm>
            <a:off x="512064" y="4343400"/>
            <a:ext cx="8138160" cy="603504"/>
          </a:xfrm>
          <a:prstGeom prst="rect">
            <a:avLst/>
          </a:prstGeom>
          <a:noFill/>
          <a:ln/>
        </p:spPr>
        <p:txBody>
          <a:bodyPr wrap="square" lIns="0" tIns="0" rIns="0" bIns="0" rtlCol="0" anchor="ctr"/>
          <a:lstStyle/>
          <a:p>
            <a:pPr indent="0" marL="0">
              <a:buNone/>
            </a:pPr>
            <a:r>
              <a:rPr lang="en-US" sz="1000" dirty="0">
                <a:solidFill>
                  <a:srgbClr val="475569"/>
                </a:solidFill>
              </a:rPr>
              <a:t>AI Overviews for local queries draw directly from Google Business Profile review volume and ratings. Verify or create GBP immediately. Implement a systematic review request process targeting 50+ Google reviews by reaching out to the 28 confirmed ServiceSeeking hires and past clients.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D97706"/>
          </a:solidFill>
          <a:ln/>
        </p:spPr>
      </p:sp>
      <p:sp>
        <p:nvSpPr>
          <p:cNvPr id="3" name="Text 1"/>
          <p:cNvSpPr/>
          <p:nvPr/>
        </p:nvSpPr>
        <p:spPr>
          <a:xfrm>
            <a:off x="411480" y="0"/>
            <a:ext cx="832104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HIGH PRIORITY ISSUES</a:t>
            </a:r>
            <a:endParaRPr lang="en-US" sz="1300" dirty="0"/>
          </a:p>
        </p:txBody>
      </p:sp>
      <p:sp>
        <p:nvSpPr>
          <p:cNvPr id="4" name="Shape 2"/>
          <p:cNvSpPr/>
          <p:nvPr/>
        </p:nvSpPr>
        <p:spPr>
          <a:xfrm>
            <a:off x="228600" y="71323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 name="Shape 3"/>
          <p:cNvSpPr/>
          <p:nvPr/>
        </p:nvSpPr>
        <p:spPr>
          <a:xfrm>
            <a:off x="228600" y="713232"/>
            <a:ext cx="64008" cy="1024128"/>
          </a:xfrm>
          <a:prstGeom prst="rect">
            <a:avLst/>
          </a:prstGeom>
          <a:solidFill>
            <a:srgbClr val="D97706"/>
          </a:solidFill>
          <a:ln/>
        </p:spPr>
      </p:sp>
      <p:sp>
        <p:nvSpPr>
          <p:cNvPr id="6" name="Text 4"/>
          <p:cNvSpPr/>
          <p:nvPr/>
        </p:nvSpPr>
        <p:spPr>
          <a:xfrm>
            <a:off x="411480" y="77724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H1 — Data Communication page is grammatically unreadable</a:t>
            </a:r>
            <a:endParaRPr lang="en-US" sz="1000" dirty="0"/>
          </a:p>
        </p:txBody>
      </p:sp>
      <p:sp>
        <p:nvSpPr>
          <p:cNvPr id="7" name="Text 5"/>
          <p:cNvSpPr/>
          <p:nvPr/>
        </p:nvSpPr>
        <p:spPr>
          <a:xfrm>
            <a:off x="411480" y="1097280"/>
            <a:ext cx="3977640" cy="585216"/>
          </a:xfrm>
          <a:prstGeom prst="rect">
            <a:avLst/>
          </a:prstGeom>
          <a:noFill/>
          <a:ln/>
        </p:spPr>
        <p:txBody>
          <a:bodyPr wrap="square" lIns="0" tIns="0" rIns="0" bIns="0" rtlCol="0" anchor="ctr"/>
          <a:lstStyle/>
          <a:p>
            <a:pPr indent="0" marL="0">
              <a:buNone/>
            </a:pPr>
            <a:r>
              <a:rPr lang="en-US" sz="900" dirty="0">
                <a:solidFill>
                  <a:srgbClr val="475569"/>
                </a:solidFill>
              </a:rPr>
              <a:t>Single broken paragraph that cannot be parsed by AI or human readers. Rewrite with technical specifics (Cat6, fibre optic, AS/CA S009).</a:t>
            </a:r>
            <a:endParaRPr lang="en-US" sz="900" dirty="0"/>
          </a:p>
        </p:txBody>
      </p:sp>
      <p:sp>
        <p:nvSpPr>
          <p:cNvPr id="8" name="Shape 6"/>
          <p:cNvSpPr/>
          <p:nvPr/>
        </p:nvSpPr>
        <p:spPr>
          <a:xfrm>
            <a:off x="228600" y="181051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9" name="Shape 7"/>
          <p:cNvSpPr/>
          <p:nvPr/>
        </p:nvSpPr>
        <p:spPr>
          <a:xfrm>
            <a:off x="228600" y="1810512"/>
            <a:ext cx="64008" cy="1024128"/>
          </a:xfrm>
          <a:prstGeom prst="rect">
            <a:avLst/>
          </a:prstGeom>
          <a:solidFill>
            <a:srgbClr val="D97706"/>
          </a:solidFill>
          <a:ln/>
        </p:spPr>
      </p:sp>
      <p:sp>
        <p:nvSpPr>
          <p:cNvPr id="10" name="Text 8"/>
          <p:cNvSpPr/>
          <p:nvPr/>
        </p:nvSpPr>
        <p:spPr>
          <a:xfrm>
            <a:off x="411480" y="187452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H2 — No AI-citable content structure on any page</a:t>
            </a:r>
            <a:endParaRPr lang="en-US" sz="1000" dirty="0"/>
          </a:p>
        </p:txBody>
      </p:sp>
      <p:sp>
        <p:nvSpPr>
          <p:cNvPr id="11" name="Text 9"/>
          <p:cNvSpPr/>
          <p:nvPr/>
        </p:nvSpPr>
        <p:spPr>
          <a:xfrm>
            <a:off x="411480" y="2194560"/>
            <a:ext cx="3977640" cy="585216"/>
          </a:xfrm>
          <a:prstGeom prst="rect">
            <a:avLst/>
          </a:prstGeom>
          <a:noFill/>
          <a:ln/>
        </p:spPr>
        <p:txBody>
          <a:bodyPr wrap="square" lIns="0" tIns="0" rIns="0" bIns="0" rtlCol="0" anchor="ctr"/>
          <a:lstStyle/>
          <a:p>
            <a:pPr indent="0" marL="0">
              <a:buNone/>
            </a:pPr>
            <a:r>
              <a:rPr lang="en-US" sz="900" dirty="0">
                <a:solidFill>
                  <a:srgbClr val="475569"/>
                </a:solidFill>
              </a:rPr>
              <a:t>Zero FAQ sections, question-based headings, or answer-first paragraphs. Content is written as marketing copy, not answer content. Add a 5-question FAQ to /safety-inspection/ as first implementation.</a:t>
            </a:r>
            <a:endParaRPr lang="en-US" sz="900" dirty="0"/>
          </a:p>
        </p:txBody>
      </p:sp>
      <p:sp>
        <p:nvSpPr>
          <p:cNvPr id="12" name="Shape 10"/>
          <p:cNvSpPr/>
          <p:nvPr/>
        </p:nvSpPr>
        <p:spPr>
          <a:xfrm>
            <a:off x="228600" y="290779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3" name="Shape 11"/>
          <p:cNvSpPr/>
          <p:nvPr/>
        </p:nvSpPr>
        <p:spPr>
          <a:xfrm>
            <a:off x="228600" y="2907792"/>
            <a:ext cx="64008" cy="1024128"/>
          </a:xfrm>
          <a:prstGeom prst="rect">
            <a:avLst/>
          </a:prstGeom>
          <a:solidFill>
            <a:srgbClr val="D97706"/>
          </a:solidFill>
          <a:ln/>
        </p:spPr>
      </p:sp>
      <p:sp>
        <p:nvSpPr>
          <p:cNvPr id="14" name="Text 12"/>
          <p:cNvSpPr/>
          <p:nvPr/>
        </p:nvSpPr>
        <p:spPr>
          <a:xfrm>
            <a:off x="411480" y="297180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H3 — No Open Graph tags on any page</a:t>
            </a:r>
            <a:endParaRPr lang="en-US" sz="1000" dirty="0"/>
          </a:p>
        </p:txBody>
      </p:sp>
      <p:sp>
        <p:nvSpPr>
          <p:cNvPr id="15" name="Text 13"/>
          <p:cNvSpPr/>
          <p:nvPr/>
        </p:nvSpPr>
        <p:spPr>
          <a:xfrm>
            <a:off x="411480" y="3291840"/>
            <a:ext cx="3977640" cy="585216"/>
          </a:xfrm>
          <a:prstGeom prst="rect">
            <a:avLst/>
          </a:prstGeom>
          <a:noFill/>
          <a:ln/>
        </p:spPr>
        <p:txBody>
          <a:bodyPr wrap="square" lIns="0" tIns="0" rIns="0" bIns="0" rtlCol="0" anchor="ctr"/>
          <a:lstStyle/>
          <a:p>
            <a:pPr indent="0" marL="0">
              <a:buNone/>
            </a:pPr>
            <a:r>
              <a:rPr lang="en-US" sz="900" dirty="0">
                <a:solidFill>
                  <a:srgbClr val="475569"/>
                </a:solidFill>
              </a:rPr>
              <a:t>Yoast SEO should output OG tags automatically but is not doing so. Fix in Yoast Social settings. Absence means no preview cards when pages are shared or cited.</a:t>
            </a:r>
            <a:endParaRPr lang="en-US" sz="900" dirty="0"/>
          </a:p>
        </p:txBody>
      </p:sp>
      <p:sp>
        <p:nvSpPr>
          <p:cNvPr id="16" name="Shape 14"/>
          <p:cNvSpPr/>
          <p:nvPr/>
        </p:nvSpPr>
        <p:spPr>
          <a:xfrm>
            <a:off x="228600" y="400507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7" name="Shape 15"/>
          <p:cNvSpPr/>
          <p:nvPr/>
        </p:nvSpPr>
        <p:spPr>
          <a:xfrm>
            <a:off x="228600" y="4005072"/>
            <a:ext cx="64008" cy="1024128"/>
          </a:xfrm>
          <a:prstGeom prst="rect">
            <a:avLst/>
          </a:prstGeom>
          <a:solidFill>
            <a:srgbClr val="D97706"/>
          </a:solidFill>
          <a:ln/>
        </p:spPr>
      </p:sp>
      <p:sp>
        <p:nvSpPr>
          <p:cNvPr id="18" name="Text 16"/>
          <p:cNvSpPr/>
          <p:nvPr/>
        </p:nvSpPr>
        <p:spPr>
          <a:xfrm>
            <a:off x="411480" y="406908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H4 — TTFB consistently above 1 second (1.1–1.2s measured)</a:t>
            </a:r>
            <a:endParaRPr lang="en-US" sz="1000" dirty="0"/>
          </a:p>
        </p:txBody>
      </p:sp>
      <p:sp>
        <p:nvSpPr>
          <p:cNvPr id="19" name="Text 17"/>
          <p:cNvSpPr/>
          <p:nvPr/>
        </p:nvSpPr>
        <p:spPr>
          <a:xfrm>
            <a:off x="411480" y="4389120"/>
            <a:ext cx="3977640" cy="585216"/>
          </a:xfrm>
          <a:prstGeom prst="rect">
            <a:avLst/>
          </a:prstGeom>
          <a:noFill/>
          <a:ln/>
        </p:spPr>
        <p:txBody>
          <a:bodyPr wrap="square" lIns="0" tIns="0" rIns="0" bIns="0" rtlCol="0" anchor="ctr"/>
          <a:lstStyle/>
          <a:p>
            <a:pPr indent="0" marL="0">
              <a:buNone/>
            </a:pPr>
            <a:r>
              <a:rPr lang="en-US" sz="900" dirty="0">
                <a:solidFill>
                  <a:srgbClr val="475569"/>
                </a:solidFill>
              </a:rPr>
              <a:t>No page caching active despite the site running LiteSpeed. Install the LiteSpeed Cache WordPress plugin (free). Target TTFB &lt; 300ms.</a:t>
            </a:r>
            <a:endParaRPr lang="en-US" sz="900" dirty="0"/>
          </a:p>
        </p:txBody>
      </p:sp>
      <p:sp>
        <p:nvSpPr>
          <p:cNvPr id="20" name="Shape 18"/>
          <p:cNvSpPr/>
          <p:nvPr/>
        </p:nvSpPr>
        <p:spPr>
          <a:xfrm>
            <a:off x="4663440" y="71323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1" name="Shape 19"/>
          <p:cNvSpPr/>
          <p:nvPr/>
        </p:nvSpPr>
        <p:spPr>
          <a:xfrm>
            <a:off x="4663440" y="713232"/>
            <a:ext cx="64008" cy="1024128"/>
          </a:xfrm>
          <a:prstGeom prst="rect">
            <a:avLst/>
          </a:prstGeom>
          <a:solidFill>
            <a:srgbClr val="D97706"/>
          </a:solidFill>
          <a:ln/>
        </p:spPr>
      </p:sp>
      <p:sp>
        <p:nvSpPr>
          <p:cNvPr id="22" name="Text 20"/>
          <p:cNvSpPr/>
          <p:nvPr/>
        </p:nvSpPr>
        <p:spPr>
          <a:xfrm>
            <a:off x="4846320" y="77724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H5 — No platform presence on AI training sources</a:t>
            </a:r>
            <a:endParaRPr lang="en-US" sz="1000" dirty="0"/>
          </a:p>
        </p:txBody>
      </p:sp>
      <p:sp>
        <p:nvSpPr>
          <p:cNvPr id="23" name="Text 21"/>
          <p:cNvSpPr/>
          <p:nvPr/>
        </p:nvSpPr>
        <p:spPr>
          <a:xfrm>
            <a:off x="4846320" y="1097280"/>
            <a:ext cx="3977640" cy="585216"/>
          </a:xfrm>
          <a:prstGeom prst="rect">
            <a:avLst/>
          </a:prstGeom>
          <a:noFill/>
          <a:ln/>
        </p:spPr>
        <p:txBody>
          <a:bodyPr wrap="square" lIns="0" tIns="0" rIns="0" bIns="0" rtlCol="0" anchor="ctr"/>
          <a:lstStyle/>
          <a:p>
            <a:pPr indent="0" marL="0">
              <a:buNone/>
            </a:pPr>
            <a:r>
              <a:rPr lang="en-US" sz="900" dirty="0">
                <a:solidFill>
                  <a:srgbClr val="475569"/>
                </a:solidFill>
              </a:rPr>
              <a:t>Absent from YouTube, Reddit, and Wikipedia — the three platforms with highest measured correlation to AI citation. Facebook (285 likes) and trade directories are weak signals in AI retrieval.</a:t>
            </a:r>
            <a:endParaRPr lang="en-US" sz="900" dirty="0"/>
          </a:p>
        </p:txBody>
      </p:sp>
      <p:sp>
        <p:nvSpPr>
          <p:cNvPr id="24" name="Shape 22"/>
          <p:cNvSpPr/>
          <p:nvPr/>
        </p:nvSpPr>
        <p:spPr>
          <a:xfrm>
            <a:off x="4663440" y="181051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5" name="Shape 23"/>
          <p:cNvSpPr/>
          <p:nvPr/>
        </p:nvSpPr>
        <p:spPr>
          <a:xfrm>
            <a:off x="4663440" y="1810512"/>
            <a:ext cx="64008" cy="1024128"/>
          </a:xfrm>
          <a:prstGeom prst="rect">
            <a:avLst/>
          </a:prstGeom>
          <a:solidFill>
            <a:srgbClr val="D97706"/>
          </a:solidFill>
          <a:ln/>
        </p:spPr>
      </p:sp>
      <p:sp>
        <p:nvSpPr>
          <p:cNvPr id="26" name="Text 24"/>
          <p:cNvSpPr/>
          <p:nvPr/>
        </p:nvSpPr>
        <p:spPr>
          <a:xfrm>
            <a:off x="4846320" y="187452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H6 — Gallery images have no captions or descriptions</a:t>
            </a:r>
            <a:endParaRPr lang="en-US" sz="1000" dirty="0"/>
          </a:p>
        </p:txBody>
      </p:sp>
      <p:sp>
        <p:nvSpPr>
          <p:cNvPr id="27" name="Text 25"/>
          <p:cNvSpPr/>
          <p:nvPr/>
        </p:nvSpPr>
        <p:spPr>
          <a:xfrm>
            <a:off x="4846320" y="2194560"/>
            <a:ext cx="3977640" cy="585216"/>
          </a:xfrm>
          <a:prstGeom prst="rect">
            <a:avLst/>
          </a:prstGeom>
          <a:noFill/>
          <a:ln/>
        </p:spPr>
        <p:txBody>
          <a:bodyPr wrap="square" lIns="0" tIns="0" rIns="0" bIns="0" rtlCol="0" anchor="ctr"/>
          <a:lstStyle/>
          <a:p>
            <a:pPr indent="0" marL="0">
              <a:buNone/>
            </a:pPr>
            <a:r>
              <a:rPr lang="en-US" sz="900" dirty="0">
                <a:solidFill>
                  <a:srgbClr val="475569"/>
                </a:solidFill>
              </a:rPr>
              <a:t>35+ project photos exist but all are unlabelled. AI cannot extract any meaning from images. Add one-line captions: 'Work type — Suburb, Year' to every image.</a:t>
            </a:r>
            <a:endParaRPr lang="en-US" sz="900" dirty="0"/>
          </a:p>
        </p:txBody>
      </p:sp>
      <p:sp>
        <p:nvSpPr>
          <p:cNvPr id="28" name="Shape 26"/>
          <p:cNvSpPr/>
          <p:nvPr/>
        </p:nvSpPr>
        <p:spPr>
          <a:xfrm>
            <a:off x="4663440" y="2907792"/>
            <a:ext cx="4251960" cy="102412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9" name="Shape 27"/>
          <p:cNvSpPr/>
          <p:nvPr/>
        </p:nvSpPr>
        <p:spPr>
          <a:xfrm>
            <a:off x="4663440" y="2907792"/>
            <a:ext cx="64008" cy="1024128"/>
          </a:xfrm>
          <a:prstGeom prst="rect">
            <a:avLst/>
          </a:prstGeom>
          <a:solidFill>
            <a:srgbClr val="D97706"/>
          </a:solidFill>
          <a:ln/>
        </p:spPr>
      </p:sp>
      <p:sp>
        <p:nvSpPr>
          <p:cNvPr id="30" name="Text 28"/>
          <p:cNvSpPr/>
          <p:nvPr/>
        </p:nvSpPr>
        <p:spPr>
          <a:xfrm>
            <a:off x="4846320" y="2971800"/>
            <a:ext cx="3977640" cy="292608"/>
          </a:xfrm>
          <a:prstGeom prst="rect">
            <a:avLst/>
          </a:prstGeom>
          <a:noFill/>
          <a:ln/>
        </p:spPr>
        <p:txBody>
          <a:bodyPr wrap="square" lIns="0" tIns="0" rIns="0" bIns="0" rtlCol="0" anchor="ctr"/>
          <a:lstStyle/>
          <a:p>
            <a:pPr indent="0" marL="0">
              <a:buNone/>
            </a:pPr>
            <a:r>
              <a:rPr lang="en-US" sz="1000" b="1" dirty="0">
                <a:solidFill>
                  <a:srgbClr val="1E293B"/>
                </a:solidFill>
              </a:rPr>
              <a:t>H7 — Business xCellenceAwards certificate is image-only</a:t>
            </a:r>
            <a:endParaRPr lang="en-US" sz="1000" dirty="0"/>
          </a:p>
        </p:txBody>
      </p:sp>
      <p:sp>
        <p:nvSpPr>
          <p:cNvPr id="31" name="Text 29"/>
          <p:cNvSpPr/>
          <p:nvPr/>
        </p:nvSpPr>
        <p:spPr>
          <a:xfrm>
            <a:off x="4846320" y="3291840"/>
            <a:ext cx="3977640" cy="585216"/>
          </a:xfrm>
          <a:prstGeom prst="rect">
            <a:avLst/>
          </a:prstGeom>
          <a:noFill/>
          <a:ln/>
        </p:spPr>
        <p:txBody>
          <a:bodyPr wrap="square" lIns="0" tIns="0" rIns="0" bIns="0" rtlCol="0" anchor="ctr"/>
          <a:lstStyle/>
          <a:p>
            <a:pPr indent="0" marL="0">
              <a:buNone/>
            </a:pPr>
            <a:r>
              <a:rPr lang="en-US" sz="900" dirty="0">
                <a:solidFill>
                  <a:srgbClr val="475569"/>
                </a:solidFill>
              </a:rPr>
              <a:t>A genuine differentiator invisible to AI crawlers. Add text describing the award (name, year, category, issuing body) to the About page.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68580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CATEGORY DEEP DIVE: AI CITABILITY</a:t>
            </a:r>
            <a:endParaRPr lang="en-US" sz="1300" dirty="0"/>
          </a:p>
        </p:txBody>
      </p:sp>
      <p:sp>
        <p:nvSpPr>
          <p:cNvPr id="4" name="Text 2"/>
          <p:cNvSpPr/>
          <p:nvPr/>
        </p:nvSpPr>
        <p:spPr>
          <a:xfrm>
            <a:off x="7406640" y="0"/>
            <a:ext cx="1554480" cy="594360"/>
          </a:xfrm>
          <a:prstGeom prst="rect">
            <a:avLst/>
          </a:prstGeom>
          <a:noFill/>
          <a:ln/>
        </p:spPr>
        <p:txBody>
          <a:bodyPr wrap="square" lIns="0" tIns="0" rIns="0" bIns="0" rtlCol="0" anchor="ctr"/>
          <a:lstStyle/>
          <a:p>
            <a:pPr algn="r" indent="0" marL="0">
              <a:buNone/>
            </a:pPr>
            <a:r>
              <a:rPr lang="en-US" sz="1800" b="1" dirty="0">
                <a:solidFill>
                  <a:srgbClr val="DC2626"/>
                </a:solidFill>
              </a:rPr>
              <a:t>18 / 100</a:t>
            </a:r>
            <a:endParaRPr lang="en-US" sz="1800" dirty="0"/>
          </a:p>
        </p:txBody>
      </p:sp>
      <p:sp>
        <p:nvSpPr>
          <p:cNvPr id="5" name="Text 3"/>
          <p:cNvSpPr/>
          <p:nvPr/>
        </p:nvSpPr>
        <p:spPr>
          <a:xfrm>
            <a:off x="411480" y="731520"/>
            <a:ext cx="8321040" cy="320040"/>
          </a:xfrm>
          <a:prstGeom prst="rect">
            <a:avLst/>
          </a:prstGeom>
          <a:noFill/>
          <a:ln/>
        </p:spPr>
        <p:txBody>
          <a:bodyPr wrap="square" lIns="0" tIns="0" rIns="0" bIns="0" rtlCol="0" anchor="ctr"/>
          <a:lstStyle/>
          <a:p>
            <a:pPr indent="0" marL="0">
              <a:buNone/>
            </a:pPr>
            <a:r>
              <a:rPr lang="en-US" sz="1300" b="1" dirty="0">
                <a:solidFill>
                  <a:srgbClr val="1E293B"/>
                </a:solidFill>
              </a:rPr>
              <a:t>The site has genuine business assets — but zero AI-extractable evidence of them.</a:t>
            </a:r>
            <a:endParaRPr lang="en-US" sz="1300" dirty="0"/>
          </a:p>
        </p:txBody>
      </p:sp>
      <p:sp>
        <p:nvSpPr>
          <p:cNvPr id="6" name="Shape 4"/>
          <p:cNvSpPr/>
          <p:nvPr/>
        </p:nvSpPr>
        <p:spPr>
          <a:xfrm>
            <a:off x="365760" y="1179576"/>
            <a:ext cx="201168" cy="201168"/>
          </a:xfrm>
          <a:prstGeom prst="rect">
            <a:avLst/>
          </a:prstGeom>
          <a:solidFill>
            <a:srgbClr val="DC2626"/>
          </a:solidFill>
          <a:ln/>
        </p:spPr>
      </p:sp>
      <p:sp>
        <p:nvSpPr>
          <p:cNvPr id="7" name="Text 5"/>
          <p:cNvSpPr/>
          <p:nvPr/>
        </p:nvSpPr>
        <p:spPr>
          <a:xfrm>
            <a:off x="365760" y="117957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8" name="Text 6"/>
          <p:cNvSpPr/>
          <p:nvPr/>
        </p:nvSpPr>
        <p:spPr>
          <a:xfrm>
            <a:off x="685800" y="1115568"/>
            <a:ext cx="8046720" cy="384048"/>
          </a:xfrm>
          <a:prstGeom prst="rect">
            <a:avLst/>
          </a:prstGeom>
          <a:noFill/>
          <a:ln/>
        </p:spPr>
        <p:txBody>
          <a:bodyPr wrap="square" lIns="0" tIns="0" rIns="0" bIns="0" rtlCol="0" anchor="ctr"/>
          <a:lstStyle/>
          <a:p>
            <a:pPr indent="0" marL="0">
              <a:buNone/>
            </a:pPr>
            <a:r>
              <a:rPr lang="en-US" sz="1050" dirty="0">
                <a:solidFill>
                  <a:srgbClr val="475569"/>
                </a:solidFill>
              </a:rPr>
              <a:t>No page opens with a direct answer to a user question — content is marketing copy, not answer content</a:t>
            </a:r>
            <a:endParaRPr lang="en-US" sz="1050" dirty="0"/>
          </a:p>
        </p:txBody>
      </p:sp>
      <p:sp>
        <p:nvSpPr>
          <p:cNvPr id="9" name="Shape 7"/>
          <p:cNvSpPr/>
          <p:nvPr/>
        </p:nvSpPr>
        <p:spPr>
          <a:xfrm>
            <a:off x="365760" y="1618488"/>
            <a:ext cx="201168" cy="201168"/>
          </a:xfrm>
          <a:prstGeom prst="rect">
            <a:avLst/>
          </a:prstGeom>
          <a:solidFill>
            <a:srgbClr val="DC2626"/>
          </a:solidFill>
          <a:ln/>
        </p:spPr>
      </p:sp>
      <p:sp>
        <p:nvSpPr>
          <p:cNvPr id="10" name="Text 8"/>
          <p:cNvSpPr/>
          <p:nvPr/>
        </p:nvSpPr>
        <p:spPr>
          <a:xfrm>
            <a:off x="365760" y="1618488"/>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1" name="Text 9"/>
          <p:cNvSpPr/>
          <p:nvPr/>
        </p:nvSpPr>
        <p:spPr>
          <a:xfrm>
            <a:off x="685800" y="1554480"/>
            <a:ext cx="8046720" cy="384048"/>
          </a:xfrm>
          <a:prstGeom prst="rect">
            <a:avLst/>
          </a:prstGeom>
          <a:noFill/>
          <a:ln/>
        </p:spPr>
        <p:txBody>
          <a:bodyPr wrap="square" lIns="0" tIns="0" rIns="0" bIns="0" rtlCol="0" anchor="ctr"/>
          <a:lstStyle/>
          <a:p>
            <a:pPr indent="0" marL="0">
              <a:buNone/>
            </a:pPr>
            <a:r>
              <a:rPr lang="en-US" sz="1050" dirty="0">
                <a:solidFill>
                  <a:srgbClr val="475569"/>
                </a:solidFill>
              </a:rPr>
              <a:t>Two pages are 'coming soon'; the Data Communication page has a single grammatically broken paragraph</a:t>
            </a:r>
            <a:endParaRPr lang="en-US" sz="1050" dirty="0"/>
          </a:p>
        </p:txBody>
      </p:sp>
      <p:sp>
        <p:nvSpPr>
          <p:cNvPr id="12" name="Shape 10"/>
          <p:cNvSpPr/>
          <p:nvPr/>
        </p:nvSpPr>
        <p:spPr>
          <a:xfrm>
            <a:off x="365760" y="2057400"/>
            <a:ext cx="201168" cy="201168"/>
          </a:xfrm>
          <a:prstGeom prst="rect">
            <a:avLst/>
          </a:prstGeom>
          <a:solidFill>
            <a:srgbClr val="DC2626"/>
          </a:solidFill>
          <a:ln/>
        </p:spPr>
      </p:sp>
      <p:sp>
        <p:nvSpPr>
          <p:cNvPr id="13" name="Text 11"/>
          <p:cNvSpPr/>
          <p:nvPr/>
        </p:nvSpPr>
        <p:spPr>
          <a:xfrm>
            <a:off x="365760" y="20574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4" name="Text 12"/>
          <p:cNvSpPr/>
          <p:nvPr/>
        </p:nvSpPr>
        <p:spPr>
          <a:xfrm>
            <a:off x="685800" y="1993392"/>
            <a:ext cx="8046720" cy="384048"/>
          </a:xfrm>
          <a:prstGeom prst="rect">
            <a:avLst/>
          </a:prstGeom>
          <a:noFill/>
          <a:ln/>
        </p:spPr>
        <p:txBody>
          <a:bodyPr wrap="square" lIns="0" tIns="0" rIns="0" bIns="0" rtlCol="0" anchor="ctr"/>
          <a:lstStyle/>
          <a:p>
            <a:pPr indent="0" marL="0">
              <a:buNone/>
            </a:pPr>
            <a:r>
              <a:rPr lang="en-US" sz="1050" dirty="0">
                <a:solidFill>
                  <a:srgbClr val="475569"/>
                </a:solidFill>
              </a:rPr>
              <a:t>The About page lists five value headings (Integrity, Responsibility, etc.) with zero body text beneath them</a:t>
            </a:r>
            <a:endParaRPr lang="en-US" sz="1050" dirty="0"/>
          </a:p>
        </p:txBody>
      </p:sp>
      <p:sp>
        <p:nvSpPr>
          <p:cNvPr id="15" name="Shape 13"/>
          <p:cNvSpPr/>
          <p:nvPr/>
        </p:nvSpPr>
        <p:spPr>
          <a:xfrm>
            <a:off x="365760" y="2496312"/>
            <a:ext cx="201168" cy="201168"/>
          </a:xfrm>
          <a:prstGeom prst="rect">
            <a:avLst/>
          </a:prstGeom>
          <a:solidFill>
            <a:srgbClr val="DC2626"/>
          </a:solidFill>
          <a:ln/>
        </p:spPr>
      </p:sp>
      <p:sp>
        <p:nvSpPr>
          <p:cNvPr id="16" name="Text 14"/>
          <p:cNvSpPr/>
          <p:nvPr/>
        </p:nvSpPr>
        <p:spPr>
          <a:xfrm>
            <a:off x="365760" y="249631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17" name="Text 15"/>
          <p:cNvSpPr/>
          <p:nvPr/>
        </p:nvSpPr>
        <p:spPr>
          <a:xfrm>
            <a:off x="685800" y="2432304"/>
            <a:ext cx="8046720" cy="384048"/>
          </a:xfrm>
          <a:prstGeom prst="rect">
            <a:avLst/>
          </a:prstGeom>
          <a:noFill/>
          <a:ln/>
        </p:spPr>
        <p:txBody>
          <a:bodyPr wrap="square" lIns="0" tIns="0" rIns="0" bIns="0" rtlCol="0" anchor="ctr"/>
          <a:lstStyle/>
          <a:p>
            <a:pPr indent="0" marL="0">
              <a:buNone/>
            </a:pPr>
            <a:r>
              <a:rPr lang="en-US" sz="1050" dirty="0">
                <a:solidFill>
                  <a:srgbClr val="475569"/>
                </a:solidFill>
              </a:rPr>
              <a:t>The only quantified claim across all 11 pages is '15+ years'</a:t>
            </a:r>
            <a:endParaRPr lang="en-US" sz="1050" dirty="0"/>
          </a:p>
        </p:txBody>
      </p:sp>
      <p:sp>
        <p:nvSpPr>
          <p:cNvPr id="18" name="Shape 16"/>
          <p:cNvSpPr/>
          <p:nvPr/>
        </p:nvSpPr>
        <p:spPr>
          <a:xfrm>
            <a:off x="365760" y="2935224"/>
            <a:ext cx="201168" cy="201168"/>
          </a:xfrm>
          <a:prstGeom prst="rect">
            <a:avLst/>
          </a:prstGeom>
          <a:solidFill>
            <a:srgbClr val="16A34A"/>
          </a:solidFill>
          <a:ln/>
        </p:spPr>
      </p:sp>
      <p:sp>
        <p:nvSpPr>
          <p:cNvPr id="19" name="Text 17"/>
          <p:cNvSpPr/>
          <p:nvPr/>
        </p:nvSpPr>
        <p:spPr>
          <a:xfrm>
            <a:off x="365760" y="293522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20" name="Text 18"/>
          <p:cNvSpPr/>
          <p:nvPr/>
        </p:nvSpPr>
        <p:spPr>
          <a:xfrm>
            <a:off x="685800" y="2871216"/>
            <a:ext cx="8046720" cy="384048"/>
          </a:xfrm>
          <a:prstGeom prst="rect">
            <a:avLst/>
          </a:prstGeom>
          <a:noFill/>
          <a:ln/>
        </p:spPr>
        <p:txBody>
          <a:bodyPr wrap="square" lIns="0" tIns="0" rIns="0" bIns="0" rtlCol="0" anchor="ctr"/>
          <a:lstStyle/>
          <a:p>
            <a:pPr indent="0" marL="0">
              <a:buNone/>
            </a:pPr>
            <a:r>
              <a:rPr lang="en-US" sz="1050" dirty="0">
                <a:solidFill>
                  <a:srgbClr val="475569"/>
                </a:solidFill>
              </a:rPr>
              <a:t>Best current content: Safety Inspection 'Inspection Inclusions' list — the only structured list approximating a direct answer</a:t>
            </a:r>
            <a:endParaRPr lang="en-US" sz="1050" dirty="0"/>
          </a:p>
        </p:txBody>
      </p:sp>
      <p:sp>
        <p:nvSpPr>
          <p:cNvPr id="21" name="Shape 19"/>
          <p:cNvSpPr/>
          <p:nvPr/>
        </p:nvSpPr>
        <p:spPr>
          <a:xfrm>
            <a:off x="320040" y="3319272"/>
            <a:ext cx="8503920" cy="54864"/>
          </a:xfrm>
          <a:prstGeom prst="rect">
            <a:avLst/>
          </a:prstGeom>
          <a:solidFill>
            <a:srgbClr val="E2E8F0"/>
          </a:solidFill>
          <a:ln/>
        </p:spPr>
      </p:sp>
      <p:sp>
        <p:nvSpPr>
          <p:cNvPr id="22" name="Text 20"/>
          <p:cNvSpPr/>
          <p:nvPr/>
        </p:nvSpPr>
        <p:spPr>
          <a:xfrm>
            <a:off x="411480" y="3447288"/>
            <a:ext cx="8229600" cy="256032"/>
          </a:xfrm>
          <a:prstGeom prst="rect">
            <a:avLst/>
          </a:prstGeom>
          <a:noFill/>
          <a:ln/>
        </p:spPr>
        <p:txBody>
          <a:bodyPr wrap="square" lIns="0" tIns="0" rIns="0" bIns="0" rtlCol="0" anchor="ctr"/>
          <a:lstStyle/>
          <a:p>
            <a:pPr indent="0" marL="0">
              <a:buNone/>
            </a:pPr>
            <a:r>
              <a:rPr lang="en-US" sz="1050" b="1" spc="100" kern="0" dirty="0">
                <a:solidFill>
                  <a:srgbClr val="1E293B"/>
                </a:solidFill>
              </a:rPr>
              <a:t>KEY REWRITES NEEDED</a:t>
            </a:r>
            <a:endParaRPr lang="en-US" sz="1050" dirty="0"/>
          </a:p>
        </p:txBody>
      </p:sp>
      <p:sp>
        <p:nvSpPr>
          <p:cNvPr id="23" name="Shape 21"/>
          <p:cNvSpPr/>
          <p:nvPr/>
        </p:nvSpPr>
        <p:spPr>
          <a:xfrm>
            <a:off x="320040" y="3767328"/>
            <a:ext cx="2011680" cy="118872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4" name="Shape 22"/>
          <p:cNvSpPr/>
          <p:nvPr/>
        </p:nvSpPr>
        <p:spPr>
          <a:xfrm>
            <a:off x="320040" y="3767328"/>
            <a:ext cx="2011680" cy="54864"/>
          </a:xfrm>
          <a:prstGeom prst="rect">
            <a:avLst/>
          </a:prstGeom>
          <a:solidFill>
            <a:srgbClr val="0891B2"/>
          </a:solidFill>
          <a:ln/>
        </p:spPr>
      </p:sp>
      <p:sp>
        <p:nvSpPr>
          <p:cNvPr id="25" name="Text 23"/>
          <p:cNvSpPr/>
          <p:nvPr/>
        </p:nvSpPr>
        <p:spPr>
          <a:xfrm>
            <a:off x="411480" y="3840480"/>
            <a:ext cx="1828800" cy="274320"/>
          </a:xfrm>
          <a:prstGeom prst="rect">
            <a:avLst/>
          </a:prstGeom>
          <a:noFill/>
          <a:ln/>
        </p:spPr>
        <p:txBody>
          <a:bodyPr wrap="square" lIns="0" tIns="0" rIns="0" bIns="0" rtlCol="0" anchor="ctr"/>
          <a:lstStyle/>
          <a:p>
            <a:pPr indent="0" marL="0">
              <a:buNone/>
            </a:pPr>
            <a:r>
              <a:rPr lang="en-US" sz="1050" b="1" dirty="0">
                <a:solidFill>
                  <a:srgbClr val="1E293B"/>
                </a:solidFill>
              </a:rPr>
              <a:t>Homepage</a:t>
            </a:r>
            <a:endParaRPr lang="en-US" sz="1050" dirty="0"/>
          </a:p>
        </p:txBody>
      </p:sp>
      <p:sp>
        <p:nvSpPr>
          <p:cNvPr id="26" name="Text 24"/>
          <p:cNvSpPr/>
          <p:nvPr/>
        </p:nvSpPr>
        <p:spPr>
          <a:xfrm>
            <a:off x="411480" y="4133088"/>
            <a:ext cx="1828800" cy="749808"/>
          </a:xfrm>
          <a:prstGeom prst="rect">
            <a:avLst/>
          </a:prstGeom>
          <a:noFill/>
          <a:ln/>
        </p:spPr>
        <p:txBody>
          <a:bodyPr wrap="square" lIns="0" tIns="0" rIns="0" bIns="0" rtlCol="0" anchor="ctr"/>
          <a:lstStyle/>
          <a:p>
            <a:pPr indent="0" marL="0">
              <a:buNone/>
            </a:pPr>
            <a:r>
              <a:rPr lang="en-US" sz="900" dirty="0">
                <a:solidFill>
                  <a:srgbClr val="475569"/>
                </a:solidFill>
              </a:rPr>
              <a:t>Replace tagline H1 with 150-word entity block defining who Rohnees is, where they operate, and what they specialise in</a:t>
            </a:r>
            <a:endParaRPr lang="en-US" sz="900" dirty="0"/>
          </a:p>
        </p:txBody>
      </p:sp>
      <p:sp>
        <p:nvSpPr>
          <p:cNvPr id="27" name="Shape 25"/>
          <p:cNvSpPr/>
          <p:nvPr/>
        </p:nvSpPr>
        <p:spPr>
          <a:xfrm>
            <a:off x="2468880" y="3767328"/>
            <a:ext cx="2011680" cy="118872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8" name="Shape 26"/>
          <p:cNvSpPr/>
          <p:nvPr/>
        </p:nvSpPr>
        <p:spPr>
          <a:xfrm>
            <a:off x="2468880" y="3767328"/>
            <a:ext cx="2011680" cy="54864"/>
          </a:xfrm>
          <a:prstGeom prst="rect">
            <a:avLst/>
          </a:prstGeom>
          <a:solidFill>
            <a:srgbClr val="0891B2"/>
          </a:solidFill>
          <a:ln/>
        </p:spPr>
      </p:sp>
      <p:sp>
        <p:nvSpPr>
          <p:cNvPr id="29" name="Text 27"/>
          <p:cNvSpPr/>
          <p:nvPr/>
        </p:nvSpPr>
        <p:spPr>
          <a:xfrm>
            <a:off x="2560320" y="3840480"/>
            <a:ext cx="1828800" cy="274320"/>
          </a:xfrm>
          <a:prstGeom prst="rect">
            <a:avLst/>
          </a:prstGeom>
          <a:noFill/>
          <a:ln/>
        </p:spPr>
        <p:txBody>
          <a:bodyPr wrap="square" lIns="0" tIns="0" rIns="0" bIns="0" rtlCol="0" anchor="ctr"/>
          <a:lstStyle/>
          <a:p>
            <a:pPr indent="0" marL="0">
              <a:buNone/>
            </a:pPr>
            <a:r>
              <a:rPr lang="en-US" sz="1050" b="1" dirty="0">
                <a:solidFill>
                  <a:srgbClr val="1E293B"/>
                </a:solidFill>
              </a:rPr>
              <a:t>Data Communication</a:t>
            </a:r>
            <a:endParaRPr lang="en-US" sz="1050" dirty="0"/>
          </a:p>
        </p:txBody>
      </p:sp>
      <p:sp>
        <p:nvSpPr>
          <p:cNvPr id="30" name="Text 28"/>
          <p:cNvSpPr/>
          <p:nvPr/>
        </p:nvSpPr>
        <p:spPr>
          <a:xfrm>
            <a:off x="2560320" y="4133088"/>
            <a:ext cx="1828800" cy="749808"/>
          </a:xfrm>
          <a:prstGeom prst="rect">
            <a:avLst/>
          </a:prstGeom>
          <a:noFill/>
          <a:ln/>
        </p:spPr>
        <p:txBody>
          <a:bodyPr wrap="square" lIns="0" tIns="0" rIns="0" bIns="0" rtlCol="0" anchor="ctr"/>
          <a:lstStyle/>
          <a:p>
            <a:pPr indent="0" marL="0">
              <a:buNone/>
            </a:pPr>
            <a:r>
              <a:rPr lang="en-US" sz="900" dirty="0">
                <a:solidFill>
                  <a:srgbClr val="475569"/>
                </a:solidFill>
              </a:rPr>
              <a:t>Complete rewrite with technical specifics (Cat6, fibre optic, AS/CA S009)</a:t>
            </a:r>
            <a:endParaRPr lang="en-US" sz="900" dirty="0"/>
          </a:p>
        </p:txBody>
      </p:sp>
      <p:sp>
        <p:nvSpPr>
          <p:cNvPr id="31" name="Shape 29"/>
          <p:cNvSpPr/>
          <p:nvPr/>
        </p:nvSpPr>
        <p:spPr>
          <a:xfrm>
            <a:off x="4617720" y="3767328"/>
            <a:ext cx="2011680" cy="118872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2" name="Shape 30"/>
          <p:cNvSpPr/>
          <p:nvPr/>
        </p:nvSpPr>
        <p:spPr>
          <a:xfrm>
            <a:off x="4617720" y="3767328"/>
            <a:ext cx="2011680" cy="54864"/>
          </a:xfrm>
          <a:prstGeom prst="rect">
            <a:avLst/>
          </a:prstGeom>
          <a:solidFill>
            <a:srgbClr val="0891B2"/>
          </a:solidFill>
          <a:ln/>
        </p:spPr>
      </p:sp>
      <p:sp>
        <p:nvSpPr>
          <p:cNvPr id="33" name="Text 31"/>
          <p:cNvSpPr/>
          <p:nvPr/>
        </p:nvSpPr>
        <p:spPr>
          <a:xfrm>
            <a:off x="4709160" y="3840480"/>
            <a:ext cx="1828800" cy="274320"/>
          </a:xfrm>
          <a:prstGeom prst="rect">
            <a:avLst/>
          </a:prstGeom>
          <a:noFill/>
          <a:ln/>
        </p:spPr>
        <p:txBody>
          <a:bodyPr wrap="square" lIns="0" tIns="0" rIns="0" bIns="0" rtlCol="0" anchor="ctr"/>
          <a:lstStyle/>
          <a:p>
            <a:pPr indent="0" marL="0">
              <a:buNone/>
            </a:pPr>
            <a:r>
              <a:rPr lang="en-US" sz="1050" b="1" dirty="0">
                <a:solidFill>
                  <a:srgbClr val="1E293B"/>
                </a:solidFill>
              </a:rPr>
              <a:t>All pages</a:t>
            </a:r>
            <a:endParaRPr lang="en-US" sz="1050" dirty="0"/>
          </a:p>
        </p:txBody>
      </p:sp>
      <p:sp>
        <p:nvSpPr>
          <p:cNvPr id="34" name="Text 32"/>
          <p:cNvSpPr/>
          <p:nvPr/>
        </p:nvSpPr>
        <p:spPr>
          <a:xfrm>
            <a:off x="4709160" y="4133088"/>
            <a:ext cx="1828800" cy="749808"/>
          </a:xfrm>
          <a:prstGeom prst="rect">
            <a:avLst/>
          </a:prstGeom>
          <a:noFill/>
          <a:ln/>
        </p:spPr>
        <p:txBody>
          <a:bodyPr wrap="square" lIns="0" tIns="0" rIns="0" bIns="0" rtlCol="0" anchor="ctr"/>
          <a:lstStyle/>
          <a:p>
            <a:pPr indent="0" marL="0">
              <a:buNone/>
            </a:pPr>
            <a:r>
              <a:rPr lang="en-US" sz="900" dirty="0">
                <a:solidFill>
                  <a:srgbClr val="475569"/>
                </a:solidFill>
              </a:rPr>
              <a:t>Add question-based headings and answer-first paragraph structure throughout</a:t>
            </a:r>
            <a:endParaRPr lang="en-US" sz="900" dirty="0"/>
          </a:p>
        </p:txBody>
      </p:sp>
      <p:sp>
        <p:nvSpPr>
          <p:cNvPr id="35" name="Shape 33"/>
          <p:cNvSpPr/>
          <p:nvPr/>
        </p:nvSpPr>
        <p:spPr>
          <a:xfrm>
            <a:off x="6766560" y="3767328"/>
            <a:ext cx="2011680" cy="118872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6" name="Shape 34"/>
          <p:cNvSpPr/>
          <p:nvPr/>
        </p:nvSpPr>
        <p:spPr>
          <a:xfrm>
            <a:off x="6766560" y="3767328"/>
            <a:ext cx="2011680" cy="54864"/>
          </a:xfrm>
          <a:prstGeom prst="rect">
            <a:avLst/>
          </a:prstGeom>
          <a:solidFill>
            <a:srgbClr val="0891B2"/>
          </a:solidFill>
          <a:ln/>
        </p:spPr>
      </p:sp>
      <p:sp>
        <p:nvSpPr>
          <p:cNvPr id="37" name="Text 35"/>
          <p:cNvSpPr/>
          <p:nvPr/>
        </p:nvSpPr>
        <p:spPr>
          <a:xfrm>
            <a:off x="6858000" y="3840480"/>
            <a:ext cx="1828800" cy="274320"/>
          </a:xfrm>
          <a:prstGeom prst="rect">
            <a:avLst/>
          </a:prstGeom>
          <a:noFill/>
          <a:ln/>
        </p:spPr>
        <p:txBody>
          <a:bodyPr wrap="square" lIns="0" tIns="0" rIns="0" bIns="0" rtlCol="0" anchor="ctr"/>
          <a:lstStyle/>
          <a:p>
            <a:pPr indent="0" marL="0">
              <a:buNone/>
            </a:pPr>
            <a:r>
              <a:rPr lang="en-US" sz="1050" b="1" dirty="0">
                <a:solidFill>
                  <a:srgbClr val="1E293B"/>
                </a:solidFill>
              </a:rPr>
              <a:t>Safety Inspection</a:t>
            </a:r>
            <a:endParaRPr lang="en-US" sz="1050" dirty="0"/>
          </a:p>
        </p:txBody>
      </p:sp>
      <p:sp>
        <p:nvSpPr>
          <p:cNvPr id="38" name="Text 36"/>
          <p:cNvSpPr/>
          <p:nvPr/>
        </p:nvSpPr>
        <p:spPr>
          <a:xfrm>
            <a:off x="6858000" y="4133088"/>
            <a:ext cx="1828800" cy="749808"/>
          </a:xfrm>
          <a:prstGeom prst="rect">
            <a:avLst/>
          </a:prstGeom>
          <a:noFill/>
          <a:ln/>
        </p:spPr>
        <p:txBody>
          <a:bodyPr wrap="square" lIns="0" tIns="0" rIns="0" bIns="0" rtlCol="0" anchor="ctr"/>
          <a:lstStyle/>
          <a:p>
            <a:pPr indent="0" marL="0">
              <a:buNone/>
            </a:pPr>
            <a:r>
              <a:rPr lang="en-US" sz="900" dirty="0">
                <a:solidFill>
                  <a:srgbClr val="475569"/>
                </a:solidFill>
              </a:rPr>
              <a:t>Add 5-question FAQ — highest ROI single action for AI citability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68580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CATEGORY DEEP DIVE: BRAND AUTHORITY</a:t>
            </a:r>
            <a:endParaRPr lang="en-US" sz="1300" dirty="0"/>
          </a:p>
        </p:txBody>
      </p:sp>
      <p:sp>
        <p:nvSpPr>
          <p:cNvPr id="4" name="Text 2"/>
          <p:cNvSpPr/>
          <p:nvPr/>
        </p:nvSpPr>
        <p:spPr>
          <a:xfrm>
            <a:off x="7406640" y="0"/>
            <a:ext cx="1554480" cy="594360"/>
          </a:xfrm>
          <a:prstGeom prst="rect">
            <a:avLst/>
          </a:prstGeom>
          <a:noFill/>
          <a:ln/>
        </p:spPr>
        <p:txBody>
          <a:bodyPr wrap="square" lIns="0" tIns="0" rIns="0" bIns="0" rtlCol="0" anchor="ctr"/>
          <a:lstStyle/>
          <a:p>
            <a:pPr algn="r" indent="0" marL="0">
              <a:buNone/>
            </a:pPr>
            <a:r>
              <a:rPr lang="en-US" sz="1800" b="1" dirty="0">
                <a:solidFill>
                  <a:srgbClr val="DC2626"/>
                </a:solidFill>
              </a:rPr>
              <a:t>14 / 100</a:t>
            </a:r>
            <a:endParaRPr lang="en-US" sz="1800" dirty="0"/>
          </a:p>
        </p:txBody>
      </p:sp>
      <p:sp>
        <p:nvSpPr>
          <p:cNvPr id="5" name="Text 3"/>
          <p:cNvSpPr/>
          <p:nvPr/>
        </p:nvSpPr>
        <p:spPr>
          <a:xfrm>
            <a:off x="411480" y="731520"/>
            <a:ext cx="8321040" cy="292608"/>
          </a:xfrm>
          <a:prstGeom prst="rect">
            <a:avLst/>
          </a:prstGeom>
          <a:noFill/>
          <a:ln/>
        </p:spPr>
        <p:txBody>
          <a:bodyPr wrap="square" lIns="0" tIns="0" rIns="0" bIns="0" rtlCol="0" anchor="ctr"/>
          <a:lstStyle/>
          <a:p>
            <a:pPr indent="0" marL="0">
              <a:buNone/>
            </a:pPr>
            <a:r>
              <a:rPr lang="en-US" sz="1250" b="1" dirty="0">
                <a:solidFill>
                  <a:srgbClr val="1E293B"/>
                </a:solidFill>
              </a:rPr>
              <a:t>Strong trade directory presence — invisible on AI-training platforms.</a:t>
            </a:r>
            <a:endParaRPr lang="en-US" sz="1250" dirty="0"/>
          </a:p>
        </p:txBody>
      </p:sp>
      <p:sp>
        <p:nvSpPr>
          <p:cNvPr id="6" name="Shape 4"/>
          <p:cNvSpPr/>
          <p:nvPr/>
        </p:nvSpPr>
        <p:spPr>
          <a:xfrm>
            <a:off x="320040" y="1097280"/>
            <a:ext cx="8503920" cy="274320"/>
          </a:xfrm>
          <a:prstGeom prst="rect">
            <a:avLst/>
          </a:prstGeom>
          <a:solidFill>
            <a:srgbClr val="0D1B3E"/>
          </a:solidFill>
          <a:ln/>
        </p:spPr>
      </p:sp>
      <p:sp>
        <p:nvSpPr>
          <p:cNvPr id="7" name="Text 5"/>
          <p:cNvSpPr/>
          <p:nvPr/>
        </p:nvSpPr>
        <p:spPr>
          <a:xfrm>
            <a:off x="411480" y="1097280"/>
            <a:ext cx="3108960" cy="274320"/>
          </a:xfrm>
          <a:prstGeom prst="rect">
            <a:avLst/>
          </a:prstGeom>
          <a:noFill/>
          <a:ln/>
        </p:spPr>
        <p:txBody>
          <a:bodyPr wrap="square" lIns="0" tIns="0" rIns="0" bIns="0" rtlCol="0" anchor="ctr"/>
          <a:lstStyle/>
          <a:p>
            <a:pPr indent="0" marL="0">
              <a:buNone/>
            </a:pPr>
            <a:r>
              <a:rPr lang="en-US" sz="900" b="1" dirty="0">
                <a:solidFill>
                  <a:srgbClr val="FFFFFF"/>
                </a:solidFill>
              </a:rPr>
              <a:t>Platform</a:t>
            </a:r>
            <a:endParaRPr lang="en-US" sz="900" dirty="0"/>
          </a:p>
        </p:txBody>
      </p:sp>
      <p:sp>
        <p:nvSpPr>
          <p:cNvPr id="8" name="Text 6"/>
          <p:cNvSpPr/>
          <p:nvPr/>
        </p:nvSpPr>
        <p:spPr>
          <a:xfrm>
            <a:off x="3611880" y="1097280"/>
            <a:ext cx="1371600" cy="274320"/>
          </a:xfrm>
          <a:prstGeom prst="rect">
            <a:avLst/>
          </a:prstGeom>
          <a:noFill/>
          <a:ln/>
        </p:spPr>
        <p:txBody>
          <a:bodyPr wrap="square" lIns="0" tIns="0" rIns="0" bIns="0" rtlCol="0" anchor="ctr"/>
          <a:lstStyle/>
          <a:p>
            <a:pPr indent="0" marL="0">
              <a:buNone/>
            </a:pPr>
            <a:r>
              <a:rPr lang="en-US" sz="900" b="1" dirty="0">
                <a:solidFill>
                  <a:srgbClr val="FFFFFF"/>
                </a:solidFill>
              </a:rPr>
              <a:t>Status</a:t>
            </a:r>
            <a:endParaRPr lang="en-US" sz="900" dirty="0"/>
          </a:p>
        </p:txBody>
      </p:sp>
      <p:sp>
        <p:nvSpPr>
          <p:cNvPr id="9" name="Text 7"/>
          <p:cNvSpPr/>
          <p:nvPr/>
        </p:nvSpPr>
        <p:spPr>
          <a:xfrm>
            <a:off x="5074920" y="1097280"/>
            <a:ext cx="3657600" cy="274320"/>
          </a:xfrm>
          <a:prstGeom prst="rect">
            <a:avLst/>
          </a:prstGeom>
          <a:noFill/>
          <a:ln/>
        </p:spPr>
        <p:txBody>
          <a:bodyPr wrap="square" lIns="0" tIns="0" rIns="0" bIns="0" rtlCol="0" anchor="ctr"/>
          <a:lstStyle/>
          <a:p>
            <a:pPr indent="0" marL="0">
              <a:buNone/>
            </a:pPr>
            <a:r>
              <a:rPr lang="en-US" sz="900" b="1" dirty="0">
                <a:solidFill>
                  <a:srgbClr val="FFFFFF"/>
                </a:solidFill>
              </a:rPr>
              <a:t>Notes</a:t>
            </a:r>
            <a:endParaRPr lang="en-US" sz="900" dirty="0"/>
          </a:p>
        </p:txBody>
      </p:sp>
      <p:sp>
        <p:nvSpPr>
          <p:cNvPr id="10" name="Shape 8"/>
          <p:cNvSpPr/>
          <p:nvPr/>
        </p:nvSpPr>
        <p:spPr>
          <a:xfrm>
            <a:off x="320040" y="1371600"/>
            <a:ext cx="8503920" cy="310896"/>
          </a:xfrm>
          <a:prstGeom prst="rect">
            <a:avLst/>
          </a:prstGeom>
          <a:solidFill>
            <a:srgbClr val="F8FAFC"/>
          </a:solidFill>
          <a:ln/>
        </p:spPr>
      </p:sp>
      <p:sp>
        <p:nvSpPr>
          <p:cNvPr id="11" name="Text 9"/>
          <p:cNvSpPr/>
          <p:nvPr/>
        </p:nvSpPr>
        <p:spPr>
          <a:xfrm>
            <a:off x="411480" y="1371600"/>
            <a:ext cx="3108960" cy="310896"/>
          </a:xfrm>
          <a:prstGeom prst="rect">
            <a:avLst/>
          </a:prstGeom>
          <a:noFill/>
          <a:ln/>
        </p:spPr>
        <p:txBody>
          <a:bodyPr wrap="square" lIns="0" tIns="0" rIns="0" bIns="0" rtlCol="0" anchor="ctr"/>
          <a:lstStyle/>
          <a:p>
            <a:pPr indent="0" marL="0">
              <a:buNone/>
            </a:pPr>
            <a:r>
              <a:rPr lang="en-US" sz="950" dirty="0">
                <a:solidFill>
                  <a:srgbClr val="1E293B"/>
                </a:solidFill>
              </a:rPr>
              <a:t>Google Business Profile</a:t>
            </a:r>
            <a:endParaRPr lang="en-US" sz="950" dirty="0"/>
          </a:p>
        </p:txBody>
      </p:sp>
      <p:sp>
        <p:nvSpPr>
          <p:cNvPr id="12" name="Shape 10"/>
          <p:cNvSpPr/>
          <p:nvPr/>
        </p:nvSpPr>
        <p:spPr>
          <a:xfrm>
            <a:off x="3611880" y="1426464"/>
            <a:ext cx="1234440" cy="201168"/>
          </a:xfrm>
          <a:prstGeom prst="rect">
            <a:avLst/>
          </a:prstGeom>
          <a:solidFill>
            <a:srgbClr val="DC2626"/>
          </a:solidFill>
          <a:ln/>
        </p:spPr>
      </p:sp>
      <p:sp>
        <p:nvSpPr>
          <p:cNvPr id="13" name="Text 11"/>
          <p:cNvSpPr/>
          <p:nvPr/>
        </p:nvSpPr>
        <p:spPr>
          <a:xfrm>
            <a:off x="3611880" y="1426464"/>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Unconfirmed</a:t>
            </a:r>
            <a:endParaRPr lang="en-US" sz="750" dirty="0"/>
          </a:p>
        </p:txBody>
      </p:sp>
      <p:sp>
        <p:nvSpPr>
          <p:cNvPr id="14" name="Text 12"/>
          <p:cNvSpPr/>
          <p:nvPr/>
        </p:nvSpPr>
        <p:spPr>
          <a:xfrm>
            <a:off x="5074920" y="1371600"/>
            <a:ext cx="3657600" cy="310896"/>
          </a:xfrm>
          <a:prstGeom prst="rect">
            <a:avLst/>
          </a:prstGeom>
          <a:noFill/>
          <a:ln/>
        </p:spPr>
        <p:txBody>
          <a:bodyPr wrap="square" lIns="0" tIns="0" rIns="0" bIns="0" rtlCol="0" anchor="ctr"/>
          <a:lstStyle/>
          <a:p>
            <a:pPr indent="0" marL="0">
              <a:buNone/>
            </a:pPr>
            <a:r>
              <a:rPr lang="en-US" sz="850" dirty="0">
                <a:solidFill>
                  <a:srgbClr val="475569"/>
                </a:solidFill>
              </a:rPr>
              <a:t>Critical gap — must verify/create immediately</a:t>
            </a:r>
            <a:endParaRPr lang="en-US" sz="850" dirty="0"/>
          </a:p>
        </p:txBody>
      </p:sp>
      <p:sp>
        <p:nvSpPr>
          <p:cNvPr id="15" name="Shape 13"/>
          <p:cNvSpPr/>
          <p:nvPr/>
        </p:nvSpPr>
        <p:spPr>
          <a:xfrm>
            <a:off x="320040" y="1693469"/>
            <a:ext cx="8503920" cy="310896"/>
          </a:xfrm>
          <a:prstGeom prst="rect">
            <a:avLst/>
          </a:prstGeom>
          <a:solidFill>
            <a:srgbClr val="FFFFFF"/>
          </a:solidFill>
          <a:ln/>
        </p:spPr>
      </p:sp>
      <p:sp>
        <p:nvSpPr>
          <p:cNvPr id="16" name="Text 14"/>
          <p:cNvSpPr/>
          <p:nvPr/>
        </p:nvSpPr>
        <p:spPr>
          <a:xfrm>
            <a:off x="411480" y="1693469"/>
            <a:ext cx="3108960" cy="310896"/>
          </a:xfrm>
          <a:prstGeom prst="rect">
            <a:avLst/>
          </a:prstGeom>
          <a:noFill/>
          <a:ln/>
        </p:spPr>
        <p:txBody>
          <a:bodyPr wrap="square" lIns="0" tIns="0" rIns="0" bIns="0" rtlCol="0" anchor="ctr"/>
          <a:lstStyle/>
          <a:p>
            <a:pPr indent="0" marL="0">
              <a:buNone/>
            </a:pPr>
            <a:r>
              <a:rPr lang="en-US" sz="950" dirty="0">
                <a:solidFill>
                  <a:srgbClr val="1E293B"/>
                </a:solidFill>
              </a:rPr>
              <a:t>ServiceSeeking</a:t>
            </a:r>
            <a:endParaRPr lang="en-US" sz="950" dirty="0"/>
          </a:p>
        </p:txBody>
      </p:sp>
      <p:sp>
        <p:nvSpPr>
          <p:cNvPr id="17" name="Shape 15"/>
          <p:cNvSpPr/>
          <p:nvPr/>
        </p:nvSpPr>
        <p:spPr>
          <a:xfrm>
            <a:off x="3611880" y="1748333"/>
            <a:ext cx="1234440" cy="201168"/>
          </a:xfrm>
          <a:prstGeom prst="rect">
            <a:avLst/>
          </a:prstGeom>
          <a:solidFill>
            <a:srgbClr val="16A34A"/>
          </a:solidFill>
          <a:ln/>
        </p:spPr>
      </p:sp>
      <p:sp>
        <p:nvSpPr>
          <p:cNvPr id="18" name="Text 16"/>
          <p:cNvSpPr/>
          <p:nvPr/>
        </p:nvSpPr>
        <p:spPr>
          <a:xfrm>
            <a:off x="3611880" y="1748333"/>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Active</a:t>
            </a:r>
            <a:endParaRPr lang="en-US" sz="750" dirty="0"/>
          </a:p>
        </p:txBody>
      </p:sp>
      <p:sp>
        <p:nvSpPr>
          <p:cNvPr id="19" name="Text 17"/>
          <p:cNvSpPr/>
          <p:nvPr/>
        </p:nvSpPr>
        <p:spPr>
          <a:xfrm>
            <a:off x="5074920" y="1693469"/>
            <a:ext cx="3657600" cy="310896"/>
          </a:xfrm>
          <a:prstGeom prst="rect">
            <a:avLst/>
          </a:prstGeom>
          <a:noFill/>
          <a:ln/>
        </p:spPr>
        <p:txBody>
          <a:bodyPr wrap="square" lIns="0" tIns="0" rIns="0" bIns="0" rtlCol="0" anchor="ctr"/>
          <a:lstStyle/>
          <a:p>
            <a:pPr indent="0" marL="0">
              <a:buNone/>
            </a:pPr>
            <a:r>
              <a:rPr lang="en-US" sz="850" dirty="0">
                <a:solidFill>
                  <a:srgbClr val="475569"/>
                </a:solidFill>
              </a:rPr>
              <a:t>4.5★ / 15 reviews / 28 hires / Top 10 badges</a:t>
            </a:r>
            <a:endParaRPr lang="en-US" sz="850" dirty="0"/>
          </a:p>
        </p:txBody>
      </p:sp>
      <p:sp>
        <p:nvSpPr>
          <p:cNvPr id="20" name="Shape 18"/>
          <p:cNvSpPr/>
          <p:nvPr/>
        </p:nvSpPr>
        <p:spPr>
          <a:xfrm>
            <a:off x="320040" y="2015338"/>
            <a:ext cx="8503920" cy="310896"/>
          </a:xfrm>
          <a:prstGeom prst="rect">
            <a:avLst/>
          </a:prstGeom>
          <a:solidFill>
            <a:srgbClr val="F8FAFC"/>
          </a:solidFill>
          <a:ln/>
        </p:spPr>
      </p:sp>
      <p:sp>
        <p:nvSpPr>
          <p:cNvPr id="21" name="Text 19"/>
          <p:cNvSpPr/>
          <p:nvPr/>
        </p:nvSpPr>
        <p:spPr>
          <a:xfrm>
            <a:off x="411480" y="2015338"/>
            <a:ext cx="3108960" cy="310896"/>
          </a:xfrm>
          <a:prstGeom prst="rect">
            <a:avLst/>
          </a:prstGeom>
          <a:noFill/>
          <a:ln/>
        </p:spPr>
        <p:txBody>
          <a:bodyPr wrap="square" lIns="0" tIns="0" rIns="0" bIns="0" rtlCol="0" anchor="ctr"/>
          <a:lstStyle/>
          <a:p>
            <a:pPr indent="0" marL="0">
              <a:buNone/>
            </a:pPr>
            <a:r>
              <a:rPr lang="en-US" sz="950" dirty="0">
                <a:solidFill>
                  <a:srgbClr val="1E293B"/>
                </a:solidFill>
              </a:rPr>
              <a:t>Facebook</a:t>
            </a:r>
            <a:endParaRPr lang="en-US" sz="950" dirty="0"/>
          </a:p>
        </p:txBody>
      </p:sp>
      <p:sp>
        <p:nvSpPr>
          <p:cNvPr id="22" name="Shape 20"/>
          <p:cNvSpPr/>
          <p:nvPr/>
        </p:nvSpPr>
        <p:spPr>
          <a:xfrm>
            <a:off x="3611880" y="2070202"/>
            <a:ext cx="1234440" cy="201168"/>
          </a:xfrm>
          <a:prstGeom prst="rect">
            <a:avLst/>
          </a:prstGeom>
          <a:solidFill>
            <a:srgbClr val="16A34A"/>
          </a:solidFill>
          <a:ln/>
        </p:spPr>
      </p:sp>
      <p:sp>
        <p:nvSpPr>
          <p:cNvPr id="23" name="Text 21"/>
          <p:cNvSpPr/>
          <p:nvPr/>
        </p:nvSpPr>
        <p:spPr>
          <a:xfrm>
            <a:off x="3611880" y="2070202"/>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Active</a:t>
            </a:r>
            <a:endParaRPr lang="en-US" sz="750" dirty="0"/>
          </a:p>
        </p:txBody>
      </p:sp>
      <p:sp>
        <p:nvSpPr>
          <p:cNvPr id="24" name="Text 22"/>
          <p:cNvSpPr/>
          <p:nvPr/>
        </p:nvSpPr>
        <p:spPr>
          <a:xfrm>
            <a:off x="5074920" y="2015338"/>
            <a:ext cx="3657600" cy="310896"/>
          </a:xfrm>
          <a:prstGeom prst="rect">
            <a:avLst/>
          </a:prstGeom>
          <a:noFill/>
          <a:ln/>
        </p:spPr>
        <p:txBody>
          <a:bodyPr wrap="square" lIns="0" tIns="0" rIns="0" bIns="0" rtlCol="0" anchor="ctr"/>
          <a:lstStyle/>
          <a:p>
            <a:pPr indent="0" marL="0">
              <a:buNone/>
            </a:pPr>
            <a:r>
              <a:rPr lang="en-US" sz="850" dirty="0">
                <a:solidFill>
                  <a:srgbClr val="475569"/>
                </a:solidFill>
              </a:rPr>
              <a:t>~285 likes</a:t>
            </a:r>
            <a:endParaRPr lang="en-US" sz="850" dirty="0"/>
          </a:p>
        </p:txBody>
      </p:sp>
      <p:sp>
        <p:nvSpPr>
          <p:cNvPr id="25" name="Shape 23"/>
          <p:cNvSpPr/>
          <p:nvPr/>
        </p:nvSpPr>
        <p:spPr>
          <a:xfrm>
            <a:off x="320040" y="2337206"/>
            <a:ext cx="8503920" cy="310896"/>
          </a:xfrm>
          <a:prstGeom prst="rect">
            <a:avLst/>
          </a:prstGeom>
          <a:solidFill>
            <a:srgbClr val="FFFFFF"/>
          </a:solidFill>
          <a:ln/>
        </p:spPr>
      </p:sp>
      <p:sp>
        <p:nvSpPr>
          <p:cNvPr id="26" name="Text 24"/>
          <p:cNvSpPr/>
          <p:nvPr/>
        </p:nvSpPr>
        <p:spPr>
          <a:xfrm>
            <a:off x="411480" y="2337206"/>
            <a:ext cx="3108960" cy="310896"/>
          </a:xfrm>
          <a:prstGeom prst="rect">
            <a:avLst/>
          </a:prstGeom>
          <a:noFill/>
          <a:ln/>
        </p:spPr>
        <p:txBody>
          <a:bodyPr wrap="square" lIns="0" tIns="0" rIns="0" bIns="0" rtlCol="0" anchor="ctr"/>
          <a:lstStyle/>
          <a:p>
            <a:pPr indent="0" marL="0">
              <a:buNone/>
            </a:pPr>
            <a:r>
              <a:rPr lang="en-US" sz="950" dirty="0">
                <a:solidFill>
                  <a:srgbClr val="1E293B"/>
                </a:solidFill>
              </a:rPr>
              <a:t>Yellow Pages AU</a:t>
            </a:r>
            <a:endParaRPr lang="en-US" sz="950" dirty="0"/>
          </a:p>
        </p:txBody>
      </p:sp>
      <p:sp>
        <p:nvSpPr>
          <p:cNvPr id="27" name="Shape 25"/>
          <p:cNvSpPr/>
          <p:nvPr/>
        </p:nvSpPr>
        <p:spPr>
          <a:xfrm>
            <a:off x="3611880" y="2392070"/>
            <a:ext cx="1234440" cy="201168"/>
          </a:xfrm>
          <a:prstGeom prst="rect">
            <a:avLst/>
          </a:prstGeom>
          <a:solidFill>
            <a:srgbClr val="D97706"/>
          </a:solidFill>
          <a:ln/>
        </p:spPr>
      </p:sp>
      <p:sp>
        <p:nvSpPr>
          <p:cNvPr id="28" name="Text 26"/>
          <p:cNvSpPr/>
          <p:nvPr/>
        </p:nvSpPr>
        <p:spPr>
          <a:xfrm>
            <a:off x="3611880" y="2392070"/>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Listed</a:t>
            </a:r>
            <a:endParaRPr lang="en-US" sz="750" dirty="0"/>
          </a:p>
        </p:txBody>
      </p:sp>
      <p:sp>
        <p:nvSpPr>
          <p:cNvPr id="29" name="Text 27"/>
          <p:cNvSpPr/>
          <p:nvPr/>
        </p:nvSpPr>
        <p:spPr>
          <a:xfrm>
            <a:off x="5074920" y="2337206"/>
            <a:ext cx="3657600" cy="310896"/>
          </a:xfrm>
          <a:prstGeom prst="rect">
            <a:avLst/>
          </a:prstGeom>
          <a:noFill/>
          <a:ln/>
        </p:spPr>
        <p:txBody>
          <a:bodyPr wrap="square" lIns="0" tIns="0" rIns="0" bIns="0" rtlCol="0" anchor="ctr"/>
          <a:lstStyle/>
          <a:p>
            <a:pPr indent="0" marL="0">
              <a:buNone/>
            </a:pPr>
            <a:r>
              <a:rPr lang="en-US" sz="850" dirty="0">
                <a:solidFill>
                  <a:srgbClr val="475569"/>
                </a:solidFill>
              </a:rPr>
              <a:t>Unverified claim status</a:t>
            </a:r>
            <a:endParaRPr lang="en-US" sz="850" dirty="0"/>
          </a:p>
        </p:txBody>
      </p:sp>
      <p:sp>
        <p:nvSpPr>
          <p:cNvPr id="30" name="Shape 28"/>
          <p:cNvSpPr/>
          <p:nvPr/>
        </p:nvSpPr>
        <p:spPr>
          <a:xfrm>
            <a:off x="320040" y="2659075"/>
            <a:ext cx="8503920" cy="310896"/>
          </a:xfrm>
          <a:prstGeom prst="rect">
            <a:avLst/>
          </a:prstGeom>
          <a:solidFill>
            <a:srgbClr val="F8FAFC"/>
          </a:solidFill>
          <a:ln/>
        </p:spPr>
      </p:sp>
      <p:sp>
        <p:nvSpPr>
          <p:cNvPr id="31" name="Text 29"/>
          <p:cNvSpPr/>
          <p:nvPr/>
        </p:nvSpPr>
        <p:spPr>
          <a:xfrm>
            <a:off x="411480" y="2659075"/>
            <a:ext cx="3108960" cy="310896"/>
          </a:xfrm>
          <a:prstGeom prst="rect">
            <a:avLst/>
          </a:prstGeom>
          <a:noFill/>
          <a:ln/>
        </p:spPr>
        <p:txBody>
          <a:bodyPr wrap="square" lIns="0" tIns="0" rIns="0" bIns="0" rtlCol="0" anchor="ctr"/>
          <a:lstStyle/>
          <a:p>
            <a:pPr indent="0" marL="0">
              <a:buNone/>
            </a:pPr>
            <a:r>
              <a:rPr lang="en-US" sz="950" dirty="0">
                <a:solidFill>
                  <a:srgbClr val="1E293B"/>
                </a:solidFill>
              </a:rPr>
              <a:t>Localsearch</a:t>
            </a:r>
            <a:endParaRPr lang="en-US" sz="950" dirty="0"/>
          </a:p>
        </p:txBody>
      </p:sp>
      <p:sp>
        <p:nvSpPr>
          <p:cNvPr id="32" name="Shape 30"/>
          <p:cNvSpPr/>
          <p:nvPr/>
        </p:nvSpPr>
        <p:spPr>
          <a:xfrm>
            <a:off x="3611880" y="2713939"/>
            <a:ext cx="1234440" cy="201168"/>
          </a:xfrm>
          <a:prstGeom prst="rect">
            <a:avLst/>
          </a:prstGeom>
          <a:solidFill>
            <a:srgbClr val="D97706"/>
          </a:solidFill>
          <a:ln/>
        </p:spPr>
      </p:sp>
      <p:sp>
        <p:nvSpPr>
          <p:cNvPr id="33" name="Text 31"/>
          <p:cNvSpPr/>
          <p:nvPr/>
        </p:nvSpPr>
        <p:spPr>
          <a:xfrm>
            <a:off x="3611880" y="2713939"/>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Unclaimed</a:t>
            </a:r>
            <a:endParaRPr lang="en-US" sz="750" dirty="0"/>
          </a:p>
        </p:txBody>
      </p:sp>
      <p:sp>
        <p:nvSpPr>
          <p:cNvPr id="34" name="Text 32"/>
          <p:cNvSpPr/>
          <p:nvPr/>
        </p:nvSpPr>
        <p:spPr>
          <a:xfrm>
            <a:off x="5074920" y="2659075"/>
            <a:ext cx="3657600" cy="310896"/>
          </a:xfrm>
          <a:prstGeom prst="rect">
            <a:avLst/>
          </a:prstGeom>
          <a:noFill/>
          <a:ln/>
        </p:spPr>
        <p:txBody>
          <a:bodyPr wrap="square" lIns="0" tIns="0" rIns="0" bIns="0" rtlCol="0" anchor="ctr"/>
          <a:lstStyle/>
          <a:p>
            <a:pPr indent="0" marL="0">
              <a:buNone/>
            </a:pPr>
            <a:r>
              <a:rPr lang="en-US" sz="850" dirty="0">
                <a:solidFill>
                  <a:srgbClr val="475569"/>
                </a:solidFill>
              </a:rPr>
              <a:t>0 reviews — profile not managed</a:t>
            </a:r>
            <a:endParaRPr lang="en-US" sz="850" dirty="0"/>
          </a:p>
        </p:txBody>
      </p:sp>
      <p:sp>
        <p:nvSpPr>
          <p:cNvPr id="35" name="Shape 33"/>
          <p:cNvSpPr/>
          <p:nvPr/>
        </p:nvSpPr>
        <p:spPr>
          <a:xfrm>
            <a:off x="320040" y="2980944"/>
            <a:ext cx="8503920" cy="310896"/>
          </a:xfrm>
          <a:prstGeom prst="rect">
            <a:avLst/>
          </a:prstGeom>
          <a:solidFill>
            <a:srgbClr val="FFFFFF"/>
          </a:solidFill>
          <a:ln/>
        </p:spPr>
      </p:sp>
      <p:sp>
        <p:nvSpPr>
          <p:cNvPr id="36" name="Text 34"/>
          <p:cNvSpPr/>
          <p:nvPr/>
        </p:nvSpPr>
        <p:spPr>
          <a:xfrm>
            <a:off x="411480" y="2980944"/>
            <a:ext cx="3108960" cy="310896"/>
          </a:xfrm>
          <a:prstGeom prst="rect">
            <a:avLst/>
          </a:prstGeom>
          <a:noFill/>
          <a:ln/>
        </p:spPr>
        <p:txBody>
          <a:bodyPr wrap="square" lIns="0" tIns="0" rIns="0" bIns="0" rtlCol="0" anchor="ctr"/>
          <a:lstStyle/>
          <a:p>
            <a:pPr indent="0" marL="0">
              <a:buNone/>
            </a:pPr>
            <a:r>
              <a:rPr lang="en-US" sz="950" dirty="0">
                <a:solidFill>
                  <a:srgbClr val="1E293B"/>
                </a:solidFill>
              </a:rPr>
              <a:t>Oneflare</a:t>
            </a:r>
            <a:endParaRPr lang="en-US" sz="950" dirty="0"/>
          </a:p>
        </p:txBody>
      </p:sp>
      <p:sp>
        <p:nvSpPr>
          <p:cNvPr id="37" name="Shape 35"/>
          <p:cNvSpPr/>
          <p:nvPr/>
        </p:nvSpPr>
        <p:spPr>
          <a:xfrm>
            <a:off x="3611880" y="3035808"/>
            <a:ext cx="1234440" cy="201168"/>
          </a:xfrm>
          <a:prstGeom prst="rect">
            <a:avLst/>
          </a:prstGeom>
          <a:solidFill>
            <a:srgbClr val="D97706"/>
          </a:solidFill>
          <a:ln/>
        </p:spPr>
      </p:sp>
      <p:sp>
        <p:nvSpPr>
          <p:cNvPr id="38" name="Text 36"/>
          <p:cNvSpPr/>
          <p:nvPr/>
        </p:nvSpPr>
        <p:spPr>
          <a:xfrm>
            <a:off x="3611880" y="3035808"/>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Unclaimed</a:t>
            </a:r>
            <a:endParaRPr lang="en-US" sz="750" dirty="0"/>
          </a:p>
        </p:txBody>
      </p:sp>
      <p:sp>
        <p:nvSpPr>
          <p:cNvPr id="39" name="Text 37"/>
          <p:cNvSpPr/>
          <p:nvPr/>
        </p:nvSpPr>
        <p:spPr>
          <a:xfrm>
            <a:off x="5074920" y="2980944"/>
            <a:ext cx="3657600" cy="310896"/>
          </a:xfrm>
          <a:prstGeom prst="rect">
            <a:avLst/>
          </a:prstGeom>
          <a:noFill/>
          <a:ln/>
        </p:spPr>
        <p:txBody>
          <a:bodyPr wrap="square" lIns="0" tIns="0" rIns="0" bIns="0" rtlCol="0" anchor="ctr"/>
          <a:lstStyle/>
          <a:p>
            <a:pPr indent="0" marL="0">
              <a:buNone/>
            </a:pPr>
            <a:r>
              <a:rPr lang="en-US" sz="850" dirty="0">
                <a:solidFill>
                  <a:srgbClr val="475569"/>
                </a:solidFill>
              </a:rPr>
              <a:t>0 reviews — profile not managed</a:t>
            </a:r>
            <a:endParaRPr lang="en-US" sz="850" dirty="0"/>
          </a:p>
        </p:txBody>
      </p:sp>
      <p:sp>
        <p:nvSpPr>
          <p:cNvPr id="40" name="Shape 38"/>
          <p:cNvSpPr/>
          <p:nvPr/>
        </p:nvSpPr>
        <p:spPr>
          <a:xfrm>
            <a:off x="320040" y="3302813"/>
            <a:ext cx="8503920" cy="310896"/>
          </a:xfrm>
          <a:prstGeom prst="rect">
            <a:avLst/>
          </a:prstGeom>
          <a:solidFill>
            <a:srgbClr val="F8FAFC"/>
          </a:solidFill>
          <a:ln/>
        </p:spPr>
      </p:sp>
      <p:sp>
        <p:nvSpPr>
          <p:cNvPr id="41" name="Text 39"/>
          <p:cNvSpPr/>
          <p:nvPr/>
        </p:nvSpPr>
        <p:spPr>
          <a:xfrm>
            <a:off x="411480" y="3302813"/>
            <a:ext cx="3108960" cy="310896"/>
          </a:xfrm>
          <a:prstGeom prst="rect">
            <a:avLst/>
          </a:prstGeom>
          <a:noFill/>
          <a:ln/>
        </p:spPr>
        <p:txBody>
          <a:bodyPr wrap="square" lIns="0" tIns="0" rIns="0" bIns="0" rtlCol="0" anchor="ctr"/>
          <a:lstStyle/>
          <a:p>
            <a:pPr indent="0" marL="0">
              <a:buNone/>
            </a:pPr>
            <a:r>
              <a:rPr lang="en-US" sz="950" dirty="0">
                <a:solidFill>
                  <a:srgbClr val="1E293B"/>
                </a:solidFill>
              </a:rPr>
              <a:t>YouTube</a:t>
            </a:r>
            <a:endParaRPr lang="en-US" sz="950" dirty="0"/>
          </a:p>
        </p:txBody>
      </p:sp>
      <p:sp>
        <p:nvSpPr>
          <p:cNvPr id="42" name="Shape 40"/>
          <p:cNvSpPr/>
          <p:nvPr/>
        </p:nvSpPr>
        <p:spPr>
          <a:xfrm>
            <a:off x="3611880" y="3357677"/>
            <a:ext cx="1234440" cy="201168"/>
          </a:xfrm>
          <a:prstGeom prst="rect">
            <a:avLst/>
          </a:prstGeom>
          <a:solidFill>
            <a:srgbClr val="DC2626"/>
          </a:solidFill>
          <a:ln/>
        </p:spPr>
      </p:sp>
      <p:sp>
        <p:nvSpPr>
          <p:cNvPr id="43" name="Text 41"/>
          <p:cNvSpPr/>
          <p:nvPr/>
        </p:nvSpPr>
        <p:spPr>
          <a:xfrm>
            <a:off x="3611880" y="3357677"/>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Absent</a:t>
            </a:r>
            <a:endParaRPr lang="en-US" sz="750" dirty="0"/>
          </a:p>
        </p:txBody>
      </p:sp>
      <p:sp>
        <p:nvSpPr>
          <p:cNvPr id="44" name="Text 42"/>
          <p:cNvSpPr/>
          <p:nvPr/>
        </p:nvSpPr>
        <p:spPr>
          <a:xfrm>
            <a:off x="5074920" y="3302813"/>
            <a:ext cx="3657600" cy="310896"/>
          </a:xfrm>
          <a:prstGeom prst="rect">
            <a:avLst/>
          </a:prstGeom>
          <a:noFill/>
          <a:ln/>
        </p:spPr>
        <p:txBody>
          <a:bodyPr wrap="square" lIns="0" tIns="0" rIns="0" bIns="0" rtlCol="0" anchor="ctr"/>
          <a:lstStyle/>
          <a:p>
            <a:pPr indent="0" marL="0">
              <a:buNone/>
            </a:pPr>
            <a:r>
              <a:rPr lang="en-US" sz="850" dirty="0">
                <a:solidFill>
                  <a:srgbClr val="475569"/>
                </a:solidFill>
              </a:rPr>
              <a:t>Zero channel — highest AI citation correlation (~0.737)</a:t>
            </a:r>
            <a:endParaRPr lang="en-US" sz="850" dirty="0"/>
          </a:p>
        </p:txBody>
      </p:sp>
      <p:sp>
        <p:nvSpPr>
          <p:cNvPr id="45" name="Shape 43"/>
          <p:cNvSpPr/>
          <p:nvPr/>
        </p:nvSpPr>
        <p:spPr>
          <a:xfrm>
            <a:off x="320040" y="3624682"/>
            <a:ext cx="8503920" cy="310896"/>
          </a:xfrm>
          <a:prstGeom prst="rect">
            <a:avLst/>
          </a:prstGeom>
          <a:solidFill>
            <a:srgbClr val="FFFFFF"/>
          </a:solidFill>
          <a:ln/>
        </p:spPr>
      </p:sp>
      <p:sp>
        <p:nvSpPr>
          <p:cNvPr id="46" name="Text 44"/>
          <p:cNvSpPr/>
          <p:nvPr/>
        </p:nvSpPr>
        <p:spPr>
          <a:xfrm>
            <a:off x="411480" y="3624682"/>
            <a:ext cx="3108960" cy="310896"/>
          </a:xfrm>
          <a:prstGeom prst="rect">
            <a:avLst/>
          </a:prstGeom>
          <a:noFill/>
          <a:ln/>
        </p:spPr>
        <p:txBody>
          <a:bodyPr wrap="square" lIns="0" tIns="0" rIns="0" bIns="0" rtlCol="0" anchor="ctr"/>
          <a:lstStyle/>
          <a:p>
            <a:pPr indent="0" marL="0">
              <a:buNone/>
            </a:pPr>
            <a:r>
              <a:rPr lang="en-US" sz="950" dirty="0">
                <a:solidFill>
                  <a:srgbClr val="1E293B"/>
                </a:solidFill>
              </a:rPr>
              <a:t>Reddit</a:t>
            </a:r>
            <a:endParaRPr lang="en-US" sz="950" dirty="0"/>
          </a:p>
        </p:txBody>
      </p:sp>
      <p:sp>
        <p:nvSpPr>
          <p:cNvPr id="47" name="Shape 45"/>
          <p:cNvSpPr/>
          <p:nvPr/>
        </p:nvSpPr>
        <p:spPr>
          <a:xfrm>
            <a:off x="3611880" y="3679546"/>
            <a:ext cx="1234440" cy="201168"/>
          </a:xfrm>
          <a:prstGeom prst="rect">
            <a:avLst/>
          </a:prstGeom>
          <a:solidFill>
            <a:srgbClr val="DC2626"/>
          </a:solidFill>
          <a:ln/>
        </p:spPr>
      </p:sp>
      <p:sp>
        <p:nvSpPr>
          <p:cNvPr id="48" name="Text 46"/>
          <p:cNvSpPr/>
          <p:nvPr/>
        </p:nvSpPr>
        <p:spPr>
          <a:xfrm>
            <a:off x="3611880" y="3679546"/>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Absent</a:t>
            </a:r>
            <a:endParaRPr lang="en-US" sz="750" dirty="0"/>
          </a:p>
        </p:txBody>
      </p:sp>
      <p:sp>
        <p:nvSpPr>
          <p:cNvPr id="49" name="Text 47"/>
          <p:cNvSpPr/>
          <p:nvPr/>
        </p:nvSpPr>
        <p:spPr>
          <a:xfrm>
            <a:off x="5074920" y="3624682"/>
            <a:ext cx="3657600" cy="310896"/>
          </a:xfrm>
          <a:prstGeom prst="rect">
            <a:avLst/>
          </a:prstGeom>
          <a:noFill/>
          <a:ln/>
        </p:spPr>
        <p:txBody>
          <a:bodyPr wrap="square" lIns="0" tIns="0" rIns="0" bIns="0" rtlCol="0" anchor="ctr"/>
          <a:lstStyle/>
          <a:p>
            <a:pPr indent="0" marL="0">
              <a:buNone/>
            </a:pPr>
            <a:r>
              <a:rPr lang="en-US" sz="850" dirty="0">
                <a:solidFill>
                  <a:srgbClr val="475569"/>
                </a:solidFill>
              </a:rPr>
              <a:t>Zero threads anywhere</a:t>
            </a:r>
            <a:endParaRPr lang="en-US" sz="850" dirty="0"/>
          </a:p>
        </p:txBody>
      </p:sp>
      <p:sp>
        <p:nvSpPr>
          <p:cNvPr id="50" name="Shape 48"/>
          <p:cNvSpPr/>
          <p:nvPr/>
        </p:nvSpPr>
        <p:spPr>
          <a:xfrm>
            <a:off x="320040" y="3946550"/>
            <a:ext cx="8503920" cy="310896"/>
          </a:xfrm>
          <a:prstGeom prst="rect">
            <a:avLst/>
          </a:prstGeom>
          <a:solidFill>
            <a:srgbClr val="F8FAFC"/>
          </a:solidFill>
          <a:ln/>
        </p:spPr>
      </p:sp>
      <p:sp>
        <p:nvSpPr>
          <p:cNvPr id="51" name="Text 49"/>
          <p:cNvSpPr/>
          <p:nvPr/>
        </p:nvSpPr>
        <p:spPr>
          <a:xfrm>
            <a:off x="411480" y="3946550"/>
            <a:ext cx="3108960" cy="310896"/>
          </a:xfrm>
          <a:prstGeom prst="rect">
            <a:avLst/>
          </a:prstGeom>
          <a:noFill/>
          <a:ln/>
        </p:spPr>
        <p:txBody>
          <a:bodyPr wrap="square" lIns="0" tIns="0" rIns="0" bIns="0" rtlCol="0" anchor="ctr"/>
          <a:lstStyle/>
          <a:p>
            <a:pPr indent="0" marL="0">
              <a:buNone/>
            </a:pPr>
            <a:r>
              <a:rPr lang="en-US" sz="950" dirty="0">
                <a:solidFill>
                  <a:srgbClr val="1E293B"/>
                </a:solidFill>
              </a:rPr>
              <a:t>Hipages</a:t>
            </a:r>
            <a:endParaRPr lang="en-US" sz="950" dirty="0"/>
          </a:p>
        </p:txBody>
      </p:sp>
      <p:sp>
        <p:nvSpPr>
          <p:cNvPr id="52" name="Shape 50"/>
          <p:cNvSpPr/>
          <p:nvPr/>
        </p:nvSpPr>
        <p:spPr>
          <a:xfrm>
            <a:off x="3611880" y="4001414"/>
            <a:ext cx="1234440" cy="201168"/>
          </a:xfrm>
          <a:prstGeom prst="rect">
            <a:avLst/>
          </a:prstGeom>
          <a:solidFill>
            <a:srgbClr val="DC2626"/>
          </a:solidFill>
          <a:ln/>
        </p:spPr>
      </p:sp>
      <p:sp>
        <p:nvSpPr>
          <p:cNvPr id="53" name="Text 51"/>
          <p:cNvSpPr/>
          <p:nvPr/>
        </p:nvSpPr>
        <p:spPr>
          <a:xfrm>
            <a:off x="3611880" y="4001414"/>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Absent</a:t>
            </a:r>
            <a:endParaRPr lang="en-US" sz="750" dirty="0"/>
          </a:p>
        </p:txBody>
      </p:sp>
      <p:sp>
        <p:nvSpPr>
          <p:cNvPr id="54" name="Text 52"/>
          <p:cNvSpPr/>
          <p:nvPr/>
        </p:nvSpPr>
        <p:spPr>
          <a:xfrm>
            <a:off x="5074920" y="3946550"/>
            <a:ext cx="3657600" cy="310896"/>
          </a:xfrm>
          <a:prstGeom prst="rect">
            <a:avLst/>
          </a:prstGeom>
          <a:noFill/>
          <a:ln/>
        </p:spPr>
        <p:txBody>
          <a:bodyPr wrap="square" lIns="0" tIns="0" rIns="0" bIns="0" rtlCol="0" anchor="ctr"/>
          <a:lstStyle/>
          <a:p>
            <a:pPr indent="0" marL="0">
              <a:buNone/>
            </a:pPr>
            <a:r>
              <a:rPr lang="en-US" sz="850" dirty="0">
                <a:solidFill>
                  <a:srgbClr val="475569"/>
                </a:solidFill>
              </a:rPr>
              <a:t>Australia's largest tradie platform — not listed</a:t>
            </a:r>
            <a:endParaRPr lang="en-US" sz="850" dirty="0"/>
          </a:p>
        </p:txBody>
      </p:sp>
      <p:sp>
        <p:nvSpPr>
          <p:cNvPr id="55" name="Shape 53"/>
          <p:cNvSpPr/>
          <p:nvPr/>
        </p:nvSpPr>
        <p:spPr>
          <a:xfrm>
            <a:off x="320040" y="4268419"/>
            <a:ext cx="8503920" cy="310896"/>
          </a:xfrm>
          <a:prstGeom prst="rect">
            <a:avLst/>
          </a:prstGeom>
          <a:solidFill>
            <a:srgbClr val="FFFFFF"/>
          </a:solidFill>
          <a:ln/>
        </p:spPr>
      </p:sp>
      <p:sp>
        <p:nvSpPr>
          <p:cNvPr id="56" name="Text 54"/>
          <p:cNvSpPr/>
          <p:nvPr/>
        </p:nvSpPr>
        <p:spPr>
          <a:xfrm>
            <a:off x="411480" y="4268419"/>
            <a:ext cx="3108960" cy="310896"/>
          </a:xfrm>
          <a:prstGeom prst="rect">
            <a:avLst/>
          </a:prstGeom>
          <a:noFill/>
          <a:ln/>
        </p:spPr>
        <p:txBody>
          <a:bodyPr wrap="square" lIns="0" tIns="0" rIns="0" bIns="0" rtlCol="0" anchor="ctr"/>
          <a:lstStyle/>
          <a:p>
            <a:pPr indent="0" marL="0">
              <a:buNone/>
            </a:pPr>
            <a:r>
              <a:rPr lang="en-US" sz="950" dirty="0">
                <a:solidFill>
                  <a:srgbClr val="1E293B"/>
                </a:solidFill>
              </a:rPr>
              <a:t>LinkedIn (company)</a:t>
            </a:r>
            <a:endParaRPr lang="en-US" sz="950" dirty="0"/>
          </a:p>
        </p:txBody>
      </p:sp>
      <p:sp>
        <p:nvSpPr>
          <p:cNvPr id="57" name="Shape 55"/>
          <p:cNvSpPr/>
          <p:nvPr/>
        </p:nvSpPr>
        <p:spPr>
          <a:xfrm>
            <a:off x="3611880" y="4323283"/>
            <a:ext cx="1234440" cy="201168"/>
          </a:xfrm>
          <a:prstGeom prst="rect">
            <a:avLst/>
          </a:prstGeom>
          <a:solidFill>
            <a:srgbClr val="DC2626"/>
          </a:solidFill>
          <a:ln/>
        </p:spPr>
      </p:sp>
      <p:sp>
        <p:nvSpPr>
          <p:cNvPr id="58" name="Text 56"/>
          <p:cNvSpPr/>
          <p:nvPr/>
        </p:nvSpPr>
        <p:spPr>
          <a:xfrm>
            <a:off x="3611880" y="4323283"/>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Absent</a:t>
            </a:r>
            <a:endParaRPr lang="en-US" sz="750" dirty="0"/>
          </a:p>
        </p:txBody>
      </p:sp>
      <p:sp>
        <p:nvSpPr>
          <p:cNvPr id="59" name="Text 57"/>
          <p:cNvSpPr/>
          <p:nvPr/>
        </p:nvSpPr>
        <p:spPr>
          <a:xfrm>
            <a:off x="5074920" y="4268419"/>
            <a:ext cx="3657600" cy="310896"/>
          </a:xfrm>
          <a:prstGeom prst="rect">
            <a:avLst/>
          </a:prstGeom>
          <a:noFill/>
          <a:ln/>
        </p:spPr>
        <p:txBody>
          <a:bodyPr wrap="square" lIns="0" tIns="0" rIns="0" bIns="0" rtlCol="0" anchor="ctr"/>
          <a:lstStyle/>
          <a:p>
            <a:pPr indent="0" marL="0">
              <a:buNone/>
            </a:pPr>
            <a:r>
              <a:rPr lang="en-US" sz="850" dirty="0">
                <a:solidFill>
                  <a:srgbClr val="475569"/>
                </a:solidFill>
              </a:rPr>
              <a:t>Director personal profile only, no company page</a:t>
            </a:r>
            <a:endParaRPr lang="en-US" sz="850" dirty="0"/>
          </a:p>
        </p:txBody>
      </p:sp>
      <p:sp>
        <p:nvSpPr>
          <p:cNvPr id="60" name="Shape 58"/>
          <p:cNvSpPr/>
          <p:nvPr/>
        </p:nvSpPr>
        <p:spPr>
          <a:xfrm>
            <a:off x="320040" y="4590288"/>
            <a:ext cx="8503920" cy="310896"/>
          </a:xfrm>
          <a:prstGeom prst="rect">
            <a:avLst/>
          </a:prstGeom>
          <a:solidFill>
            <a:srgbClr val="F8FAFC"/>
          </a:solidFill>
          <a:ln/>
        </p:spPr>
      </p:sp>
      <p:sp>
        <p:nvSpPr>
          <p:cNvPr id="61" name="Text 59"/>
          <p:cNvSpPr/>
          <p:nvPr/>
        </p:nvSpPr>
        <p:spPr>
          <a:xfrm>
            <a:off x="411480" y="4590288"/>
            <a:ext cx="3108960" cy="310896"/>
          </a:xfrm>
          <a:prstGeom prst="rect">
            <a:avLst/>
          </a:prstGeom>
          <a:noFill/>
          <a:ln/>
        </p:spPr>
        <p:txBody>
          <a:bodyPr wrap="square" lIns="0" tIns="0" rIns="0" bIns="0" rtlCol="0" anchor="ctr"/>
          <a:lstStyle/>
          <a:p>
            <a:pPr indent="0" marL="0">
              <a:buNone/>
            </a:pPr>
            <a:r>
              <a:rPr lang="en-US" sz="950" dirty="0">
                <a:solidFill>
                  <a:srgbClr val="1E293B"/>
                </a:solidFill>
              </a:rPr>
              <a:t>Wikipedia / Wikidata</a:t>
            </a:r>
            <a:endParaRPr lang="en-US" sz="950" dirty="0"/>
          </a:p>
        </p:txBody>
      </p:sp>
      <p:sp>
        <p:nvSpPr>
          <p:cNvPr id="62" name="Shape 60"/>
          <p:cNvSpPr/>
          <p:nvPr/>
        </p:nvSpPr>
        <p:spPr>
          <a:xfrm>
            <a:off x="3611880" y="4645152"/>
            <a:ext cx="1234440" cy="201168"/>
          </a:xfrm>
          <a:prstGeom prst="rect">
            <a:avLst/>
          </a:prstGeom>
          <a:solidFill>
            <a:srgbClr val="DC2626"/>
          </a:solidFill>
          <a:ln/>
        </p:spPr>
      </p:sp>
      <p:sp>
        <p:nvSpPr>
          <p:cNvPr id="63" name="Text 61"/>
          <p:cNvSpPr/>
          <p:nvPr/>
        </p:nvSpPr>
        <p:spPr>
          <a:xfrm>
            <a:off x="3611880" y="4645152"/>
            <a:ext cx="1234440" cy="201168"/>
          </a:xfrm>
          <a:prstGeom prst="rect">
            <a:avLst/>
          </a:prstGeom>
          <a:noFill/>
          <a:ln/>
        </p:spPr>
        <p:txBody>
          <a:bodyPr wrap="square" lIns="0" tIns="0" rIns="0" bIns="0" rtlCol="0" anchor="ctr"/>
          <a:lstStyle/>
          <a:p>
            <a:pPr algn="ctr" indent="0" marL="0">
              <a:buNone/>
            </a:pPr>
            <a:r>
              <a:rPr lang="en-US" sz="750" b="1" dirty="0">
                <a:solidFill>
                  <a:srgbClr val="FFFFFF"/>
                </a:solidFill>
              </a:rPr>
              <a:t>Absent</a:t>
            </a:r>
            <a:endParaRPr lang="en-US" sz="750" dirty="0"/>
          </a:p>
        </p:txBody>
      </p:sp>
      <p:sp>
        <p:nvSpPr>
          <p:cNvPr id="64" name="Text 62"/>
          <p:cNvSpPr/>
          <p:nvPr/>
        </p:nvSpPr>
        <p:spPr>
          <a:xfrm>
            <a:off x="5074920" y="4590288"/>
            <a:ext cx="3657600" cy="310896"/>
          </a:xfrm>
          <a:prstGeom prst="rect">
            <a:avLst/>
          </a:prstGeom>
          <a:noFill/>
          <a:ln/>
        </p:spPr>
        <p:txBody>
          <a:bodyPr wrap="square" lIns="0" tIns="0" rIns="0" bIns="0" rtlCol="0" anchor="ctr"/>
          <a:lstStyle/>
          <a:p>
            <a:pPr indent="0" marL="0">
              <a:buNone/>
            </a:pPr>
            <a:r>
              <a:rPr lang="en-US" sz="850" dirty="0">
                <a:solidFill>
                  <a:srgbClr val="475569"/>
                </a:solidFill>
              </a:rPr>
              <a:t>No entity record</a:t>
            </a:r>
            <a:endParaRPr lang="en-US" sz="850" dirty="0"/>
          </a:p>
        </p:txBody>
      </p:sp>
      <p:sp>
        <p:nvSpPr>
          <p:cNvPr id="65" name="Text 63"/>
          <p:cNvSpPr/>
          <p:nvPr/>
        </p:nvSpPr>
        <p:spPr>
          <a:xfrm>
            <a:off x="320040" y="4937760"/>
            <a:ext cx="8503920" cy="228600"/>
          </a:xfrm>
          <a:prstGeom prst="rect">
            <a:avLst/>
          </a:prstGeom>
          <a:noFill/>
          <a:ln/>
        </p:spPr>
        <p:txBody>
          <a:bodyPr wrap="square" lIns="0" tIns="0" rIns="0" bIns="0" rtlCol="0" anchor="ctr"/>
          <a:lstStyle/>
          <a:p>
            <a:pPr indent="0" marL="0">
              <a:buNone/>
            </a:pPr>
            <a:r>
              <a:rPr lang="en-US" sz="850" i="1" dirty="0">
                <a:solidFill>
                  <a:srgbClr val="475569"/>
                </a:solidFill>
              </a:rPr>
              <a:t>Review aggregate: ~16 confirmed reviews across all platforms, blended 4.4/5. For a 13-year business with 28+ confirmed hires on ServiceSeeking alone, this is very low volume.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68580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CATEGORY DEEP DIVE: CONTENT E-E-A-T</a:t>
            </a:r>
            <a:endParaRPr lang="en-US" sz="1300" dirty="0"/>
          </a:p>
        </p:txBody>
      </p:sp>
      <p:sp>
        <p:nvSpPr>
          <p:cNvPr id="4" name="Text 2"/>
          <p:cNvSpPr/>
          <p:nvPr/>
        </p:nvSpPr>
        <p:spPr>
          <a:xfrm>
            <a:off x="7406640" y="0"/>
            <a:ext cx="1554480" cy="594360"/>
          </a:xfrm>
          <a:prstGeom prst="rect">
            <a:avLst/>
          </a:prstGeom>
          <a:noFill/>
          <a:ln/>
        </p:spPr>
        <p:txBody>
          <a:bodyPr wrap="square" lIns="0" tIns="0" rIns="0" bIns="0" rtlCol="0" anchor="ctr"/>
          <a:lstStyle/>
          <a:p>
            <a:pPr algn="r" indent="0" marL="0">
              <a:buNone/>
            </a:pPr>
            <a:r>
              <a:rPr lang="en-US" sz="1800" b="1" dirty="0">
                <a:solidFill>
                  <a:srgbClr val="D97706"/>
                </a:solidFill>
              </a:rPr>
              <a:t>32 / 100</a:t>
            </a:r>
            <a:endParaRPr lang="en-US" sz="1800" dirty="0"/>
          </a:p>
        </p:txBody>
      </p:sp>
      <p:sp>
        <p:nvSpPr>
          <p:cNvPr id="5" name="Shape 3"/>
          <p:cNvSpPr/>
          <p:nvPr/>
        </p:nvSpPr>
        <p:spPr>
          <a:xfrm>
            <a:off x="320040" y="731520"/>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6" name="Shape 4"/>
          <p:cNvSpPr/>
          <p:nvPr/>
        </p:nvSpPr>
        <p:spPr>
          <a:xfrm>
            <a:off x="320040" y="731520"/>
            <a:ext cx="1417320" cy="1005840"/>
          </a:xfrm>
          <a:prstGeom prst="rect">
            <a:avLst/>
          </a:prstGeom>
          <a:solidFill>
            <a:srgbClr val="DC2626"/>
          </a:solidFill>
          <a:ln/>
        </p:spPr>
      </p:sp>
      <p:sp>
        <p:nvSpPr>
          <p:cNvPr id="7" name="Text 5"/>
          <p:cNvSpPr/>
          <p:nvPr/>
        </p:nvSpPr>
        <p:spPr>
          <a:xfrm>
            <a:off x="320040" y="786384"/>
            <a:ext cx="1417320" cy="320040"/>
          </a:xfrm>
          <a:prstGeom prst="rect">
            <a:avLst/>
          </a:prstGeom>
          <a:noFill/>
          <a:ln/>
        </p:spPr>
        <p:txBody>
          <a:bodyPr wrap="square" lIns="0" tIns="0" rIns="0" bIns="0" rtlCol="0" anchor="ctr"/>
          <a:lstStyle/>
          <a:p>
            <a:pPr algn="ctr" indent="0" marL="0">
              <a:buNone/>
            </a:pPr>
            <a:r>
              <a:rPr lang="en-US" sz="1050" b="1" dirty="0">
                <a:solidFill>
                  <a:srgbClr val="FFFFFF"/>
                </a:solidFill>
              </a:rPr>
              <a:t>Experience</a:t>
            </a:r>
            <a:endParaRPr lang="en-US" sz="1050" dirty="0"/>
          </a:p>
        </p:txBody>
      </p:sp>
      <p:sp>
        <p:nvSpPr>
          <p:cNvPr id="8" name="Text 6"/>
          <p:cNvSpPr/>
          <p:nvPr/>
        </p:nvSpPr>
        <p:spPr>
          <a:xfrm>
            <a:off x="320040" y="1133856"/>
            <a:ext cx="1417320" cy="457200"/>
          </a:xfrm>
          <a:prstGeom prst="rect">
            <a:avLst/>
          </a:prstGeom>
          <a:noFill/>
          <a:ln/>
        </p:spPr>
        <p:txBody>
          <a:bodyPr wrap="square" lIns="0" tIns="0" rIns="0" bIns="0" rtlCol="0" anchor="ctr"/>
          <a:lstStyle/>
          <a:p>
            <a:pPr algn="ctr" indent="0" marL="0">
              <a:buNone/>
            </a:pPr>
            <a:r>
              <a:rPr lang="en-US" sz="2400" b="1" dirty="0">
                <a:solidFill>
                  <a:srgbClr val="FFFFFF"/>
                </a:solidFill>
              </a:rPr>
              <a:t>28/100</a:t>
            </a:r>
            <a:endParaRPr lang="en-US" sz="2400" dirty="0"/>
          </a:p>
        </p:txBody>
      </p:sp>
      <p:sp>
        <p:nvSpPr>
          <p:cNvPr id="9" name="Text 7"/>
          <p:cNvSpPr/>
          <p:nvPr/>
        </p:nvSpPr>
        <p:spPr>
          <a:xfrm>
            <a:off x="1920240" y="896112"/>
            <a:ext cx="6766560" cy="676656"/>
          </a:xfrm>
          <a:prstGeom prst="rect">
            <a:avLst/>
          </a:prstGeom>
          <a:noFill/>
          <a:ln/>
        </p:spPr>
        <p:txBody>
          <a:bodyPr wrap="square" lIns="0" tIns="0" rIns="0" bIns="0" rtlCol="0" anchor="ctr"/>
          <a:lstStyle/>
          <a:p>
            <a:pPr indent="0" marL="0">
              <a:buNone/>
            </a:pPr>
            <a:r>
              <a:rPr lang="en-US" sz="1050" dirty="0">
                <a:solidFill>
                  <a:srgbClr val="475569"/>
                </a:solidFill>
              </a:rPr>
              <a:t>Gallery exists (35+ photos) but all are unlabelled. Two vague testimonials. No case studies or project-level detail anywhere on the site.</a:t>
            </a:r>
            <a:endParaRPr lang="en-US" sz="1050" dirty="0"/>
          </a:p>
        </p:txBody>
      </p:sp>
      <p:sp>
        <p:nvSpPr>
          <p:cNvPr id="10" name="Shape 8"/>
          <p:cNvSpPr/>
          <p:nvPr/>
        </p:nvSpPr>
        <p:spPr>
          <a:xfrm>
            <a:off x="320040" y="1819656"/>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1" name="Shape 9"/>
          <p:cNvSpPr/>
          <p:nvPr/>
        </p:nvSpPr>
        <p:spPr>
          <a:xfrm>
            <a:off x="320040" y="1819656"/>
            <a:ext cx="1417320" cy="1005840"/>
          </a:xfrm>
          <a:prstGeom prst="rect">
            <a:avLst/>
          </a:prstGeom>
          <a:solidFill>
            <a:srgbClr val="DC2626"/>
          </a:solidFill>
          <a:ln/>
        </p:spPr>
      </p:sp>
      <p:sp>
        <p:nvSpPr>
          <p:cNvPr id="12" name="Text 10"/>
          <p:cNvSpPr/>
          <p:nvPr/>
        </p:nvSpPr>
        <p:spPr>
          <a:xfrm>
            <a:off x="320040" y="1874520"/>
            <a:ext cx="1417320" cy="320040"/>
          </a:xfrm>
          <a:prstGeom prst="rect">
            <a:avLst/>
          </a:prstGeom>
          <a:noFill/>
          <a:ln/>
        </p:spPr>
        <p:txBody>
          <a:bodyPr wrap="square" lIns="0" tIns="0" rIns="0" bIns="0" rtlCol="0" anchor="ctr"/>
          <a:lstStyle/>
          <a:p>
            <a:pPr algn="ctr" indent="0" marL="0">
              <a:buNone/>
            </a:pPr>
            <a:r>
              <a:rPr lang="en-US" sz="1050" b="1" dirty="0">
                <a:solidFill>
                  <a:srgbClr val="FFFFFF"/>
                </a:solidFill>
              </a:rPr>
              <a:t>Expertise</a:t>
            </a:r>
            <a:endParaRPr lang="en-US" sz="1050" dirty="0"/>
          </a:p>
        </p:txBody>
      </p:sp>
      <p:sp>
        <p:nvSpPr>
          <p:cNvPr id="13" name="Text 11"/>
          <p:cNvSpPr/>
          <p:nvPr/>
        </p:nvSpPr>
        <p:spPr>
          <a:xfrm>
            <a:off x="320040" y="2221992"/>
            <a:ext cx="1417320" cy="457200"/>
          </a:xfrm>
          <a:prstGeom prst="rect">
            <a:avLst/>
          </a:prstGeom>
          <a:noFill/>
          <a:ln/>
        </p:spPr>
        <p:txBody>
          <a:bodyPr wrap="square" lIns="0" tIns="0" rIns="0" bIns="0" rtlCol="0" anchor="ctr"/>
          <a:lstStyle/>
          <a:p>
            <a:pPr algn="ctr" indent="0" marL="0">
              <a:buNone/>
            </a:pPr>
            <a:r>
              <a:rPr lang="en-US" sz="2400" b="1" dirty="0">
                <a:solidFill>
                  <a:srgbClr val="FFFFFF"/>
                </a:solidFill>
              </a:rPr>
              <a:t>38/100</a:t>
            </a:r>
            <a:endParaRPr lang="en-US" sz="2400" dirty="0"/>
          </a:p>
        </p:txBody>
      </p:sp>
      <p:sp>
        <p:nvSpPr>
          <p:cNvPr id="14" name="Text 12"/>
          <p:cNvSpPr/>
          <p:nvPr/>
        </p:nvSpPr>
        <p:spPr>
          <a:xfrm>
            <a:off x="1920240" y="1984248"/>
            <a:ext cx="6766560" cy="676656"/>
          </a:xfrm>
          <a:prstGeom prst="rect">
            <a:avLst/>
          </a:prstGeom>
          <a:noFill/>
          <a:ln/>
        </p:spPr>
        <p:txBody>
          <a:bodyPr wrap="square" lIns="0" tIns="0" rIns="0" bIns="0" rtlCol="0" anchor="ctr"/>
          <a:lstStyle/>
          <a:p>
            <a:pPr indent="0" marL="0">
              <a:buNone/>
            </a:pPr>
            <a:r>
              <a:rPr lang="en-US" sz="1050" dirty="0">
                <a:solidFill>
                  <a:srgbClr val="475569"/>
                </a:solidFill>
              </a:rPr>
              <a:t>Owner credentials (Dilip Gorad, Electrical Engineer) are real but undocumented. NSW licence number absent. Placeholder team section live in production.</a:t>
            </a:r>
            <a:endParaRPr lang="en-US" sz="1050" dirty="0"/>
          </a:p>
        </p:txBody>
      </p:sp>
      <p:sp>
        <p:nvSpPr>
          <p:cNvPr id="15" name="Shape 13"/>
          <p:cNvSpPr/>
          <p:nvPr/>
        </p:nvSpPr>
        <p:spPr>
          <a:xfrm>
            <a:off x="320040" y="2907792"/>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6" name="Shape 14"/>
          <p:cNvSpPr/>
          <p:nvPr/>
        </p:nvSpPr>
        <p:spPr>
          <a:xfrm>
            <a:off x="320040" y="2907792"/>
            <a:ext cx="1417320" cy="1005840"/>
          </a:xfrm>
          <a:prstGeom prst="rect">
            <a:avLst/>
          </a:prstGeom>
          <a:solidFill>
            <a:srgbClr val="DC2626"/>
          </a:solidFill>
          <a:ln/>
        </p:spPr>
      </p:sp>
      <p:sp>
        <p:nvSpPr>
          <p:cNvPr id="17" name="Text 15"/>
          <p:cNvSpPr/>
          <p:nvPr/>
        </p:nvSpPr>
        <p:spPr>
          <a:xfrm>
            <a:off x="320040" y="2962656"/>
            <a:ext cx="1417320" cy="320040"/>
          </a:xfrm>
          <a:prstGeom prst="rect">
            <a:avLst/>
          </a:prstGeom>
          <a:noFill/>
          <a:ln/>
        </p:spPr>
        <p:txBody>
          <a:bodyPr wrap="square" lIns="0" tIns="0" rIns="0" bIns="0" rtlCol="0" anchor="ctr"/>
          <a:lstStyle/>
          <a:p>
            <a:pPr algn="ctr" indent="0" marL="0">
              <a:buNone/>
            </a:pPr>
            <a:r>
              <a:rPr lang="en-US" sz="1050" b="1" dirty="0">
                <a:solidFill>
                  <a:srgbClr val="FFFFFF"/>
                </a:solidFill>
              </a:rPr>
              <a:t>Authoritativeness</a:t>
            </a:r>
            <a:endParaRPr lang="en-US" sz="1050" dirty="0"/>
          </a:p>
        </p:txBody>
      </p:sp>
      <p:sp>
        <p:nvSpPr>
          <p:cNvPr id="18" name="Text 16"/>
          <p:cNvSpPr/>
          <p:nvPr/>
        </p:nvSpPr>
        <p:spPr>
          <a:xfrm>
            <a:off x="320040" y="3310128"/>
            <a:ext cx="1417320" cy="457200"/>
          </a:xfrm>
          <a:prstGeom prst="rect">
            <a:avLst/>
          </a:prstGeom>
          <a:noFill/>
          <a:ln/>
        </p:spPr>
        <p:txBody>
          <a:bodyPr wrap="square" lIns="0" tIns="0" rIns="0" bIns="0" rtlCol="0" anchor="ctr"/>
          <a:lstStyle/>
          <a:p>
            <a:pPr algn="ctr" indent="0" marL="0">
              <a:buNone/>
            </a:pPr>
            <a:r>
              <a:rPr lang="en-US" sz="2400" b="1" dirty="0">
                <a:solidFill>
                  <a:srgbClr val="FFFFFF"/>
                </a:solidFill>
              </a:rPr>
              <a:t>22/100</a:t>
            </a:r>
            <a:endParaRPr lang="en-US" sz="2400" dirty="0"/>
          </a:p>
        </p:txBody>
      </p:sp>
      <p:sp>
        <p:nvSpPr>
          <p:cNvPr id="19" name="Text 17"/>
          <p:cNvSpPr/>
          <p:nvPr/>
        </p:nvSpPr>
        <p:spPr>
          <a:xfrm>
            <a:off x="1920240" y="3072384"/>
            <a:ext cx="6766560" cy="676656"/>
          </a:xfrm>
          <a:prstGeom prst="rect">
            <a:avLst/>
          </a:prstGeom>
          <a:noFill/>
          <a:ln/>
        </p:spPr>
        <p:txBody>
          <a:bodyPr wrap="square" lIns="0" tIns="0" rIns="0" bIns="0" rtlCol="0" anchor="ctr"/>
          <a:lstStyle/>
          <a:p>
            <a:pPr indent="0" marL="0">
              <a:buNone/>
            </a:pPr>
            <a:r>
              <a:rPr lang="en-US" sz="1050" dirty="0">
                <a:solidFill>
                  <a:srgbClr val="475569"/>
                </a:solidFill>
              </a:rPr>
              <a:t>One industry award exists but is text-invisible (image only). No blog, no external citations, no confirmed industry membership badges displayed.</a:t>
            </a:r>
            <a:endParaRPr lang="en-US" sz="1050" dirty="0"/>
          </a:p>
        </p:txBody>
      </p:sp>
      <p:sp>
        <p:nvSpPr>
          <p:cNvPr id="20" name="Shape 18"/>
          <p:cNvSpPr/>
          <p:nvPr/>
        </p:nvSpPr>
        <p:spPr>
          <a:xfrm>
            <a:off x="320040" y="3995928"/>
            <a:ext cx="8503920" cy="100584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1" name="Shape 19"/>
          <p:cNvSpPr/>
          <p:nvPr/>
        </p:nvSpPr>
        <p:spPr>
          <a:xfrm>
            <a:off x="320040" y="3995928"/>
            <a:ext cx="1417320" cy="1005840"/>
          </a:xfrm>
          <a:prstGeom prst="rect">
            <a:avLst/>
          </a:prstGeom>
          <a:solidFill>
            <a:srgbClr val="D97706"/>
          </a:solidFill>
          <a:ln/>
        </p:spPr>
      </p:sp>
      <p:sp>
        <p:nvSpPr>
          <p:cNvPr id="22" name="Text 20"/>
          <p:cNvSpPr/>
          <p:nvPr/>
        </p:nvSpPr>
        <p:spPr>
          <a:xfrm>
            <a:off x="320040" y="4050792"/>
            <a:ext cx="1417320" cy="320040"/>
          </a:xfrm>
          <a:prstGeom prst="rect">
            <a:avLst/>
          </a:prstGeom>
          <a:noFill/>
          <a:ln/>
        </p:spPr>
        <p:txBody>
          <a:bodyPr wrap="square" lIns="0" tIns="0" rIns="0" bIns="0" rtlCol="0" anchor="ctr"/>
          <a:lstStyle/>
          <a:p>
            <a:pPr algn="ctr" indent="0" marL="0">
              <a:buNone/>
            </a:pPr>
            <a:r>
              <a:rPr lang="en-US" sz="1050" b="1" dirty="0">
                <a:solidFill>
                  <a:srgbClr val="FFFFFF"/>
                </a:solidFill>
              </a:rPr>
              <a:t>Trustworthiness</a:t>
            </a:r>
            <a:endParaRPr lang="en-US" sz="1050" dirty="0"/>
          </a:p>
        </p:txBody>
      </p:sp>
      <p:sp>
        <p:nvSpPr>
          <p:cNvPr id="23" name="Text 21"/>
          <p:cNvSpPr/>
          <p:nvPr/>
        </p:nvSpPr>
        <p:spPr>
          <a:xfrm>
            <a:off x="320040" y="4398264"/>
            <a:ext cx="1417320" cy="457200"/>
          </a:xfrm>
          <a:prstGeom prst="rect">
            <a:avLst/>
          </a:prstGeom>
          <a:noFill/>
          <a:ln/>
        </p:spPr>
        <p:txBody>
          <a:bodyPr wrap="square" lIns="0" tIns="0" rIns="0" bIns="0" rtlCol="0" anchor="ctr"/>
          <a:lstStyle/>
          <a:p>
            <a:pPr algn="ctr" indent="0" marL="0">
              <a:buNone/>
            </a:pPr>
            <a:r>
              <a:rPr lang="en-US" sz="2400" b="1" dirty="0">
                <a:solidFill>
                  <a:srgbClr val="FFFFFF"/>
                </a:solidFill>
              </a:rPr>
              <a:t>42/100</a:t>
            </a:r>
            <a:endParaRPr lang="en-US" sz="2400" dirty="0"/>
          </a:p>
        </p:txBody>
      </p:sp>
      <p:sp>
        <p:nvSpPr>
          <p:cNvPr id="24" name="Text 22"/>
          <p:cNvSpPr/>
          <p:nvPr/>
        </p:nvSpPr>
        <p:spPr>
          <a:xfrm>
            <a:off x="1920240" y="4160520"/>
            <a:ext cx="6766560" cy="676656"/>
          </a:xfrm>
          <a:prstGeom prst="rect">
            <a:avLst/>
          </a:prstGeom>
          <a:noFill/>
          <a:ln/>
        </p:spPr>
        <p:txBody>
          <a:bodyPr wrap="square" lIns="0" tIns="0" rIns="0" bIns="0" rtlCol="0" anchor="ctr"/>
          <a:lstStyle/>
          <a:p>
            <a:pPr indent="0" marL="0">
              <a:buNone/>
            </a:pPr>
            <a:r>
              <a:rPr lang="en-US" sz="1050" dirty="0">
                <a:solidFill>
                  <a:srgbClr val="475569"/>
                </a:solidFill>
              </a:rPr>
              <a:t>HTTPS ✓, ABN/ACN ✓, consistent NAP ✓ — solid foundation. Minus points: no privacy policy page, placeholder text live in production on About page.</a:t>
            </a:r>
            <a:endParaRPr lang="en-US" sz="1050" dirty="0"/>
          </a:p>
        </p:txBody>
      </p:sp>
      <p:sp>
        <p:nvSpPr>
          <p:cNvPr id="25" name="Shape 23"/>
          <p:cNvSpPr/>
          <p:nvPr/>
        </p:nvSpPr>
        <p:spPr>
          <a:xfrm>
            <a:off x="0" y="4800600"/>
            <a:ext cx="9144000" cy="342900"/>
          </a:xfrm>
          <a:prstGeom prst="rect">
            <a:avLst/>
          </a:prstGeom>
          <a:solidFill>
            <a:srgbClr val="0D1B3E"/>
          </a:solidFill>
          <a:ln/>
        </p:spPr>
      </p:sp>
      <p:sp>
        <p:nvSpPr>
          <p:cNvPr id="26" name="Text 24"/>
          <p:cNvSpPr/>
          <p:nvPr/>
        </p:nvSpPr>
        <p:spPr>
          <a:xfrm>
            <a:off x="320040" y="4800600"/>
            <a:ext cx="8503920" cy="342900"/>
          </a:xfrm>
          <a:prstGeom prst="rect">
            <a:avLst/>
          </a:prstGeom>
          <a:noFill/>
          <a:ln/>
        </p:spPr>
        <p:txBody>
          <a:bodyPr wrap="square" lIns="0" tIns="0" rIns="0" bIns="0" rtlCol="0" anchor="ctr"/>
          <a:lstStyle/>
          <a:p>
            <a:pPr algn="ctr" indent="0" marL="0">
              <a:buNone/>
            </a:pPr>
            <a:r>
              <a:rPr lang="en-US" sz="950" i="1" dirty="0">
                <a:solidFill>
                  <a:srgbClr val="94A3B8"/>
                </a:solidFill>
              </a:rPr>
              <a:t>Total site word count: ~1,500 words across all service pages. A well-optimised local trades site should target 5,000–8,000 words.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68580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CATEGORY DEEP DIVE: TECHNICAL GEO</a:t>
            </a:r>
            <a:endParaRPr lang="en-US" sz="1300" dirty="0"/>
          </a:p>
        </p:txBody>
      </p:sp>
      <p:sp>
        <p:nvSpPr>
          <p:cNvPr id="4" name="Text 2"/>
          <p:cNvSpPr/>
          <p:nvPr/>
        </p:nvSpPr>
        <p:spPr>
          <a:xfrm>
            <a:off x="7406640" y="0"/>
            <a:ext cx="1554480" cy="594360"/>
          </a:xfrm>
          <a:prstGeom prst="rect">
            <a:avLst/>
          </a:prstGeom>
          <a:noFill/>
          <a:ln/>
        </p:spPr>
        <p:txBody>
          <a:bodyPr wrap="square" lIns="0" tIns="0" rIns="0" bIns="0" rtlCol="0" anchor="ctr"/>
          <a:lstStyle/>
          <a:p>
            <a:pPr algn="r" indent="0" marL="0">
              <a:buNone/>
            </a:pPr>
            <a:r>
              <a:rPr lang="en-US" sz="1800" b="1" dirty="0">
                <a:solidFill>
                  <a:srgbClr val="D97706"/>
                </a:solidFill>
              </a:rPr>
              <a:t>57 / 100</a:t>
            </a:r>
            <a:endParaRPr lang="en-US" sz="1800" dirty="0"/>
          </a:p>
        </p:txBody>
      </p:sp>
      <p:sp>
        <p:nvSpPr>
          <p:cNvPr id="5" name="Text 3"/>
          <p:cNvSpPr/>
          <p:nvPr/>
        </p:nvSpPr>
        <p:spPr>
          <a:xfrm>
            <a:off x="411480" y="713232"/>
            <a:ext cx="8321040" cy="274320"/>
          </a:xfrm>
          <a:prstGeom prst="rect">
            <a:avLst/>
          </a:prstGeom>
          <a:noFill/>
          <a:ln/>
        </p:spPr>
        <p:txBody>
          <a:bodyPr wrap="square" lIns="0" tIns="0" rIns="0" bIns="0" rtlCol="0" anchor="ctr"/>
          <a:lstStyle/>
          <a:p>
            <a:pPr indent="0" marL="0">
              <a:buNone/>
            </a:pPr>
            <a:r>
              <a:rPr lang="en-US" sz="1150" i="1" dirty="0">
                <a:solidFill>
                  <a:srgbClr val="475569"/>
                </a:solidFill>
              </a:rPr>
              <a:t>Strongest category — fundamentals are sound. Critical gaps in schema, caching, and optimisation.</a:t>
            </a:r>
            <a:endParaRPr lang="en-US" sz="1150" dirty="0"/>
          </a:p>
        </p:txBody>
      </p:sp>
      <p:sp>
        <p:nvSpPr>
          <p:cNvPr id="6" name="Shape 4"/>
          <p:cNvSpPr/>
          <p:nvPr/>
        </p:nvSpPr>
        <p:spPr>
          <a:xfrm>
            <a:off x="274320" y="1060704"/>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7" name="Shape 5"/>
          <p:cNvSpPr/>
          <p:nvPr/>
        </p:nvSpPr>
        <p:spPr>
          <a:xfrm>
            <a:off x="274320" y="1060704"/>
            <a:ext cx="457200" cy="475488"/>
          </a:xfrm>
          <a:prstGeom prst="rect">
            <a:avLst/>
          </a:prstGeom>
          <a:solidFill>
            <a:srgbClr val="16A34A"/>
          </a:solidFill>
          <a:ln/>
        </p:spPr>
      </p:sp>
      <p:sp>
        <p:nvSpPr>
          <p:cNvPr id="8" name="Text 6"/>
          <p:cNvSpPr/>
          <p:nvPr/>
        </p:nvSpPr>
        <p:spPr>
          <a:xfrm>
            <a:off x="274320" y="1060704"/>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p:nvPr/>
        </p:nvSpPr>
        <p:spPr>
          <a:xfrm>
            <a:off x="841248" y="1060704"/>
            <a:ext cx="3474720" cy="475488"/>
          </a:xfrm>
          <a:prstGeom prst="rect">
            <a:avLst/>
          </a:prstGeom>
          <a:noFill/>
          <a:ln/>
        </p:spPr>
        <p:txBody>
          <a:bodyPr wrap="square" lIns="0" tIns="0" rIns="0" bIns="0" rtlCol="0" anchor="ctr"/>
          <a:lstStyle/>
          <a:p>
            <a:pPr indent="0" marL="0">
              <a:buNone/>
            </a:pPr>
            <a:r>
              <a:rPr lang="en-US" sz="1000" dirty="0">
                <a:solidFill>
                  <a:srgbClr val="1E293B"/>
                </a:solidFill>
              </a:rPr>
              <a:t>AI crawlers allowed (all major bots)</a:t>
            </a:r>
            <a:endParaRPr lang="en-US" sz="1000" dirty="0"/>
          </a:p>
        </p:txBody>
      </p:sp>
      <p:sp>
        <p:nvSpPr>
          <p:cNvPr id="10" name="Shape 8"/>
          <p:cNvSpPr/>
          <p:nvPr/>
        </p:nvSpPr>
        <p:spPr>
          <a:xfrm>
            <a:off x="274320" y="1623060"/>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1" name="Shape 9"/>
          <p:cNvSpPr/>
          <p:nvPr/>
        </p:nvSpPr>
        <p:spPr>
          <a:xfrm>
            <a:off x="274320" y="1623060"/>
            <a:ext cx="457200" cy="475488"/>
          </a:xfrm>
          <a:prstGeom prst="rect">
            <a:avLst/>
          </a:prstGeom>
          <a:solidFill>
            <a:srgbClr val="16A34A"/>
          </a:solidFill>
          <a:ln/>
        </p:spPr>
      </p:sp>
      <p:sp>
        <p:nvSpPr>
          <p:cNvPr id="12" name="Text 10"/>
          <p:cNvSpPr/>
          <p:nvPr/>
        </p:nvSpPr>
        <p:spPr>
          <a:xfrm>
            <a:off x="274320" y="1623060"/>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3" name="Text 11"/>
          <p:cNvSpPr/>
          <p:nvPr/>
        </p:nvSpPr>
        <p:spPr>
          <a:xfrm>
            <a:off x="841248" y="1623060"/>
            <a:ext cx="3474720" cy="475488"/>
          </a:xfrm>
          <a:prstGeom prst="rect">
            <a:avLst/>
          </a:prstGeom>
          <a:noFill/>
          <a:ln/>
        </p:spPr>
        <p:txBody>
          <a:bodyPr wrap="square" lIns="0" tIns="0" rIns="0" bIns="0" rtlCol="0" anchor="ctr"/>
          <a:lstStyle/>
          <a:p>
            <a:pPr indent="0" marL="0">
              <a:buNone/>
            </a:pPr>
            <a:r>
              <a:rPr lang="en-US" sz="1000" dirty="0">
                <a:solidFill>
                  <a:srgbClr val="1E293B"/>
                </a:solidFill>
              </a:rPr>
              <a:t>Server-side rendered (WordPress)</a:t>
            </a:r>
            <a:endParaRPr lang="en-US" sz="1000" dirty="0"/>
          </a:p>
        </p:txBody>
      </p:sp>
      <p:sp>
        <p:nvSpPr>
          <p:cNvPr id="14" name="Shape 12"/>
          <p:cNvSpPr/>
          <p:nvPr/>
        </p:nvSpPr>
        <p:spPr>
          <a:xfrm>
            <a:off x="274320" y="2185416"/>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5" name="Shape 13"/>
          <p:cNvSpPr/>
          <p:nvPr/>
        </p:nvSpPr>
        <p:spPr>
          <a:xfrm>
            <a:off x="274320" y="2185416"/>
            <a:ext cx="457200" cy="475488"/>
          </a:xfrm>
          <a:prstGeom prst="rect">
            <a:avLst/>
          </a:prstGeom>
          <a:solidFill>
            <a:srgbClr val="16A34A"/>
          </a:solidFill>
          <a:ln/>
        </p:spPr>
      </p:sp>
      <p:sp>
        <p:nvSpPr>
          <p:cNvPr id="16" name="Text 14"/>
          <p:cNvSpPr/>
          <p:nvPr/>
        </p:nvSpPr>
        <p:spPr>
          <a:xfrm>
            <a:off x="274320" y="2185416"/>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7" name="Text 15"/>
          <p:cNvSpPr/>
          <p:nvPr/>
        </p:nvSpPr>
        <p:spPr>
          <a:xfrm>
            <a:off x="841248" y="2185416"/>
            <a:ext cx="3474720" cy="475488"/>
          </a:xfrm>
          <a:prstGeom prst="rect">
            <a:avLst/>
          </a:prstGeom>
          <a:noFill/>
          <a:ln/>
        </p:spPr>
        <p:txBody>
          <a:bodyPr wrap="square" lIns="0" tIns="0" rIns="0" bIns="0" rtlCol="0" anchor="ctr"/>
          <a:lstStyle/>
          <a:p>
            <a:pPr indent="0" marL="0">
              <a:buNone/>
            </a:pPr>
            <a:r>
              <a:rPr lang="en-US" sz="1000" dirty="0">
                <a:solidFill>
                  <a:srgbClr val="1E293B"/>
                </a:solidFill>
              </a:rPr>
              <a:t>HTTPS enforced</a:t>
            </a:r>
            <a:endParaRPr lang="en-US" sz="1000" dirty="0"/>
          </a:p>
        </p:txBody>
      </p:sp>
      <p:sp>
        <p:nvSpPr>
          <p:cNvPr id="18" name="Shape 16"/>
          <p:cNvSpPr/>
          <p:nvPr/>
        </p:nvSpPr>
        <p:spPr>
          <a:xfrm>
            <a:off x="274320" y="2747772"/>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19" name="Shape 17"/>
          <p:cNvSpPr/>
          <p:nvPr/>
        </p:nvSpPr>
        <p:spPr>
          <a:xfrm>
            <a:off x="274320" y="2747772"/>
            <a:ext cx="457200" cy="475488"/>
          </a:xfrm>
          <a:prstGeom prst="rect">
            <a:avLst/>
          </a:prstGeom>
          <a:solidFill>
            <a:srgbClr val="16A34A"/>
          </a:solidFill>
          <a:ln/>
        </p:spPr>
      </p:sp>
      <p:sp>
        <p:nvSpPr>
          <p:cNvPr id="20" name="Text 18"/>
          <p:cNvSpPr/>
          <p:nvPr/>
        </p:nvSpPr>
        <p:spPr>
          <a:xfrm>
            <a:off x="274320" y="2747772"/>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1" name="Text 19"/>
          <p:cNvSpPr/>
          <p:nvPr/>
        </p:nvSpPr>
        <p:spPr>
          <a:xfrm>
            <a:off x="841248" y="2747772"/>
            <a:ext cx="3474720" cy="475488"/>
          </a:xfrm>
          <a:prstGeom prst="rect">
            <a:avLst/>
          </a:prstGeom>
          <a:noFill/>
          <a:ln/>
        </p:spPr>
        <p:txBody>
          <a:bodyPr wrap="square" lIns="0" tIns="0" rIns="0" bIns="0" rtlCol="0" anchor="ctr"/>
          <a:lstStyle/>
          <a:p>
            <a:pPr indent="0" marL="0">
              <a:buNone/>
            </a:pPr>
            <a:r>
              <a:rPr lang="en-US" sz="1000" dirty="0">
                <a:solidFill>
                  <a:srgbClr val="1E293B"/>
                </a:solidFill>
              </a:rPr>
              <a:t>Sitemap present</a:t>
            </a:r>
            <a:endParaRPr lang="en-US" sz="1000" dirty="0"/>
          </a:p>
        </p:txBody>
      </p:sp>
      <p:sp>
        <p:nvSpPr>
          <p:cNvPr id="22" name="Shape 20"/>
          <p:cNvSpPr/>
          <p:nvPr/>
        </p:nvSpPr>
        <p:spPr>
          <a:xfrm>
            <a:off x="274320" y="3310128"/>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3" name="Shape 21"/>
          <p:cNvSpPr/>
          <p:nvPr/>
        </p:nvSpPr>
        <p:spPr>
          <a:xfrm>
            <a:off x="274320" y="3310128"/>
            <a:ext cx="457200" cy="475488"/>
          </a:xfrm>
          <a:prstGeom prst="rect">
            <a:avLst/>
          </a:prstGeom>
          <a:solidFill>
            <a:srgbClr val="16A34A"/>
          </a:solidFill>
          <a:ln/>
        </p:spPr>
      </p:sp>
      <p:sp>
        <p:nvSpPr>
          <p:cNvPr id="24" name="Text 22"/>
          <p:cNvSpPr/>
          <p:nvPr/>
        </p:nvSpPr>
        <p:spPr>
          <a:xfrm>
            <a:off x="274320" y="3310128"/>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5" name="Text 23"/>
          <p:cNvSpPr/>
          <p:nvPr/>
        </p:nvSpPr>
        <p:spPr>
          <a:xfrm>
            <a:off x="841248" y="3310128"/>
            <a:ext cx="3474720" cy="475488"/>
          </a:xfrm>
          <a:prstGeom prst="rect">
            <a:avLst/>
          </a:prstGeom>
          <a:noFill/>
          <a:ln/>
        </p:spPr>
        <p:txBody>
          <a:bodyPr wrap="square" lIns="0" tIns="0" rIns="0" bIns="0" rtlCol="0" anchor="ctr"/>
          <a:lstStyle/>
          <a:p>
            <a:pPr indent="0" marL="0">
              <a:buNone/>
            </a:pPr>
            <a:r>
              <a:rPr lang="en-US" sz="1000" dirty="0">
                <a:solidFill>
                  <a:srgbClr val="1E293B"/>
                </a:solidFill>
              </a:rPr>
              <a:t>Canonical tags</a:t>
            </a:r>
            <a:endParaRPr lang="en-US" sz="1000" dirty="0"/>
          </a:p>
        </p:txBody>
      </p:sp>
      <p:sp>
        <p:nvSpPr>
          <p:cNvPr id="26" name="Shape 24"/>
          <p:cNvSpPr/>
          <p:nvPr/>
        </p:nvSpPr>
        <p:spPr>
          <a:xfrm>
            <a:off x="274320" y="3872484"/>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7" name="Shape 25"/>
          <p:cNvSpPr/>
          <p:nvPr/>
        </p:nvSpPr>
        <p:spPr>
          <a:xfrm>
            <a:off x="274320" y="3872484"/>
            <a:ext cx="457200" cy="475488"/>
          </a:xfrm>
          <a:prstGeom prst="rect">
            <a:avLst/>
          </a:prstGeom>
          <a:solidFill>
            <a:srgbClr val="16A34A"/>
          </a:solidFill>
          <a:ln/>
        </p:spPr>
      </p:sp>
      <p:sp>
        <p:nvSpPr>
          <p:cNvPr id="28" name="Text 26"/>
          <p:cNvSpPr/>
          <p:nvPr/>
        </p:nvSpPr>
        <p:spPr>
          <a:xfrm>
            <a:off x="274320" y="3872484"/>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9" name="Text 27"/>
          <p:cNvSpPr/>
          <p:nvPr/>
        </p:nvSpPr>
        <p:spPr>
          <a:xfrm>
            <a:off x="841248" y="3872484"/>
            <a:ext cx="3474720" cy="475488"/>
          </a:xfrm>
          <a:prstGeom prst="rect">
            <a:avLst/>
          </a:prstGeom>
          <a:noFill/>
          <a:ln/>
        </p:spPr>
        <p:txBody>
          <a:bodyPr wrap="square" lIns="0" tIns="0" rIns="0" bIns="0" rtlCol="0" anchor="ctr"/>
          <a:lstStyle/>
          <a:p>
            <a:pPr indent="0" marL="0">
              <a:buNone/>
            </a:pPr>
            <a:r>
              <a:rPr lang="en-US" sz="1000" dirty="0">
                <a:solidFill>
                  <a:srgbClr val="1E293B"/>
                </a:solidFill>
              </a:rPr>
              <a:t>HTTP → HTTPS redirect</a:t>
            </a:r>
            <a:endParaRPr lang="en-US" sz="1000" dirty="0"/>
          </a:p>
        </p:txBody>
      </p:sp>
      <p:sp>
        <p:nvSpPr>
          <p:cNvPr id="30" name="Shape 28"/>
          <p:cNvSpPr/>
          <p:nvPr/>
        </p:nvSpPr>
        <p:spPr>
          <a:xfrm>
            <a:off x="274320" y="4434840"/>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1" name="Shape 29"/>
          <p:cNvSpPr/>
          <p:nvPr/>
        </p:nvSpPr>
        <p:spPr>
          <a:xfrm>
            <a:off x="274320" y="4434840"/>
            <a:ext cx="457200" cy="475488"/>
          </a:xfrm>
          <a:prstGeom prst="rect">
            <a:avLst/>
          </a:prstGeom>
          <a:solidFill>
            <a:srgbClr val="DC2626"/>
          </a:solidFill>
          <a:ln/>
        </p:spPr>
      </p:sp>
      <p:sp>
        <p:nvSpPr>
          <p:cNvPr id="32" name="Text 30"/>
          <p:cNvSpPr/>
          <p:nvPr/>
        </p:nvSpPr>
        <p:spPr>
          <a:xfrm>
            <a:off x="274320" y="4434840"/>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3" name="Text 31"/>
          <p:cNvSpPr/>
          <p:nvPr/>
        </p:nvSpPr>
        <p:spPr>
          <a:xfrm>
            <a:off x="841248" y="4434840"/>
            <a:ext cx="3474720" cy="475488"/>
          </a:xfrm>
          <a:prstGeom prst="rect">
            <a:avLst/>
          </a:prstGeom>
          <a:noFill/>
          <a:ln/>
        </p:spPr>
        <p:txBody>
          <a:bodyPr wrap="square" lIns="0" tIns="0" rIns="0" bIns="0" rtlCol="0" anchor="ctr"/>
          <a:lstStyle/>
          <a:p>
            <a:pPr indent="0" marL="0">
              <a:buNone/>
            </a:pPr>
            <a:r>
              <a:rPr lang="en-US" sz="1000" dirty="0">
                <a:solidFill>
                  <a:srgbClr val="1E293B"/>
                </a:solidFill>
              </a:rPr>
              <a:t>llms.txt</a:t>
            </a:r>
            <a:endParaRPr lang="en-US" sz="1000" dirty="0"/>
          </a:p>
        </p:txBody>
      </p:sp>
      <p:sp>
        <p:nvSpPr>
          <p:cNvPr id="34" name="Shape 32"/>
          <p:cNvSpPr/>
          <p:nvPr/>
        </p:nvSpPr>
        <p:spPr>
          <a:xfrm>
            <a:off x="4754880" y="1060704"/>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5" name="Shape 33"/>
          <p:cNvSpPr/>
          <p:nvPr/>
        </p:nvSpPr>
        <p:spPr>
          <a:xfrm>
            <a:off x="4754880" y="1060704"/>
            <a:ext cx="457200" cy="475488"/>
          </a:xfrm>
          <a:prstGeom prst="rect">
            <a:avLst/>
          </a:prstGeom>
          <a:solidFill>
            <a:srgbClr val="DC2626"/>
          </a:solidFill>
          <a:ln/>
        </p:spPr>
      </p:sp>
      <p:sp>
        <p:nvSpPr>
          <p:cNvPr id="36" name="Text 34"/>
          <p:cNvSpPr/>
          <p:nvPr/>
        </p:nvSpPr>
        <p:spPr>
          <a:xfrm>
            <a:off x="4754880" y="1060704"/>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7" name="Text 35"/>
          <p:cNvSpPr/>
          <p:nvPr/>
        </p:nvSpPr>
        <p:spPr>
          <a:xfrm>
            <a:off x="5321808" y="1060704"/>
            <a:ext cx="3474720" cy="475488"/>
          </a:xfrm>
          <a:prstGeom prst="rect">
            <a:avLst/>
          </a:prstGeom>
          <a:noFill/>
          <a:ln/>
        </p:spPr>
        <p:txBody>
          <a:bodyPr wrap="square" lIns="0" tIns="0" rIns="0" bIns="0" rtlCol="0" anchor="ctr"/>
          <a:lstStyle/>
          <a:p>
            <a:pPr indent="0" marL="0">
              <a:buNone/>
            </a:pPr>
            <a:r>
              <a:rPr lang="en-US" sz="1000" dirty="0">
                <a:solidFill>
                  <a:srgbClr val="1E293B"/>
                </a:solidFill>
              </a:rPr>
              <a:t>Meta descriptions</a:t>
            </a:r>
            <a:endParaRPr lang="en-US" sz="1000" dirty="0"/>
          </a:p>
        </p:txBody>
      </p:sp>
      <p:sp>
        <p:nvSpPr>
          <p:cNvPr id="38" name="Shape 36"/>
          <p:cNvSpPr/>
          <p:nvPr/>
        </p:nvSpPr>
        <p:spPr>
          <a:xfrm>
            <a:off x="4754880" y="1623060"/>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9" name="Shape 37"/>
          <p:cNvSpPr/>
          <p:nvPr/>
        </p:nvSpPr>
        <p:spPr>
          <a:xfrm>
            <a:off x="4754880" y="1623060"/>
            <a:ext cx="457200" cy="475488"/>
          </a:xfrm>
          <a:prstGeom prst="rect">
            <a:avLst/>
          </a:prstGeom>
          <a:solidFill>
            <a:srgbClr val="DC2626"/>
          </a:solidFill>
          <a:ln/>
        </p:spPr>
      </p:sp>
      <p:sp>
        <p:nvSpPr>
          <p:cNvPr id="40" name="Text 38"/>
          <p:cNvSpPr/>
          <p:nvPr/>
        </p:nvSpPr>
        <p:spPr>
          <a:xfrm>
            <a:off x="4754880" y="1623060"/>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41" name="Text 39"/>
          <p:cNvSpPr/>
          <p:nvPr/>
        </p:nvSpPr>
        <p:spPr>
          <a:xfrm>
            <a:off x="5321808" y="1623060"/>
            <a:ext cx="3474720" cy="475488"/>
          </a:xfrm>
          <a:prstGeom prst="rect">
            <a:avLst/>
          </a:prstGeom>
          <a:noFill/>
          <a:ln/>
        </p:spPr>
        <p:txBody>
          <a:bodyPr wrap="square" lIns="0" tIns="0" rIns="0" bIns="0" rtlCol="0" anchor="ctr"/>
          <a:lstStyle/>
          <a:p>
            <a:pPr indent="0" marL="0">
              <a:buNone/>
            </a:pPr>
            <a:r>
              <a:rPr lang="en-US" sz="1000" dirty="0">
                <a:solidFill>
                  <a:srgbClr val="1E293B"/>
                </a:solidFill>
              </a:rPr>
              <a:t>Open Graph tags</a:t>
            </a:r>
            <a:endParaRPr lang="en-US" sz="1000" dirty="0"/>
          </a:p>
        </p:txBody>
      </p:sp>
      <p:sp>
        <p:nvSpPr>
          <p:cNvPr id="42" name="Shape 40"/>
          <p:cNvSpPr/>
          <p:nvPr/>
        </p:nvSpPr>
        <p:spPr>
          <a:xfrm>
            <a:off x="4754880" y="2185416"/>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43" name="Shape 41"/>
          <p:cNvSpPr/>
          <p:nvPr/>
        </p:nvSpPr>
        <p:spPr>
          <a:xfrm>
            <a:off x="4754880" y="2185416"/>
            <a:ext cx="457200" cy="475488"/>
          </a:xfrm>
          <a:prstGeom prst="rect">
            <a:avLst/>
          </a:prstGeom>
          <a:solidFill>
            <a:srgbClr val="DC2626"/>
          </a:solidFill>
          <a:ln/>
        </p:spPr>
      </p:sp>
      <p:sp>
        <p:nvSpPr>
          <p:cNvPr id="44" name="Text 42"/>
          <p:cNvSpPr/>
          <p:nvPr/>
        </p:nvSpPr>
        <p:spPr>
          <a:xfrm>
            <a:off x="4754880" y="2185416"/>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45" name="Text 43"/>
          <p:cNvSpPr/>
          <p:nvPr/>
        </p:nvSpPr>
        <p:spPr>
          <a:xfrm>
            <a:off x="5321808" y="2185416"/>
            <a:ext cx="3474720" cy="475488"/>
          </a:xfrm>
          <a:prstGeom prst="rect">
            <a:avLst/>
          </a:prstGeom>
          <a:noFill/>
          <a:ln/>
        </p:spPr>
        <p:txBody>
          <a:bodyPr wrap="square" lIns="0" tIns="0" rIns="0" bIns="0" rtlCol="0" anchor="ctr"/>
          <a:lstStyle/>
          <a:p>
            <a:pPr indent="0" marL="0">
              <a:buNone/>
            </a:pPr>
            <a:r>
              <a:rPr lang="en-US" sz="1000" dirty="0">
                <a:solidFill>
                  <a:srgbClr val="1E293B"/>
                </a:solidFill>
              </a:rPr>
              <a:t>LocalBusiness schema</a:t>
            </a:r>
            <a:endParaRPr lang="en-US" sz="1000" dirty="0"/>
          </a:p>
        </p:txBody>
      </p:sp>
      <p:sp>
        <p:nvSpPr>
          <p:cNvPr id="46" name="Shape 44"/>
          <p:cNvSpPr/>
          <p:nvPr/>
        </p:nvSpPr>
        <p:spPr>
          <a:xfrm>
            <a:off x="4754880" y="2747772"/>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47" name="Shape 45"/>
          <p:cNvSpPr/>
          <p:nvPr/>
        </p:nvSpPr>
        <p:spPr>
          <a:xfrm>
            <a:off x="4754880" y="2747772"/>
            <a:ext cx="457200" cy="475488"/>
          </a:xfrm>
          <a:prstGeom prst="rect">
            <a:avLst/>
          </a:prstGeom>
          <a:solidFill>
            <a:srgbClr val="DC2626"/>
          </a:solidFill>
          <a:ln/>
        </p:spPr>
      </p:sp>
      <p:sp>
        <p:nvSpPr>
          <p:cNvPr id="48" name="Text 46"/>
          <p:cNvSpPr/>
          <p:nvPr/>
        </p:nvSpPr>
        <p:spPr>
          <a:xfrm>
            <a:off x="4754880" y="2747772"/>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49" name="Text 47"/>
          <p:cNvSpPr/>
          <p:nvPr/>
        </p:nvSpPr>
        <p:spPr>
          <a:xfrm>
            <a:off x="5321808" y="2747772"/>
            <a:ext cx="3474720" cy="475488"/>
          </a:xfrm>
          <a:prstGeom prst="rect">
            <a:avLst/>
          </a:prstGeom>
          <a:noFill/>
          <a:ln/>
        </p:spPr>
        <p:txBody>
          <a:bodyPr wrap="square" lIns="0" tIns="0" rIns="0" bIns="0" rtlCol="0" anchor="ctr"/>
          <a:lstStyle/>
          <a:p>
            <a:pPr indent="0" marL="0">
              <a:buNone/>
            </a:pPr>
            <a:r>
              <a:rPr lang="en-US" sz="1000" dirty="0">
                <a:solidFill>
                  <a:srgbClr val="1E293B"/>
                </a:solidFill>
              </a:rPr>
              <a:t>Page caching (TTFB &lt; 300ms)</a:t>
            </a:r>
            <a:endParaRPr lang="en-US" sz="1000" dirty="0"/>
          </a:p>
        </p:txBody>
      </p:sp>
      <p:sp>
        <p:nvSpPr>
          <p:cNvPr id="50" name="Shape 48"/>
          <p:cNvSpPr/>
          <p:nvPr/>
        </p:nvSpPr>
        <p:spPr>
          <a:xfrm>
            <a:off x="4754880" y="3310128"/>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1" name="Shape 49"/>
          <p:cNvSpPr/>
          <p:nvPr/>
        </p:nvSpPr>
        <p:spPr>
          <a:xfrm>
            <a:off x="4754880" y="3310128"/>
            <a:ext cx="457200" cy="475488"/>
          </a:xfrm>
          <a:prstGeom prst="rect">
            <a:avLst/>
          </a:prstGeom>
          <a:solidFill>
            <a:srgbClr val="DC2626"/>
          </a:solidFill>
          <a:ln/>
        </p:spPr>
      </p:sp>
      <p:sp>
        <p:nvSpPr>
          <p:cNvPr id="52" name="Text 50"/>
          <p:cNvSpPr/>
          <p:nvPr/>
        </p:nvSpPr>
        <p:spPr>
          <a:xfrm>
            <a:off x="4754880" y="3310128"/>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53" name="Text 51"/>
          <p:cNvSpPr/>
          <p:nvPr/>
        </p:nvSpPr>
        <p:spPr>
          <a:xfrm>
            <a:off x="5321808" y="3310128"/>
            <a:ext cx="3474720" cy="475488"/>
          </a:xfrm>
          <a:prstGeom prst="rect">
            <a:avLst/>
          </a:prstGeom>
          <a:noFill/>
          <a:ln/>
        </p:spPr>
        <p:txBody>
          <a:bodyPr wrap="square" lIns="0" tIns="0" rIns="0" bIns="0" rtlCol="0" anchor="ctr"/>
          <a:lstStyle/>
          <a:p>
            <a:pPr indent="0" marL="0">
              <a:buNone/>
            </a:pPr>
            <a:r>
              <a:rPr lang="en-US" sz="1000" dirty="0">
                <a:solidFill>
                  <a:srgbClr val="1E293B"/>
                </a:solidFill>
              </a:rPr>
              <a:t>Image optimisation (WebP)</a:t>
            </a:r>
            <a:endParaRPr lang="en-US" sz="1000" dirty="0"/>
          </a:p>
        </p:txBody>
      </p:sp>
      <p:sp>
        <p:nvSpPr>
          <p:cNvPr id="54" name="Shape 52"/>
          <p:cNvSpPr/>
          <p:nvPr/>
        </p:nvSpPr>
        <p:spPr>
          <a:xfrm>
            <a:off x="4754880" y="3872484"/>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5" name="Shape 53"/>
          <p:cNvSpPr/>
          <p:nvPr/>
        </p:nvSpPr>
        <p:spPr>
          <a:xfrm>
            <a:off x="4754880" y="3872484"/>
            <a:ext cx="457200" cy="475488"/>
          </a:xfrm>
          <a:prstGeom prst="rect">
            <a:avLst/>
          </a:prstGeom>
          <a:solidFill>
            <a:srgbClr val="DC2626"/>
          </a:solidFill>
          <a:ln/>
        </p:spPr>
      </p:sp>
      <p:sp>
        <p:nvSpPr>
          <p:cNvPr id="56" name="Text 54"/>
          <p:cNvSpPr/>
          <p:nvPr/>
        </p:nvSpPr>
        <p:spPr>
          <a:xfrm>
            <a:off x="4754880" y="3872484"/>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57" name="Text 55"/>
          <p:cNvSpPr/>
          <p:nvPr/>
        </p:nvSpPr>
        <p:spPr>
          <a:xfrm>
            <a:off x="5321808" y="3872484"/>
            <a:ext cx="3474720" cy="475488"/>
          </a:xfrm>
          <a:prstGeom prst="rect">
            <a:avLst/>
          </a:prstGeom>
          <a:noFill/>
          <a:ln/>
        </p:spPr>
        <p:txBody>
          <a:bodyPr wrap="square" lIns="0" tIns="0" rIns="0" bIns="0" rtlCol="0" anchor="ctr"/>
          <a:lstStyle/>
          <a:p>
            <a:pPr indent="0" marL="0">
              <a:buNone/>
            </a:pPr>
            <a:r>
              <a:rPr lang="en-US" sz="1000" dirty="0">
                <a:solidFill>
                  <a:srgbClr val="1E293B"/>
                </a:solidFill>
              </a:rPr>
              <a:t>Security headers (HSTS, X-Frame-Options)</a:t>
            </a:r>
            <a:endParaRPr lang="en-US" sz="1000" dirty="0"/>
          </a:p>
        </p:txBody>
      </p:sp>
      <p:sp>
        <p:nvSpPr>
          <p:cNvPr id="58" name="Shape 56"/>
          <p:cNvSpPr/>
          <p:nvPr/>
        </p:nvSpPr>
        <p:spPr>
          <a:xfrm>
            <a:off x="4754880" y="4434840"/>
            <a:ext cx="4114800" cy="475488"/>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9" name="Shape 57"/>
          <p:cNvSpPr/>
          <p:nvPr/>
        </p:nvSpPr>
        <p:spPr>
          <a:xfrm>
            <a:off x="4754880" y="4434840"/>
            <a:ext cx="457200" cy="475488"/>
          </a:xfrm>
          <a:prstGeom prst="rect">
            <a:avLst/>
          </a:prstGeom>
          <a:solidFill>
            <a:srgbClr val="DC2626"/>
          </a:solidFill>
          <a:ln/>
        </p:spPr>
      </p:sp>
      <p:sp>
        <p:nvSpPr>
          <p:cNvPr id="60" name="Text 58"/>
          <p:cNvSpPr/>
          <p:nvPr/>
        </p:nvSpPr>
        <p:spPr>
          <a:xfrm>
            <a:off x="4754880" y="4434840"/>
            <a:ext cx="457200" cy="47548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61" name="Text 59"/>
          <p:cNvSpPr/>
          <p:nvPr/>
        </p:nvSpPr>
        <p:spPr>
          <a:xfrm>
            <a:off x="5321808" y="4434840"/>
            <a:ext cx="3474720" cy="475488"/>
          </a:xfrm>
          <a:prstGeom prst="rect">
            <a:avLst/>
          </a:prstGeom>
          <a:noFill/>
          <a:ln/>
        </p:spPr>
        <p:txBody>
          <a:bodyPr wrap="square" lIns="0" tIns="0" rIns="0" bIns="0" rtlCol="0" anchor="ctr"/>
          <a:lstStyle/>
          <a:p>
            <a:pPr indent="0" marL="0">
              <a:buNone/>
            </a:pPr>
            <a:r>
              <a:rPr lang="en-US" sz="1000" dirty="0">
                <a:solidFill>
                  <a:srgbClr val="1E293B"/>
                </a:solidFill>
              </a:rPr>
              <a:t>user-scalable=no removed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86868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SCHEMA &amp; PLATFORM OPTIMIZATION</a:t>
            </a:r>
            <a:endParaRPr lang="en-US" sz="1300" dirty="0"/>
          </a:p>
        </p:txBody>
      </p:sp>
      <p:sp>
        <p:nvSpPr>
          <p:cNvPr id="4" name="Shape 2"/>
          <p:cNvSpPr/>
          <p:nvPr/>
        </p:nvSpPr>
        <p:spPr>
          <a:xfrm>
            <a:off x="320040" y="713232"/>
            <a:ext cx="8503920" cy="329184"/>
          </a:xfrm>
          <a:prstGeom prst="rect">
            <a:avLst/>
          </a:prstGeom>
          <a:solidFill>
            <a:srgbClr val="FEE2E2"/>
          </a:solidFill>
          <a:ln/>
        </p:spPr>
      </p:sp>
      <p:sp>
        <p:nvSpPr>
          <p:cNvPr id="5" name="Text 3"/>
          <p:cNvSpPr/>
          <p:nvPr/>
        </p:nvSpPr>
        <p:spPr>
          <a:xfrm>
            <a:off x="457200" y="713232"/>
            <a:ext cx="8229600" cy="329184"/>
          </a:xfrm>
          <a:prstGeom prst="rect">
            <a:avLst/>
          </a:prstGeom>
          <a:noFill/>
          <a:ln/>
        </p:spPr>
        <p:txBody>
          <a:bodyPr wrap="square" lIns="0" tIns="0" rIns="0" bIns="0" rtlCol="0" anchor="ctr"/>
          <a:lstStyle/>
          <a:p>
            <a:pPr indent="0" marL="0">
              <a:buNone/>
            </a:pPr>
            <a:r>
              <a:rPr lang="en-US" sz="1200" b="1" dirty="0">
                <a:solidFill>
                  <a:srgbClr val="DC2626"/>
                </a:solidFill>
              </a:rPr>
              <a:t>Schema &amp; Structured Data  —  4 / 100</a:t>
            </a:r>
            <a:endParaRPr lang="en-US" sz="1200" dirty="0"/>
          </a:p>
        </p:txBody>
      </p:sp>
      <p:sp>
        <p:nvSpPr>
          <p:cNvPr id="6" name="Text 4"/>
          <p:cNvSpPr/>
          <p:nvPr/>
        </p:nvSpPr>
        <p:spPr>
          <a:xfrm>
            <a:off x="411480" y="1088136"/>
            <a:ext cx="8321040" cy="502920"/>
          </a:xfrm>
          <a:prstGeom prst="rect">
            <a:avLst/>
          </a:prstGeom>
          <a:noFill/>
          <a:ln/>
        </p:spPr>
        <p:txBody>
          <a:bodyPr wrap="square" lIns="0" tIns="0" rIns="0" bIns="0" rtlCol="0" anchor="ctr"/>
          <a:lstStyle/>
          <a:p>
            <a:pPr indent="0" marL="0">
              <a:buNone/>
            </a:pPr>
            <a:r>
              <a:rPr lang="en-US" sz="1050" dirty="0">
                <a:solidFill>
                  <a:srgbClr val="475569"/>
                </a:solidFill>
              </a:rPr>
              <a:t>Zero structured data on all 11 pages. Yoast SEO is installed but not outputting schema — configuration fault. The 4-point score reflects the absence of active schema errors (a blank slate is marginally better than conflicting/invalid markup).</a:t>
            </a:r>
            <a:endParaRPr lang="en-US" sz="1050" dirty="0"/>
          </a:p>
        </p:txBody>
      </p:sp>
      <p:sp>
        <p:nvSpPr>
          <p:cNvPr id="7" name="Text 5"/>
          <p:cNvSpPr/>
          <p:nvPr/>
        </p:nvSpPr>
        <p:spPr>
          <a:xfrm>
            <a:off x="411480" y="1645920"/>
            <a:ext cx="8229600" cy="256032"/>
          </a:xfrm>
          <a:prstGeom prst="rect">
            <a:avLst/>
          </a:prstGeom>
          <a:noFill/>
          <a:ln/>
        </p:spPr>
        <p:txBody>
          <a:bodyPr wrap="square" lIns="0" tIns="0" rIns="0" bIns="0" rtlCol="0" anchor="ctr"/>
          <a:lstStyle/>
          <a:p>
            <a:pPr indent="0" marL="0">
              <a:buNone/>
            </a:pPr>
            <a:r>
              <a:rPr lang="en-US" sz="1100" b="1" dirty="0">
                <a:solidFill>
                  <a:srgbClr val="1E293B"/>
                </a:solidFill>
              </a:rPr>
              <a:t>Priority schema to implement:</a:t>
            </a:r>
            <a:endParaRPr lang="en-US" sz="1100" dirty="0"/>
          </a:p>
        </p:txBody>
      </p:sp>
      <p:sp>
        <p:nvSpPr>
          <p:cNvPr id="8" name="Shape 6"/>
          <p:cNvSpPr/>
          <p:nvPr/>
        </p:nvSpPr>
        <p:spPr>
          <a:xfrm>
            <a:off x="411480" y="1947672"/>
            <a:ext cx="201168" cy="201168"/>
          </a:xfrm>
          <a:prstGeom prst="rect">
            <a:avLst/>
          </a:prstGeom>
          <a:solidFill>
            <a:srgbClr val="0891B2"/>
          </a:solidFill>
          <a:ln/>
        </p:spPr>
      </p:sp>
      <p:sp>
        <p:nvSpPr>
          <p:cNvPr id="9" name="Text 7"/>
          <p:cNvSpPr/>
          <p:nvPr/>
        </p:nvSpPr>
        <p:spPr>
          <a:xfrm>
            <a:off x="411480" y="1947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0" name="Text 8"/>
          <p:cNvSpPr/>
          <p:nvPr/>
        </p:nvSpPr>
        <p:spPr>
          <a:xfrm>
            <a:off x="731520" y="1920240"/>
            <a:ext cx="7955280" cy="256032"/>
          </a:xfrm>
          <a:prstGeom prst="rect">
            <a:avLst/>
          </a:prstGeom>
          <a:noFill/>
          <a:ln/>
        </p:spPr>
        <p:txBody>
          <a:bodyPr wrap="square" lIns="0" tIns="0" rIns="0" bIns="0" rtlCol="0" anchor="ctr"/>
          <a:lstStyle/>
          <a:p>
            <a:pPr indent="0" marL="0">
              <a:buNone/>
            </a:pPr>
            <a:r>
              <a:rPr lang="en-US" sz="1050" dirty="0">
                <a:solidFill>
                  <a:srgbClr val="1E293B"/>
                </a:solidFill>
              </a:rPr>
              <a:t>LocalBusiness + ElectricalContractor (homepage) — highest ROI action</a:t>
            </a:r>
            <a:endParaRPr lang="en-US" sz="1050" dirty="0"/>
          </a:p>
        </p:txBody>
      </p:sp>
      <p:sp>
        <p:nvSpPr>
          <p:cNvPr id="11" name="Shape 9"/>
          <p:cNvSpPr/>
          <p:nvPr/>
        </p:nvSpPr>
        <p:spPr>
          <a:xfrm>
            <a:off x="411480" y="2221992"/>
            <a:ext cx="201168" cy="201168"/>
          </a:xfrm>
          <a:prstGeom prst="rect">
            <a:avLst/>
          </a:prstGeom>
          <a:solidFill>
            <a:srgbClr val="0891B2"/>
          </a:solidFill>
          <a:ln/>
        </p:spPr>
      </p:sp>
      <p:sp>
        <p:nvSpPr>
          <p:cNvPr id="12" name="Text 10"/>
          <p:cNvSpPr/>
          <p:nvPr/>
        </p:nvSpPr>
        <p:spPr>
          <a:xfrm>
            <a:off x="411480" y="222199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3" name="Text 11"/>
          <p:cNvSpPr/>
          <p:nvPr/>
        </p:nvSpPr>
        <p:spPr>
          <a:xfrm>
            <a:off x="731520" y="2194560"/>
            <a:ext cx="7955280" cy="256032"/>
          </a:xfrm>
          <a:prstGeom prst="rect">
            <a:avLst/>
          </a:prstGeom>
          <a:noFill/>
          <a:ln/>
        </p:spPr>
        <p:txBody>
          <a:bodyPr wrap="square" lIns="0" tIns="0" rIns="0" bIns="0" rtlCol="0" anchor="ctr"/>
          <a:lstStyle/>
          <a:p>
            <a:pPr indent="0" marL="0">
              <a:buNone/>
            </a:pPr>
            <a:r>
              <a:rPr lang="en-US" sz="1050" dirty="0">
                <a:solidFill>
                  <a:srgbClr val="1E293B"/>
                </a:solidFill>
              </a:rPr>
              <a:t>Organization with sameAs links (homepage)</a:t>
            </a:r>
            <a:endParaRPr lang="en-US" sz="1050" dirty="0"/>
          </a:p>
        </p:txBody>
      </p:sp>
      <p:sp>
        <p:nvSpPr>
          <p:cNvPr id="14" name="Shape 12"/>
          <p:cNvSpPr/>
          <p:nvPr/>
        </p:nvSpPr>
        <p:spPr>
          <a:xfrm>
            <a:off x="411480" y="2496312"/>
            <a:ext cx="201168" cy="201168"/>
          </a:xfrm>
          <a:prstGeom prst="rect">
            <a:avLst/>
          </a:prstGeom>
          <a:solidFill>
            <a:srgbClr val="0891B2"/>
          </a:solidFill>
          <a:ln/>
        </p:spPr>
      </p:sp>
      <p:sp>
        <p:nvSpPr>
          <p:cNvPr id="15" name="Text 13"/>
          <p:cNvSpPr/>
          <p:nvPr/>
        </p:nvSpPr>
        <p:spPr>
          <a:xfrm>
            <a:off x="411480" y="24963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6" name="Text 14"/>
          <p:cNvSpPr/>
          <p:nvPr/>
        </p:nvSpPr>
        <p:spPr>
          <a:xfrm>
            <a:off x="731520" y="2468880"/>
            <a:ext cx="7955280" cy="256032"/>
          </a:xfrm>
          <a:prstGeom prst="rect">
            <a:avLst/>
          </a:prstGeom>
          <a:noFill/>
          <a:ln/>
        </p:spPr>
        <p:txBody>
          <a:bodyPr wrap="square" lIns="0" tIns="0" rIns="0" bIns="0" rtlCol="0" anchor="ctr"/>
          <a:lstStyle/>
          <a:p>
            <a:pPr indent="0" marL="0">
              <a:buNone/>
            </a:pPr>
            <a:r>
              <a:rPr lang="en-US" sz="1050" dirty="0">
                <a:solidFill>
                  <a:srgbClr val="1E293B"/>
                </a:solidFill>
              </a:rPr>
              <a:t>Service schema on each of the 8 service pages</a:t>
            </a:r>
            <a:endParaRPr lang="en-US" sz="1050" dirty="0"/>
          </a:p>
        </p:txBody>
      </p:sp>
      <p:sp>
        <p:nvSpPr>
          <p:cNvPr id="17" name="Shape 15"/>
          <p:cNvSpPr/>
          <p:nvPr/>
        </p:nvSpPr>
        <p:spPr>
          <a:xfrm>
            <a:off x="411480" y="2770632"/>
            <a:ext cx="201168" cy="201168"/>
          </a:xfrm>
          <a:prstGeom prst="rect">
            <a:avLst/>
          </a:prstGeom>
          <a:solidFill>
            <a:srgbClr val="0891B2"/>
          </a:solidFill>
          <a:ln/>
        </p:spPr>
      </p:sp>
      <p:sp>
        <p:nvSpPr>
          <p:cNvPr id="18" name="Text 16"/>
          <p:cNvSpPr/>
          <p:nvPr/>
        </p:nvSpPr>
        <p:spPr>
          <a:xfrm>
            <a:off x="411480" y="277063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19" name="Text 17"/>
          <p:cNvSpPr/>
          <p:nvPr/>
        </p:nvSpPr>
        <p:spPr>
          <a:xfrm>
            <a:off x="731520" y="2743200"/>
            <a:ext cx="7955280" cy="256032"/>
          </a:xfrm>
          <a:prstGeom prst="rect">
            <a:avLst/>
          </a:prstGeom>
          <a:noFill/>
          <a:ln/>
        </p:spPr>
        <p:txBody>
          <a:bodyPr wrap="square" lIns="0" tIns="0" rIns="0" bIns="0" rtlCol="0" anchor="ctr"/>
          <a:lstStyle/>
          <a:p>
            <a:pPr indent="0" marL="0">
              <a:buNone/>
            </a:pPr>
            <a:r>
              <a:rPr lang="en-US" sz="1050" dirty="0">
                <a:solidFill>
                  <a:srgbClr val="1E293B"/>
                </a:solidFill>
              </a:rPr>
              <a:t>FAQPage schema once FAQ content is written</a:t>
            </a:r>
            <a:endParaRPr lang="en-US" sz="1050" dirty="0"/>
          </a:p>
        </p:txBody>
      </p:sp>
      <p:sp>
        <p:nvSpPr>
          <p:cNvPr id="20" name="Shape 18"/>
          <p:cNvSpPr/>
          <p:nvPr/>
        </p:nvSpPr>
        <p:spPr>
          <a:xfrm>
            <a:off x="411480" y="3044952"/>
            <a:ext cx="201168" cy="201168"/>
          </a:xfrm>
          <a:prstGeom prst="rect">
            <a:avLst/>
          </a:prstGeom>
          <a:solidFill>
            <a:srgbClr val="0891B2"/>
          </a:solidFill>
          <a:ln/>
        </p:spPr>
      </p:sp>
      <p:sp>
        <p:nvSpPr>
          <p:cNvPr id="21" name="Text 19"/>
          <p:cNvSpPr/>
          <p:nvPr/>
        </p:nvSpPr>
        <p:spPr>
          <a:xfrm>
            <a:off x="411480" y="304495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2" name="Text 20"/>
          <p:cNvSpPr/>
          <p:nvPr/>
        </p:nvSpPr>
        <p:spPr>
          <a:xfrm>
            <a:off x="731520" y="3017520"/>
            <a:ext cx="7955280" cy="256032"/>
          </a:xfrm>
          <a:prstGeom prst="rect">
            <a:avLst/>
          </a:prstGeom>
          <a:noFill/>
          <a:ln/>
        </p:spPr>
        <p:txBody>
          <a:bodyPr wrap="square" lIns="0" tIns="0" rIns="0" bIns="0" rtlCol="0" anchor="ctr"/>
          <a:lstStyle/>
          <a:p>
            <a:pPr indent="0" marL="0">
              <a:buNone/>
            </a:pPr>
            <a:r>
              <a:rPr lang="en-US" sz="1050" dirty="0">
                <a:solidFill>
                  <a:srgbClr val="1E293B"/>
                </a:solidFill>
              </a:rPr>
              <a:t>AggregateRating schema once Google reviews are being surfaced</a:t>
            </a:r>
            <a:endParaRPr lang="en-US" sz="1050" dirty="0"/>
          </a:p>
        </p:txBody>
      </p:sp>
      <p:sp>
        <p:nvSpPr>
          <p:cNvPr id="23" name="Shape 21"/>
          <p:cNvSpPr/>
          <p:nvPr/>
        </p:nvSpPr>
        <p:spPr>
          <a:xfrm>
            <a:off x="320040" y="3364992"/>
            <a:ext cx="8503920" cy="54864"/>
          </a:xfrm>
          <a:prstGeom prst="rect">
            <a:avLst/>
          </a:prstGeom>
          <a:solidFill>
            <a:srgbClr val="E2E8F0"/>
          </a:solidFill>
          <a:ln/>
        </p:spPr>
      </p:sp>
      <p:sp>
        <p:nvSpPr>
          <p:cNvPr id="24" name="Shape 22"/>
          <p:cNvSpPr/>
          <p:nvPr/>
        </p:nvSpPr>
        <p:spPr>
          <a:xfrm>
            <a:off x="320040" y="3493008"/>
            <a:ext cx="8503920" cy="329184"/>
          </a:xfrm>
          <a:prstGeom prst="rect">
            <a:avLst/>
          </a:prstGeom>
          <a:solidFill>
            <a:srgbClr val="FEE2E2"/>
          </a:solidFill>
          <a:ln/>
        </p:spPr>
      </p:sp>
      <p:sp>
        <p:nvSpPr>
          <p:cNvPr id="25" name="Text 23"/>
          <p:cNvSpPr/>
          <p:nvPr/>
        </p:nvSpPr>
        <p:spPr>
          <a:xfrm>
            <a:off x="457200" y="3493008"/>
            <a:ext cx="8229600" cy="329184"/>
          </a:xfrm>
          <a:prstGeom prst="rect">
            <a:avLst/>
          </a:prstGeom>
          <a:noFill/>
          <a:ln/>
        </p:spPr>
        <p:txBody>
          <a:bodyPr wrap="square" lIns="0" tIns="0" rIns="0" bIns="0" rtlCol="0" anchor="ctr"/>
          <a:lstStyle/>
          <a:p>
            <a:pPr indent="0" marL="0">
              <a:buNone/>
            </a:pPr>
            <a:r>
              <a:rPr lang="en-US" sz="1200" b="1" dirty="0">
                <a:solidFill>
                  <a:srgbClr val="DC2626"/>
                </a:solidFill>
              </a:rPr>
              <a:t>Platform Optimization  —  8 / 100</a:t>
            </a:r>
            <a:endParaRPr lang="en-US" sz="1200" dirty="0"/>
          </a:p>
        </p:txBody>
      </p:sp>
      <p:sp>
        <p:nvSpPr>
          <p:cNvPr id="26" name="Text 24"/>
          <p:cNvSpPr/>
          <p:nvPr/>
        </p:nvSpPr>
        <p:spPr>
          <a:xfrm>
            <a:off x="411480" y="3877056"/>
            <a:ext cx="8321040" cy="731520"/>
          </a:xfrm>
          <a:prstGeom prst="rect">
            <a:avLst/>
          </a:prstGeom>
          <a:noFill/>
          <a:ln/>
        </p:spPr>
        <p:txBody>
          <a:bodyPr wrap="square" lIns="0" tIns="0" rIns="0" bIns="0" rtlCol="0" anchor="ctr"/>
          <a:lstStyle/>
          <a:p>
            <a:pPr indent="0" marL="0">
              <a:buNone/>
            </a:pPr>
            <a:r>
              <a:rPr lang="en-US" sz="1050" dirty="0">
                <a:solidFill>
                  <a:srgbClr val="475569"/>
                </a:solidFill>
              </a:rPr>
              <a:t>Absent from every platform AI models actively train on and cite. YouTube (highest correlation to AI citation at ~0.737) has zero presence. Reddit has zero mentions. Wikipedia/Wikidata has no entity record. LinkedIn company page does not exist. Trade directory presence (ServiceSeeking, Yellow Pages, Localsearch) scores well within that sub-category but carries low weight in AI citation decisions.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891B2"/>
          </a:solidFill>
          <a:ln/>
        </p:spPr>
      </p:sp>
      <p:sp>
        <p:nvSpPr>
          <p:cNvPr id="3" name="Shape 1"/>
          <p:cNvSpPr/>
          <p:nvPr/>
        </p:nvSpPr>
        <p:spPr>
          <a:xfrm>
            <a:off x="0" y="5079492"/>
            <a:ext cx="9144000" cy="64008"/>
          </a:xfrm>
          <a:prstGeom prst="rect">
            <a:avLst/>
          </a:prstGeom>
          <a:solidFill>
            <a:srgbClr val="0891B2"/>
          </a:solidFill>
          <a:ln/>
        </p:spPr>
      </p:sp>
      <p:sp>
        <p:nvSpPr>
          <p:cNvPr id="4" name="Text 2"/>
          <p:cNvSpPr/>
          <p:nvPr/>
        </p:nvSpPr>
        <p:spPr>
          <a:xfrm>
            <a:off x="457200" y="164592"/>
            <a:ext cx="8229600" cy="438912"/>
          </a:xfrm>
          <a:prstGeom prst="rect">
            <a:avLst/>
          </a:prstGeom>
          <a:noFill/>
          <a:ln/>
        </p:spPr>
        <p:txBody>
          <a:bodyPr wrap="square" lIns="0" tIns="0" rIns="0" bIns="0" rtlCol="0" anchor="ctr"/>
          <a:lstStyle/>
          <a:p>
            <a:pPr indent="0" marL="0">
              <a:buNone/>
            </a:pPr>
            <a:r>
              <a:rPr lang="en-US" sz="2200" b="1" spc="300" kern="0" dirty="0">
                <a:solidFill>
                  <a:srgbClr val="FFFFFF"/>
                </a:solidFill>
              </a:rPr>
              <a:t>QUICK WINS</a:t>
            </a:r>
            <a:endParaRPr lang="en-US" sz="2200" dirty="0"/>
          </a:p>
        </p:txBody>
      </p:sp>
      <p:sp>
        <p:nvSpPr>
          <p:cNvPr id="5" name="Text 3"/>
          <p:cNvSpPr/>
          <p:nvPr/>
        </p:nvSpPr>
        <p:spPr>
          <a:xfrm>
            <a:off x="457200" y="612648"/>
            <a:ext cx="8229600" cy="292608"/>
          </a:xfrm>
          <a:prstGeom prst="rect">
            <a:avLst/>
          </a:prstGeom>
          <a:noFill/>
          <a:ln/>
        </p:spPr>
        <p:txBody>
          <a:bodyPr wrap="square" lIns="0" tIns="0" rIns="0" bIns="0" rtlCol="0" anchor="ctr"/>
          <a:lstStyle/>
          <a:p>
            <a:pPr indent="0" marL="0">
              <a:buNone/>
            </a:pPr>
            <a:r>
              <a:rPr lang="en-US" sz="1300" dirty="0">
                <a:solidFill>
                  <a:srgbClr val="0891B2"/>
                </a:solidFill>
              </a:rPr>
              <a:t>Implement This Week</a:t>
            </a:r>
            <a:endParaRPr lang="en-US" sz="1300" dirty="0"/>
          </a:p>
        </p:txBody>
      </p:sp>
      <p:sp>
        <p:nvSpPr>
          <p:cNvPr id="6" name="Shape 4"/>
          <p:cNvSpPr/>
          <p:nvPr/>
        </p:nvSpPr>
        <p:spPr>
          <a:xfrm>
            <a:off x="320040" y="978408"/>
            <a:ext cx="4160520" cy="868680"/>
          </a:xfrm>
          <a:prstGeom prst="rect">
            <a:avLst/>
          </a:prstGeom>
          <a:solidFill>
            <a:srgbClr val="1A2D5A"/>
          </a:solidFill>
          <a:ln/>
        </p:spPr>
      </p:sp>
      <p:sp>
        <p:nvSpPr>
          <p:cNvPr id="7" name="Shape 5"/>
          <p:cNvSpPr/>
          <p:nvPr/>
        </p:nvSpPr>
        <p:spPr>
          <a:xfrm>
            <a:off x="429768" y="1179576"/>
            <a:ext cx="402336" cy="402336"/>
          </a:xfrm>
          <a:prstGeom prst="ellipse">
            <a:avLst/>
          </a:prstGeom>
          <a:solidFill>
            <a:srgbClr val="0891B2"/>
          </a:solidFill>
          <a:ln/>
        </p:spPr>
      </p:sp>
      <p:sp>
        <p:nvSpPr>
          <p:cNvPr id="8" name="Text 6"/>
          <p:cNvSpPr/>
          <p:nvPr/>
        </p:nvSpPr>
        <p:spPr>
          <a:xfrm>
            <a:off x="429768" y="11795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Text 7"/>
          <p:cNvSpPr/>
          <p:nvPr/>
        </p:nvSpPr>
        <p:spPr>
          <a:xfrm>
            <a:off x="969264" y="104241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Create /llms.txt</a:t>
            </a:r>
            <a:endParaRPr lang="en-US" sz="1100" dirty="0"/>
          </a:p>
        </p:txBody>
      </p:sp>
      <p:sp>
        <p:nvSpPr>
          <p:cNvPr id="10" name="Text 8"/>
          <p:cNvSpPr/>
          <p:nvPr/>
        </p:nvSpPr>
        <p:spPr>
          <a:xfrm>
            <a:off x="969264" y="1380744"/>
            <a:ext cx="3401568" cy="402336"/>
          </a:xfrm>
          <a:prstGeom prst="rect">
            <a:avLst/>
          </a:prstGeom>
          <a:noFill/>
          <a:ln/>
        </p:spPr>
        <p:txBody>
          <a:bodyPr wrap="square" lIns="0" tIns="0" rIns="0" bIns="0" rtlCol="0" anchor="ctr"/>
          <a:lstStyle/>
          <a:p>
            <a:pPr indent="0" marL="0">
              <a:buNone/>
            </a:pPr>
            <a:r>
              <a:rPr lang="en-US" sz="900" dirty="0">
                <a:solidFill>
                  <a:srgbClr val="94A3B8"/>
                </a:solidFill>
              </a:rPr>
              <a:t>Zero cost — immediate AI discoverability improvement across all major AI crawlers</a:t>
            </a:r>
            <a:endParaRPr lang="en-US" sz="900" dirty="0"/>
          </a:p>
        </p:txBody>
      </p:sp>
      <p:sp>
        <p:nvSpPr>
          <p:cNvPr id="11" name="Shape 9"/>
          <p:cNvSpPr/>
          <p:nvPr/>
        </p:nvSpPr>
        <p:spPr>
          <a:xfrm>
            <a:off x="320040" y="1984248"/>
            <a:ext cx="4160520" cy="868680"/>
          </a:xfrm>
          <a:prstGeom prst="rect">
            <a:avLst/>
          </a:prstGeom>
          <a:solidFill>
            <a:srgbClr val="1A2D5A"/>
          </a:solidFill>
          <a:ln/>
        </p:spPr>
      </p:sp>
      <p:sp>
        <p:nvSpPr>
          <p:cNvPr id="12" name="Shape 10"/>
          <p:cNvSpPr/>
          <p:nvPr/>
        </p:nvSpPr>
        <p:spPr>
          <a:xfrm>
            <a:off x="429768" y="2185416"/>
            <a:ext cx="402336" cy="402336"/>
          </a:xfrm>
          <a:prstGeom prst="ellipse">
            <a:avLst/>
          </a:prstGeom>
          <a:solidFill>
            <a:srgbClr val="0891B2"/>
          </a:solidFill>
          <a:ln/>
        </p:spPr>
      </p:sp>
      <p:sp>
        <p:nvSpPr>
          <p:cNvPr id="13" name="Text 11"/>
          <p:cNvSpPr/>
          <p:nvPr/>
        </p:nvSpPr>
        <p:spPr>
          <a:xfrm>
            <a:off x="429768" y="218541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2"/>
          <p:cNvSpPr/>
          <p:nvPr/>
        </p:nvSpPr>
        <p:spPr>
          <a:xfrm>
            <a:off x="969264" y="204825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Fix Yoast SEO schema output</a:t>
            </a:r>
            <a:endParaRPr lang="en-US" sz="1100" dirty="0"/>
          </a:p>
        </p:txBody>
      </p:sp>
      <p:sp>
        <p:nvSpPr>
          <p:cNvPr id="15" name="Text 13"/>
          <p:cNvSpPr/>
          <p:nvPr/>
        </p:nvSpPr>
        <p:spPr>
          <a:xfrm>
            <a:off x="969264" y="2386584"/>
            <a:ext cx="3401568" cy="402336"/>
          </a:xfrm>
          <a:prstGeom prst="rect">
            <a:avLst/>
          </a:prstGeom>
          <a:noFill/>
          <a:ln/>
        </p:spPr>
        <p:txBody>
          <a:bodyPr wrap="square" lIns="0" tIns="0" rIns="0" bIns="0" rtlCol="0" anchor="ctr"/>
          <a:lstStyle/>
          <a:p>
            <a:pPr indent="0" marL="0">
              <a:buNone/>
            </a:pPr>
            <a:r>
              <a:rPr lang="en-US" sz="900" dirty="0">
                <a:solidFill>
                  <a:srgbClr val="94A3B8"/>
                </a:solidFill>
              </a:rPr>
              <a:t>Diagnose why it's disabled, restore Organisation + WebPage schema generation</a:t>
            </a:r>
            <a:endParaRPr lang="en-US" sz="900" dirty="0"/>
          </a:p>
        </p:txBody>
      </p:sp>
      <p:sp>
        <p:nvSpPr>
          <p:cNvPr id="16" name="Shape 14"/>
          <p:cNvSpPr/>
          <p:nvPr/>
        </p:nvSpPr>
        <p:spPr>
          <a:xfrm>
            <a:off x="320040" y="2990088"/>
            <a:ext cx="4160520" cy="868680"/>
          </a:xfrm>
          <a:prstGeom prst="rect">
            <a:avLst/>
          </a:prstGeom>
          <a:solidFill>
            <a:srgbClr val="1A2D5A"/>
          </a:solidFill>
          <a:ln/>
        </p:spPr>
      </p:sp>
      <p:sp>
        <p:nvSpPr>
          <p:cNvPr id="17" name="Shape 15"/>
          <p:cNvSpPr/>
          <p:nvPr/>
        </p:nvSpPr>
        <p:spPr>
          <a:xfrm>
            <a:off x="429768" y="3191256"/>
            <a:ext cx="402336" cy="402336"/>
          </a:xfrm>
          <a:prstGeom prst="ellipse">
            <a:avLst/>
          </a:prstGeom>
          <a:solidFill>
            <a:srgbClr val="0891B2"/>
          </a:solidFill>
          <a:ln/>
        </p:spPr>
      </p:sp>
      <p:sp>
        <p:nvSpPr>
          <p:cNvPr id="18" name="Text 16"/>
          <p:cNvSpPr/>
          <p:nvPr/>
        </p:nvSpPr>
        <p:spPr>
          <a:xfrm>
            <a:off x="429768" y="31912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Text 17"/>
          <p:cNvSpPr/>
          <p:nvPr/>
        </p:nvSpPr>
        <p:spPr>
          <a:xfrm>
            <a:off x="969264" y="305409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Add LocalBusiness JSON-LD to homepage</a:t>
            </a:r>
            <a:endParaRPr lang="en-US" sz="1100" dirty="0"/>
          </a:p>
        </p:txBody>
      </p:sp>
      <p:sp>
        <p:nvSpPr>
          <p:cNvPr id="20" name="Text 18"/>
          <p:cNvSpPr/>
          <p:nvPr/>
        </p:nvSpPr>
        <p:spPr>
          <a:xfrm>
            <a:off x="969264" y="3392424"/>
            <a:ext cx="3401568" cy="402336"/>
          </a:xfrm>
          <a:prstGeom prst="rect">
            <a:avLst/>
          </a:prstGeom>
          <a:noFill/>
          <a:ln/>
        </p:spPr>
        <p:txBody>
          <a:bodyPr wrap="square" lIns="0" tIns="0" rIns="0" bIns="0" rtlCol="0" anchor="ctr"/>
          <a:lstStyle/>
          <a:p>
            <a:pPr indent="0" marL="0">
              <a:buNone/>
            </a:pPr>
            <a:r>
              <a:rPr lang="en-US" sz="900" dirty="0">
                <a:solidFill>
                  <a:srgbClr val="94A3B8"/>
                </a:solidFill>
              </a:rPr>
              <a:t>Paste the JSON-LD block — highest ROI single technical action</a:t>
            </a:r>
            <a:endParaRPr lang="en-US" sz="900" dirty="0"/>
          </a:p>
        </p:txBody>
      </p:sp>
      <p:sp>
        <p:nvSpPr>
          <p:cNvPr id="21" name="Shape 19"/>
          <p:cNvSpPr/>
          <p:nvPr/>
        </p:nvSpPr>
        <p:spPr>
          <a:xfrm>
            <a:off x="320040" y="3995928"/>
            <a:ext cx="4160520" cy="868680"/>
          </a:xfrm>
          <a:prstGeom prst="rect">
            <a:avLst/>
          </a:prstGeom>
          <a:solidFill>
            <a:srgbClr val="1A2D5A"/>
          </a:solidFill>
          <a:ln/>
        </p:spPr>
      </p:sp>
      <p:sp>
        <p:nvSpPr>
          <p:cNvPr id="22" name="Shape 20"/>
          <p:cNvSpPr/>
          <p:nvPr/>
        </p:nvSpPr>
        <p:spPr>
          <a:xfrm>
            <a:off x="429768" y="4197096"/>
            <a:ext cx="402336" cy="402336"/>
          </a:xfrm>
          <a:prstGeom prst="ellipse">
            <a:avLst/>
          </a:prstGeom>
          <a:solidFill>
            <a:srgbClr val="0891B2"/>
          </a:solidFill>
          <a:ln/>
        </p:spPr>
      </p:sp>
      <p:sp>
        <p:nvSpPr>
          <p:cNvPr id="23" name="Text 21"/>
          <p:cNvSpPr/>
          <p:nvPr/>
        </p:nvSpPr>
        <p:spPr>
          <a:xfrm>
            <a:off x="429768" y="419709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4" name="Text 22"/>
          <p:cNvSpPr/>
          <p:nvPr/>
        </p:nvSpPr>
        <p:spPr>
          <a:xfrm>
            <a:off x="969264" y="405993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Remove 'Employee Name' placeholders</a:t>
            </a:r>
            <a:endParaRPr lang="en-US" sz="1100" dirty="0"/>
          </a:p>
        </p:txBody>
      </p:sp>
      <p:sp>
        <p:nvSpPr>
          <p:cNvPr id="25" name="Text 23"/>
          <p:cNvSpPr/>
          <p:nvPr/>
        </p:nvSpPr>
        <p:spPr>
          <a:xfrm>
            <a:off x="969264" y="4398264"/>
            <a:ext cx="3401568" cy="402336"/>
          </a:xfrm>
          <a:prstGeom prst="rect">
            <a:avLst/>
          </a:prstGeom>
          <a:noFill/>
          <a:ln/>
        </p:spPr>
        <p:txBody>
          <a:bodyPr wrap="square" lIns="0" tIns="0" rIns="0" bIns="0" rtlCol="0" anchor="ctr"/>
          <a:lstStyle/>
          <a:p>
            <a:pPr indent="0" marL="0">
              <a:buNone/>
            </a:pPr>
            <a:r>
              <a:rPr lang="en-US" sz="900" dirty="0">
                <a:solidFill>
                  <a:srgbClr val="94A3B8"/>
                </a:solidFill>
              </a:rPr>
              <a:t>Replace or remove from About page — eliminates biggest trust-signal failure</a:t>
            </a:r>
            <a:endParaRPr lang="en-US" sz="900" dirty="0"/>
          </a:p>
        </p:txBody>
      </p:sp>
      <p:sp>
        <p:nvSpPr>
          <p:cNvPr id="26" name="Shape 24"/>
          <p:cNvSpPr/>
          <p:nvPr/>
        </p:nvSpPr>
        <p:spPr>
          <a:xfrm>
            <a:off x="4663440" y="978408"/>
            <a:ext cx="4160520" cy="868680"/>
          </a:xfrm>
          <a:prstGeom prst="rect">
            <a:avLst/>
          </a:prstGeom>
          <a:solidFill>
            <a:srgbClr val="1A2D5A"/>
          </a:solidFill>
          <a:ln/>
        </p:spPr>
      </p:sp>
      <p:sp>
        <p:nvSpPr>
          <p:cNvPr id="27" name="Shape 25"/>
          <p:cNvSpPr/>
          <p:nvPr/>
        </p:nvSpPr>
        <p:spPr>
          <a:xfrm>
            <a:off x="4773168" y="1179576"/>
            <a:ext cx="402336" cy="402336"/>
          </a:xfrm>
          <a:prstGeom prst="ellipse">
            <a:avLst/>
          </a:prstGeom>
          <a:solidFill>
            <a:srgbClr val="0891B2"/>
          </a:solidFill>
          <a:ln/>
        </p:spPr>
      </p:sp>
      <p:sp>
        <p:nvSpPr>
          <p:cNvPr id="28" name="Text 26"/>
          <p:cNvSpPr/>
          <p:nvPr/>
        </p:nvSpPr>
        <p:spPr>
          <a:xfrm>
            <a:off x="4773168" y="11795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9" name="Text 27"/>
          <p:cNvSpPr/>
          <p:nvPr/>
        </p:nvSpPr>
        <p:spPr>
          <a:xfrm>
            <a:off x="5312664" y="104241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Add meta descriptions to all pages</a:t>
            </a:r>
            <a:endParaRPr lang="en-US" sz="1100" dirty="0"/>
          </a:p>
        </p:txBody>
      </p:sp>
      <p:sp>
        <p:nvSpPr>
          <p:cNvPr id="30" name="Text 28"/>
          <p:cNvSpPr/>
          <p:nvPr/>
        </p:nvSpPr>
        <p:spPr>
          <a:xfrm>
            <a:off x="5312664" y="1380744"/>
            <a:ext cx="3401568" cy="402336"/>
          </a:xfrm>
          <a:prstGeom prst="rect">
            <a:avLst/>
          </a:prstGeom>
          <a:noFill/>
          <a:ln/>
        </p:spPr>
        <p:txBody>
          <a:bodyPr wrap="square" lIns="0" tIns="0" rIns="0" bIns="0" rtlCol="0" anchor="ctr"/>
          <a:lstStyle/>
          <a:p>
            <a:pPr indent="0" marL="0">
              <a:buNone/>
            </a:pPr>
            <a:r>
              <a:rPr lang="en-US" sz="900" dirty="0">
                <a:solidFill>
                  <a:srgbClr val="94A3B8"/>
                </a:solidFill>
              </a:rPr>
              <a:t>One afternoon of copy via Yoast — immediate signal for all crawlers</a:t>
            </a:r>
            <a:endParaRPr lang="en-US" sz="900" dirty="0"/>
          </a:p>
        </p:txBody>
      </p:sp>
      <p:sp>
        <p:nvSpPr>
          <p:cNvPr id="31" name="Shape 29"/>
          <p:cNvSpPr/>
          <p:nvPr/>
        </p:nvSpPr>
        <p:spPr>
          <a:xfrm>
            <a:off x="4663440" y="1984248"/>
            <a:ext cx="4160520" cy="868680"/>
          </a:xfrm>
          <a:prstGeom prst="rect">
            <a:avLst/>
          </a:prstGeom>
          <a:solidFill>
            <a:srgbClr val="1A2D5A"/>
          </a:solidFill>
          <a:ln/>
        </p:spPr>
      </p:sp>
      <p:sp>
        <p:nvSpPr>
          <p:cNvPr id="32" name="Shape 30"/>
          <p:cNvSpPr/>
          <p:nvPr/>
        </p:nvSpPr>
        <p:spPr>
          <a:xfrm>
            <a:off x="4773168" y="2185416"/>
            <a:ext cx="402336" cy="402336"/>
          </a:xfrm>
          <a:prstGeom prst="ellipse">
            <a:avLst/>
          </a:prstGeom>
          <a:solidFill>
            <a:srgbClr val="0891B2"/>
          </a:solidFill>
          <a:ln/>
        </p:spPr>
      </p:sp>
      <p:sp>
        <p:nvSpPr>
          <p:cNvPr id="33" name="Text 31"/>
          <p:cNvSpPr/>
          <p:nvPr/>
        </p:nvSpPr>
        <p:spPr>
          <a:xfrm>
            <a:off x="4773168" y="218541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4" name="Text 32"/>
          <p:cNvSpPr/>
          <p:nvPr/>
        </p:nvSpPr>
        <p:spPr>
          <a:xfrm>
            <a:off x="5312664" y="204825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Add NSW Contractor Licence to footer</a:t>
            </a:r>
            <a:endParaRPr lang="en-US" sz="1100" dirty="0"/>
          </a:p>
        </p:txBody>
      </p:sp>
      <p:sp>
        <p:nvSpPr>
          <p:cNvPr id="35" name="Text 33"/>
          <p:cNvSpPr/>
          <p:nvPr/>
        </p:nvSpPr>
        <p:spPr>
          <a:xfrm>
            <a:off x="5312664" y="2386584"/>
            <a:ext cx="3401568" cy="402336"/>
          </a:xfrm>
          <a:prstGeom prst="rect">
            <a:avLst/>
          </a:prstGeom>
          <a:noFill/>
          <a:ln/>
        </p:spPr>
        <p:txBody>
          <a:bodyPr wrap="square" lIns="0" tIns="0" rIns="0" bIns="0" rtlCol="0" anchor="ctr"/>
          <a:lstStyle/>
          <a:p>
            <a:pPr indent="0" marL="0">
              <a:buNone/>
            </a:pPr>
            <a:r>
              <a:rPr lang="en-US" sz="900" dirty="0">
                <a:solidFill>
                  <a:srgbClr val="94A3B8"/>
                </a:solidFill>
              </a:rPr>
              <a:t>Single line edit — immediate regulatory trust signal</a:t>
            </a:r>
            <a:endParaRPr lang="en-US" sz="900" dirty="0"/>
          </a:p>
        </p:txBody>
      </p:sp>
      <p:sp>
        <p:nvSpPr>
          <p:cNvPr id="36" name="Shape 34"/>
          <p:cNvSpPr/>
          <p:nvPr/>
        </p:nvSpPr>
        <p:spPr>
          <a:xfrm>
            <a:off x="4663440" y="2990088"/>
            <a:ext cx="4160520" cy="868680"/>
          </a:xfrm>
          <a:prstGeom prst="rect">
            <a:avLst/>
          </a:prstGeom>
          <a:solidFill>
            <a:srgbClr val="1A2D5A"/>
          </a:solidFill>
          <a:ln/>
        </p:spPr>
      </p:sp>
      <p:sp>
        <p:nvSpPr>
          <p:cNvPr id="37" name="Shape 35"/>
          <p:cNvSpPr/>
          <p:nvPr/>
        </p:nvSpPr>
        <p:spPr>
          <a:xfrm>
            <a:off x="4773168" y="3191256"/>
            <a:ext cx="402336" cy="402336"/>
          </a:xfrm>
          <a:prstGeom prst="ellipse">
            <a:avLst/>
          </a:prstGeom>
          <a:solidFill>
            <a:srgbClr val="0891B2"/>
          </a:solidFill>
          <a:ln/>
        </p:spPr>
      </p:sp>
      <p:sp>
        <p:nvSpPr>
          <p:cNvPr id="38" name="Text 36"/>
          <p:cNvSpPr/>
          <p:nvPr/>
        </p:nvSpPr>
        <p:spPr>
          <a:xfrm>
            <a:off x="4773168" y="31912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9" name="Text 37"/>
          <p:cNvSpPr/>
          <p:nvPr/>
        </p:nvSpPr>
        <p:spPr>
          <a:xfrm>
            <a:off x="5312664" y="305409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Install LiteSpeed Cache plugin</a:t>
            </a:r>
            <a:endParaRPr lang="en-US" sz="1100" dirty="0"/>
          </a:p>
        </p:txBody>
      </p:sp>
      <p:sp>
        <p:nvSpPr>
          <p:cNvPr id="40" name="Text 38"/>
          <p:cNvSpPr/>
          <p:nvPr/>
        </p:nvSpPr>
        <p:spPr>
          <a:xfrm>
            <a:off x="5312664" y="3392424"/>
            <a:ext cx="3401568" cy="402336"/>
          </a:xfrm>
          <a:prstGeom prst="rect">
            <a:avLst/>
          </a:prstGeom>
          <a:noFill/>
          <a:ln/>
        </p:spPr>
        <p:txBody>
          <a:bodyPr wrap="square" lIns="0" tIns="0" rIns="0" bIns="0" rtlCol="0" anchor="ctr"/>
          <a:lstStyle/>
          <a:p>
            <a:pPr indent="0" marL="0">
              <a:buNone/>
            </a:pPr>
            <a:r>
              <a:rPr lang="en-US" sz="900" dirty="0">
                <a:solidFill>
                  <a:srgbClr val="94A3B8"/>
                </a:solidFill>
              </a:rPr>
              <a:t>Free — fixes TTFB from 1.1s to ~0.2s</a:t>
            </a:r>
            <a:endParaRPr lang="en-US" sz="900" dirty="0"/>
          </a:p>
        </p:txBody>
      </p:sp>
      <p:sp>
        <p:nvSpPr>
          <p:cNvPr id="41" name="Shape 39"/>
          <p:cNvSpPr/>
          <p:nvPr/>
        </p:nvSpPr>
        <p:spPr>
          <a:xfrm>
            <a:off x="4663440" y="3995928"/>
            <a:ext cx="4160520" cy="868680"/>
          </a:xfrm>
          <a:prstGeom prst="rect">
            <a:avLst/>
          </a:prstGeom>
          <a:solidFill>
            <a:srgbClr val="1A2D5A"/>
          </a:solidFill>
          <a:ln/>
        </p:spPr>
      </p:sp>
      <p:sp>
        <p:nvSpPr>
          <p:cNvPr id="42" name="Shape 40"/>
          <p:cNvSpPr/>
          <p:nvPr/>
        </p:nvSpPr>
        <p:spPr>
          <a:xfrm>
            <a:off x="4773168" y="4197096"/>
            <a:ext cx="402336" cy="402336"/>
          </a:xfrm>
          <a:prstGeom prst="ellipse">
            <a:avLst/>
          </a:prstGeom>
          <a:solidFill>
            <a:srgbClr val="0891B2"/>
          </a:solidFill>
          <a:ln/>
        </p:spPr>
      </p:sp>
      <p:sp>
        <p:nvSpPr>
          <p:cNvPr id="43" name="Text 41"/>
          <p:cNvSpPr/>
          <p:nvPr/>
        </p:nvSpPr>
        <p:spPr>
          <a:xfrm>
            <a:off x="4773168" y="419709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8</a:t>
            </a:r>
            <a:endParaRPr lang="en-US" sz="1100" dirty="0"/>
          </a:p>
        </p:txBody>
      </p:sp>
      <p:sp>
        <p:nvSpPr>
          <p:cNvPr id="44" name="Text 42"/>
          <p:cNvSpPr/>
          <p:nvPr/>
        </p:nvSpPr>
        <p:spPr>
          <a:xfrm>
            <a:off x="5312664" y="4059936"/>
            <a:ext cx="3401568" cy="292608"/>
          </a:xfrm>
          <a:prstGeom prst="rect">
            <a:avLst/>
          </a:prstGeom>
          <a:noFill/>
          <a:ln/>
        </p:spPr>
        <p:txBody>
          <a:bodyPr wrap="square" lIns="0" tIns="0" rIns="0" bIns="0" rtlCol="0" anchor="ctr"/>
          <a:lstStyle/>
          <a:p>
            <a:pPr indent="0" marL="0">
              <a:buNone/>
            </a:pPr>
            <a:r>
              <a:rPr lang="en-US" sz="1100" b="1" dirty="0">
                <a:solidFill>
                  <a:srgbClr val="FFFFFF"/>
                </a:solidFill>
              </a:rPr>
              <a:t>Caption every gallery image</a:t>
            </a:r>
            <a:endParaRPr lang="en-US" sz="1100" dirty="0"/>
          </a:p>
        </p:txBody>
      </p:sp>
      <p:sp>
        <p:nvSpPr>
          <p:cNvPr id="45" name="Text 43"/>
          <p:cNvSpPr/>
          <p:nvPr/>
        </p:nvSpPr>
        <p:spPr>
          <a:xfrm>
            <a:off x="5312664" y="4398264"/>
            <a:ext cx="3401568" cy="402336"/>
          </a:xfrm>
          <a:prstGeom prst="rect">
            <a:avLst/>
          </a:prstGeom>
          <a:noFill/>
          <a:ln/>
        </p:spPr>
        <p:txBody>
          <a:bodyPr wrap="square" lIns="0" tIns="0" rIns="0" bIns="0" rtlCol="0" anchor="ctr"/>
          <a:lstStyle/>
          <a:p>
            <a:pPr indent="0" marL="0">
              <a:buNone/>
            </a:pPr>
            <a:r>
              <a:rPr lang="en-US" sz="900" dirty="0">
                <a:solidFill>
                  <a:srgbClr val="94A3B8"/>
                </a:solidFill>
              </a:rPr>
              <a:t>'Work type — Suburb, Year' format — unlocks 35+ photos as citable evidence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86868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30-DAY ACTION PLAN</a:t>
            </a:r>
            <a:endParaRPr lang="en-US" sz="1300" dirty="0"/>
          </a:p>
        </p:txBody>
      </p:sp>
      <p:sp>
        <p:nvSpPr>
          <p:cNvPr id="4" name="Shape 2"/>
          <p:cNvSpPr/>
          <p:nvPr/>
        </p:nvSpPr>
        <p:spPr>
          <a:xfrm>
            <a:off x="228600" y="713232"/>
            <a:ext cx="4251960" cy="205740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 name="Shape 3"/>
          <p:cNvSpPr/>
          <p:nvPr/>
        </p:nvSpPr>
        <p:spPr>
          <a:xfrm>
            <a:off x="228600" y="713232"/>
            <a:ext cx="4251960" cy="384048"/>
          </a:xfrm>
          <a:prstGeom prst="rect">
            <a:avLst/>
          </a:prstGeom>
          <a:solidFill>
            <a:srgbClr val="DC2626"/>
          </a:solidFill>
          <a:ln/>
        </p:spPr>
      </p:sp>
      <p:sp>
        <p:nvSpPr>
          <p:cNvPr id="6" name="Text 4"/>
          <p:cNvSpPr/>
          <p:nvPr/>
        </p:nvSpPr>
        <p:spPr>
          <a:xfrm>
            <a:off x="338328" y="713232"/>
            <a:ext cx="4023360" cy="384048"/>
          </a:xfrm>
          <a:prstGeom prst="rect">
            <a:avLst/>
          </a:prstGeom>
          <a:noFill/>
          <a:ln/>
        </p:spPr>
        <p:txBody>
          <a:bodyPr wrap="square" lIns="0" tIns="0" rIns="0" bIns="0" rtlCol="0" anchor="ctr"/>
          <a:lstStyle/>
          <a:p>
            <a:pPr indent="0" marL="0">
              <a:buNone/>
            </a:pPr>
            <a:r>
              <a:rPr lang="en-US" sz="950" b="1" dirty="0">
                <a:solidFill>
                  <a:srgbClr val="FFFFFF"/>
                </a:solidFill>
              </a:rPr>
              <a:t>Week 1  —  Foundation Fixes — Technical &amp; Trust</a:t>
            </a:r>
            <a:endParaRPr lang="en-US" sz="950" dirty="0"/>
          </a:p>
        </p:txBody>
      </p:sp>
      <p:sp>
        <p:nvSpPr>
          <p:cNvPr id="7" name="Shape 5"/>
          <p:cNvSpPr/>
          <p:nvPr/>
        </p:nvSpPr>
        <p:spPr>
          <a:xfrm>
            <a:off x="356616" y="1188720"/>
            <a:ext cx="109728" cy="109728"/>
          </a:xfrm>
          <a:prstGeom prst="rect">
            <a:avLst/>
          </a:prstGeom>
          <a:solidFill>
            <a:srgbClr val="DC2626"/>
          </a:solidFill>
          <a:ln/>
        </p:spPr>
      </p:sp>
      <p:sp>
        <p:nvSpPr>
          <p:cNvPr id="8" name="Text 6"/>
          <p:cNvSpPr/>
          <p:nvPr/>
        </p:nvSpPr>
        <p:spPr>
          <a:xfrm>
            <a:off x="539496" y="1161288"/>
            <a:ext cx="3840480" cy="219456"/>
          </a:xfrm>
          <a:prstGeom prst="rect">
            <a:avLst/>
          </a:prstGeom>
          <a:noFill/>
          <a:ln/>
        </p:spPr>
        <p:txBody>
          <a:bodyPr wrap="square" lIns="0" tIns="0" rIns="0" bIns="0" rtlCol="0" anchor="ctr"/>
          <a:lstStyle/>
          <a:p>
            <a:pPr indent="0" marL="0">
              <a:buNone/>
            </a:pPr>
            <a:r>
              <a:rPr lang="en-US" sz="900" dirty="0">
                <a:solidFill>
                  <a:srgbClr val="1E293B"/>
                </a:solidFill>
              </a:rPr>
              <a:t>Create /llms.txt at webroot</a:t>
            </a:r>
            <a:endParaRPr lang="en-US" sz="900" dirty="0"/>
          </a:p>
        </p:txBody>
      </p:sp>
      <p:sp>
        <p:nvSpPr>
          <p:cNvPr id="9" name="Shape 7"/>
          <p:cNvSpPr/>
          <p:nvPr/>
        </p:nvSpPr>
        <p:spPr>
          <a:xfrm>
            <a:off x="356616" y="1426464"/>
            <a:ext cx="109728" cy="109728"/>
          </a:xfrm>
          <a:prstGeom prst="rect">
            <a:avLst/>
          </a:prstGeom>
          <a:solidFill>
            <a:srgbClr val="DC2626"/>
          </a:solidFill>
          <a:ln/>
        </p:spPr>
      </p:sp>
      <p:sp>
        <p:nvSpPr>
          <p:cNvPr id="10" name="Text 8"/>
          <p:cNvSpPr/>
          <p:nvPr/>
        </p:nvSpPr>
        <p:spPr>
          <a:xfrm>
            <a:off x="539496" y="1399032"/>
            <a:ext cx="3840480" cy="219456"/>
          </a:xfrm>
          <a:prstGeom prst="rect">
            <a:avLst/>
          </a:prstGeom>
          <a:noFill/>
          <a:ln/>
        </p:spPr>
        <p:txBody>
          <a:bodyPr wrap="square" lIns="0" tIns="0" rIns="0" bIns="0" rtlCol="0" anchor="ctr"/>
          <a:lstStyle/>
          <a:p>
            <a:pPr indent="0" marL="0">
              <a:buNone/>
            </a:pPr>
            <a:r>
              <a:rPr lang="en-US" sz="900" dirty="0">
                <a:solidFill>
                  <a:srgbClr val="1E293B"/>
                </a:solidFill>
              </a:rPr>
              <a:t>Fix Yoast SEO schema configuration</a:t>
            </a:r>
            <a:endParaRPr lang="en-US" sz="900" dirty="0"/>
          </a:p>
        </p:txBody>
      </p:sp>
      <p:sp>
        <p:nvSpPr>
          <p:cNvPr id="11" name="Shape 9"/>
          <p:cNvSpPr/>
          <p:nvPr/>
        </p:nvSpPr>
        <p:spPr>
          <a:xfrm>
            <a:off x="356616" y="1664208"/>
            <a:ext cx="109728" cy="109728"/>
          </a:xfrm>
          <a:prstGeom prst="rect">
            <a:avLst/>
          </a:prstGeom>
          <a:solidFill>
            <a:srgbClr val="DC2626"/>
          </a:solidFill>
          <a:ln/>
        </p:spPr>
      </p:sp>
      <p:sp>
        <p:nvSpPr>
          <p:cNvPr id="12" name="Text 10"/>
          <p:cNvSpPr/>
          <p:nvPr/>
        </p:nvSpPr>
        <p:spPr>
          <a:xfrm>
            <a:off x="539496" y="1636776"/>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LocalBusiness + ElectricalContractor JSON-LD to homepage</a:t>
            </a:r>
            <a:endParaRPr lang="en-US" sz="900" dirty="0"/>
          </a:p>
        </p:txBody>
      </p:sp>
      <p:sp>
        <p:nvSpPr>
          <p:cNvPr id="13" name="Shape 11"/>
          <p:cNvSpPr/>
          <p:nvPr/>
        </p:nvSpPr>
        <p:spPr>
          <a:xfrm>
            <a:off x="356616" y="1901952"/>
            <a:ext cx="109728" cy="109728"/>
          </a:xfrm>
          <a:prstGeom prst="rect">
            <a:avLst/>
          </a:prstGeom>
          <a:solidFill>
            <a:srgbClr val="DC2626"/>
          </a:solidFill>
          <a:ln/>
        </p:spPr>
      </p:sp>
      <p:sp>
        <p:nvSpPr>
          <p:cNvPr id="14" name="Text 12"/>
          <p:cNvSpPr/>
          <p:nvPr/>
        </p:nvSpPr>
        <p:spPr>
          <a:xfrm>
            <a:off x="539496" y="1874520"/>
            <a:ext cx="3840480" cy="219456"/>
          </a:xfrm>
          <a:prstGeom prst="rect">
            <a:avLst/>
          </a:prstGeom>
          <a:noFill/>
          <a:ln/>
        </p:spPr>
        <p:txBody>
          <a:bodyPr wrap="square" lIns="0" tIns="0" rIns="0" bIns="0" rtlCol="0" anchor="ctr"/>
          <a:lstStyle/>
          <a:p>
            <a:pPr indent="0" marL="0">
              <a:buNone/>
            </a:pPr>
            <a:r>
              <a:rPr lang="en-US" sz="900" dirty="0">
                <a:solidFill>
                  <a:srgbClr val="1E293B"/>
                </a:solidFill>
              </a:rPr>
              <a:t>Install LiteSpeed Cache plugin</a:t>
            </a:r>
            <a:endParaRPr lang="en-US" sz="900" dirty="0"/>
          </a:p>
        </p:txBody>
      </p:sp>
      <p:sp>
        <p:nvSpPr>
          <p:cNvPr id="15" name="Shape 13"/>
          <p:cNvSpPr/>
          <p:nvPr/>
        </p:nvSpPr>
        <p:spPr>
          <a:xfrm>
            <a:off x="356616" y="2139696"/>
            <a:ext cx="109728" cy="109728"/>
          </a:xfrm>
          <a:prstGeom prst="rect">
            <a:avLst/>
          </a:prstGeom>
          <a:solidFill>
            <a:srgbClr val="DC2626"/>
          </a:solidFill>
          <a:ln/>
        </p:spPr>
      </p:sp>
      <p:sp>
        <p:nvSpPr>
          <p:cNvPr id="16" name="Text 14"/>
          <p:cNvSpPr/>
          <p:nvPr/>
        </p:nvSpPr>
        <p:spPr>
          <a:xfrm>
            <a:off x="539496" y="2112264"/>
            <a:ext cx="3840480" cy="219456"/>
          </a:xfrm>
          <a:prstGeom prst="rect">
            <a:avLst/>
          </a:prstGeom>
          <a:noFill/>
          <a:ln/>
        </p:spPr>
        <p:txBody>
          <a:bodyPr wrap="square" lIns="0" tIns="0" rIns="0" bIns="0" rtlCol="0" anchor="ctr"/>
          <a:lstStyle/>
          <a:p>
            <a:pPr indent="0" marL="0">
              <a:buNone/>
            </a:pPr>
            <a:r>
              <a:rPr lang="en-US" sz="900" dirty="0">
                <a:solidFill>
                  <a:srgbClr val="1E293B"/>
                </a:solidFill>
              </a:rPr>
              <a:t>Remove 'Employee Name' placeholder text from About page</a:t>
            </a:r>
            <a:endParaRPr lang="en-US" sz="900" dirty="0"/>
          </a:p>
        </p:txBody>
      </p:sp>
      <p:sp>
        <p:nvSpPr>
          <p:cNvPr id="17" name="Shape 15"/>
          <p:cNvSpPr/>
          <p:nvPr/>
        </p:nvSpPr>
        <p:spPr>
          <a:xfrm>
            <a:off x="356616" y="2377440"/>
            <a:ext cx="109728" cy="109728"/>
          </a:xfrm>
          <a:prstGeom prst="rect">
            <a:avLst/>
          </a:prstGeom>
          <a:solidFill>
            <a:srgbClr val="DC2626"/>
          </a:solidFill>
          <a:ln/>
        </p:spPr>
      </p:sp>
      <p:sp>
        <p:nvSpPr>
          <p:cNvPr id="18" name="Text 16"/>
          <p:cNvSpPr/>
          <p:nvPr/>
        </p:nvSpPr>
        <p:spPr>
          <a:xfrm>
            <a:off x="539496" y="2350008"/>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NSW Electrical Contractor Licence number to footer</a:t>
            </a:r>
            <a:endParaRPr lang="en-US" sz="900" dirty="0"/>
          </a:p>
        </p:txBody>
      </p:sp>
      <p:sp>
        <p:nvSpPr>
          <p:cNvPr id="19" name="Shape 17"/>
          <p:cNvSpPr/>
          <p:nvPr/>
        </p:nvSpPr>
        <p:spPr>
          <a:xfrm>
            <a:off x="356616" y="2615184"/>
            <a:ext cx="109728" cy="109728"/>
          </a:xfrm>
          <a:prstGeom prst="rect">
            <a:avLst/>
          </a:prstGeom>
          <a:solidFill>
            <a:srgbClr val="DC2626"/>
          </a:solidFill>
          <a:ln/>
        </p:spPr>
      </p:sp>
      <p:sp>
        <p:nvSpPr>
          <p:cNvPr id="20" name="Text 18"/>
          <p:cNvSpPr/>
          <p:nvPr/>
        </p:nvSpPr>
        <p:spPr>
          <a:xfrm>
            <a:off x="539496" y="2587752"/>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privacy policy page</a:t>
            </a:r>
            <a:endParaRPr lang="en-US" sz="900" dirty="0"/>
          </a:p>
        </p:txBody>
      </p:sp>
      <p:sp>
        <p:nvSpPr>
          <p:cNvPr id="21" name="Shape 19"/>
          <p:cNvSpPr/>
          <p:nvPr/>
        </p:nvSpPr>
        <p:spPr>
          <a:xfrm>
            <a:off x="4709160" y="713232"/>
            <a:ext cx="4251960" cy="205740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22" name="Shape 20"/>
          <p:cNvSpPr/>
          <p:nvPr/>
        </p:nvSpPr>
        <p:spPr>
          <a:xfrm>
            <a:off x="4709160" y="713232"/>
            <a:ext cx="4251960" cy="384048"/>
          </a:xfrm>
          <a:prstGeom prst="rect">
            <a:avLst/>
          </a:prstGeom>
          <a:solidFill>
            <a:srgbClr val="D97706"/>
          </a:solidFill>
          <a:ln/>
        </p:spPr>
      </p:sp>
      <p:sp>
        <p:nvSpPr>
          <p:cNvPr id="23" name="Text 21"/>
          <p:cNvSpPr/>
          <p:nvPr/>
        </p:nvSpPr>
        <p:spPr>
          <a:xfrm>
            <a:off x="4818888" y="713232"/>
            <a:ext cx="4023360" cy="384048"/>
          </a:xfrm>
          <a:prstGeom prst="rect">
            <a:avLst/>
          </a:prstGeom>
          <a:noFill/>
          <a:ln/>
        </p:spPr>
        <p:txBody>
          <a:bodyPr wrap="square" lIns="0" tIns="0" rIns="0" bIns="0" rtlCol="0" anchor="ctr"/>
          <a:lstStyle/>
          <a:p>
            <a:pPr indent="0" marL="0">
              <a:buNone/>
            </a:pPr>
            <a:r>
              <a:rPr lang="en-US" sz="950" b="1" dirty="0">
                <a:solidFill>
                  <a:srgbClr val="FFFFFF"/>
                </a:solidFill>
              </a:rPr>
              <a:t>Week 2  —  Content &amp; Citability</a:t>
            </a:r>
            <a:endParaRPr lang="en-US" sz="950" dirty="0"/>
          </a:p>
        </p:txBody>
      </p:sp>
      <p:sp>
        <p:nvSpPr>
          <p:cNvPr id="24" name="Shape 22"/>
          <p:cNvSpPr/>
          <p:nvPr/>
        </p:nvSpPr>
        <p:spPr>
          <a:xfrm>
            <a:off x="4837176" y="1188720"/>
            <a:ext cx="109728" cy="109728"/>
          </a:xfrm>
          <a:prstGeom prst="rect">
            <a:avLst/>
          </a:prstGeom>
          <a:solidFill>
            <a:srgbClr val="D97706"/>
          </a:solidFill>
          <a:ln/>
        </p:spPr>
      </p:sp>
      <p:sp>
        <p:nvSpPr>
          <p:cNvPr id="25" name="Text 23"/>
          <p:cNvSpPr/>
          <p:nvPr/>
        </p:nvSpPr>
        <p:spPr>
          <a:xfrm>
            <a:off x="5020056" y="1161288"/>
            <a:ext cx="3840480" cy="219456"/>
          </a:xfrm>
          <a:prstGeom prst="rect">
            <a:avLst/>
          </a:prstGeom>
          <a:noFill/>
          <a:ln/>
        </p:spPr>
        <p:txBody>
          <a:bodyPr wrap="square" lIns="0" tIns="0" rIns="0" bIns="0" rtlCol="0" anchor="ctr"/>
          <a:lstStyle/>
          <a:p>
            <a:pPr indent="0" marL="0">
              <a:buNone/>
            </a:pPr>
            <a:r>
              <a:rPr lang="en-US" sz="900" dirty="0">
                <a:solidFill>
                  <a:srgbClr val="1E293B"/>
                </a:solidFill>
              </a:rPr>
              <a:t>Write content for /home-automation/ (rename slug from /home-automation-2/)</a:t>
            </a:r>
            <a:endParaRPr lang="en-US" sz="900" dirty="0"/>
          </a:p>
        </p:txBody>
      </p:sp>
      <p:sp>
        <p:nvSpPr>
          <p:cNvPr id="26" name="Shape 24"/>
          <p:cNvSpPr/>
          <p:nvPr/>
        </p:nvSpPr>
        <p:spPr>
          <a:xfrm>
            <a:off x="4837176" y="1426464"/>
            <a:ext cx="109728" cy="109728"/>
          </a:xfrm>
          <a:prstGeom prst="rect">
            <a:avLst/>
          </a:prstGeom>
          <a:solidFill>
            <a:srgbClr val="D97706"/>
          </a:solidFill>
          <a:ln/>
        </p:spPr>
      </p:sp>
      <p:sp>
        <p:nvSpPr>
          <p:cNvPr id="27" name="Text 25"/>
          <p:cNvSpPr/>
          <p:nvPr/>
        </p:nvSpPr>
        <p:spPr>
          <a:xfrm>
            <a:off x="5020056" y="1399032"/>
            <a:ext cx="3840480" cy="219456"/>
          </a:xfrm>
          <a:prstGeom prst="rect">
            <a:avLst/>
          </a:prstGeom>
          <a:noFill/>
          <a:ln/>
        </p:spPr>
        <p:txBody>
          <a:bodyPr wrap="square" lIns="0" tIns="0" rIns="0" bIns="0" rtlCol="0" anchor="ctr"/>
          <a:lstStyle/>
          <a:p>
            <a:pPr indent="0" marL="0">
              <a:buNone/>
            </a:pPr>
            <a:r>
              <a:rPr lang="en-US" sz="900" dirty="0">
                <a:solidFill>
                  <a:srgbClr val="1E293B"/>
                </a:solidFill>
              </a:rPr>
              <a:t>Write content for /project-management/</a:t>
            </a:r>
            <a:endParaRPr lang="en-US" sz="900" dirty="0"/>
          </a:p>
        </p:txBody>
      </p:sp>
      <p:sp>
        <p:nvSpPr>
          <p:cNvPr id="28" name="Shape 26"/>
          <p:cNvSpPr/>
          <p:nvPr/>
        </p:nvSpPr>
        <p:spPr>
          <a:xfrm>
            <a:off x="4837176" y="1664208"/>
            <a:ext cx="109728" cy="109728"/>
          </a:xfrm>
          <a:prstGeom prst="rect">
            <a:avLst/>
          </a:prstGeom>
          <a:solidFill>
            <a:srgbClr val="D97706"/>
          </a:solidFill>
          <a:ln/>
        </p:spPr>
      </p:sp>
      <p:sp>
        <p:nvSpPr>
          <p:cNvPr id="29" name="Text 27"/>
          <p:cNvSpPr/>
          <p:nvPr/>
        </p:nvSpPr>
        <p:spPr>
          <a:xfrm>
            <a:off x="5020056" y="1636776"/>
            <a:ext cx="3840480" cy="219456"/>
          </a:xfrm>
          <a:prstGeom prst="rect">
            <a:avLst/>
          </a:prstGeom>
          <a:noFill/>
          <a:ln/>
        </p:spPr>
        <p:txBody>
          <a:bodyPr wrap="square" lIns="0" tIns="0" rIns="0" bIns="0" rtlCol="0" anchor="ctr"/>
          <a:lstStyle/>
          <a:p>
            <a:pPr indent="0" marL="0">
              <a:buNone/>
            </a:pPr>
            <a:r>
              <a:rPr lang="en-US" sz="900" dirty="0">
                <a:solidFill>
                  <a:srgbClr val="1E293B"/>
                </a:solidFill>
              </a:rPr>
              <a:t>Rewrite /data-communication/ with technical specifics</a:t>
            </a:r>
            <a:endParaRPr lang="en-US" sz="900" dirty="0"/>
          </a:p>
        </p:txBody>
      </p:sp>
      <p:sp>
        <p:nvSpPr>
          <p:cNvPr id="30" name="Shape 28"/>
          <p:cNvSpPr/>
          <p:nvPr/>
        </p:nvSpPr>
        <p:spPr>
          <a:xfrm>
            <a:off x="4837176" y="1901952"/>
            <a:ext cx="109728" cy="109728"/>
          </a:xfrm>
          <a:prstGeom prst="rect">
            <a:avLst/>
          </a:prstGeom>
          <a:solidFill>
            <a:srgbClr val="D97706"/>
          </a:solidFill>
          <a:ln/>
        </p:spPr>
      </p:sp>
      <p:sp>
        <p:nvSpPr>
          <p:cNvPr id="31" name="Text 29"/>
          <p:cNvSpPr/>
          <p:nvPr/>
        </p:nvSpPr>
        <p:spPr>
          <a:xfrm>
            <a:off x="5020056" y="1874520"/>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meta descriptions to all 11 pages</a:t>
            </a:r>
            <a:endParaRPr lang="en-US" sz="900" dirty="0"/>
          </a:p>
        </p:txBody>
      </p:sp>
      <p:sp>
        <p:nvSpPr>
          <p:cNvPr id="32" name="Shape 30"/>
          <p:cNvSpPr/>
          <p:nvPr/>
        </p:nvSpPr>
        <p:spPr>
          <a:xfrm>
            <a:off x="4837176" y="2139696"/>
            <a:ext cx="109728" cy="109728"/>
          </a:xfrm>
          <a:prstGeom prst="rect">
            <a:avLst/>
          </a:prstGeom>
          <a:solidFill>
            <a:srgbClr val="D97706"/>
          </a:solidFill>
          <a:ln/>
        </p:spPr>
      </p:sp>
      <p:sp>
        <p:nvSpPr>
          <p:cNvPr id="33" name="Text 31"/>
          <p:cNvSpPr/>
          <p:nvPr/>
        </p:nvSpPr>
        <p:spPr>
          <a:xfrm>
            <a:off x="5020056" y="2112264"/>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5-question FAQ to /safety-inspection/ with FAQPage schema</a:t>
            </a:r>
            <a:endParaRPr lang="en-US" sz="900" dirty="0"/>
          </a:p>
        </p:txBody>
      </p:sp>
      <p:sp>
        <p:nvSpPr>
          <p:cNvPr id="34" name="Shape 32"/>
          <p:cNvSpPr/>
          <p:nvPr/>
        </p:nvSpPr>
        <p:spPr>
          <a:xfrm>
            <a:off x="4837176" y="2377440"/>
            <a:ext cx="109728" cy="109728"/>
          </a:xfrm>
          <a:prstGeom prst="rect">
            <a:avLst/>
          </a:prstGeom>
          <a:solidFill>
            <a:srgbClr val="D97706"/>
          </a:solidFill>
          <a:ln/>
        </p:spPr>
      </p:sp>
      <p:sp>
        <p:nvSpPr>
          <p:cNvPr id="35" name="Text 33"/>
          <p:cNvSpPr/>
          <p:nvPr/>
        </p:nvSpPr>
        <p:spPr>
          <a:xfrm>
            <a:off x="5020056" y="2350008"/>
            <a:ext cx="3840480" cy="219456"/>
          </a:xfrm>
          <a:prstGeom prst="rect">
            <a:avLst/>
          </a:prstGeom>
          <a:noFill/>
          <a:ln/>
        </p:spPr>
        <p:txBody>
          <a:bodyPr wrap="square" lIns="0" tIns="0" rIns="0" bIns="0" rtlCol="0" anchor="ctr"/>
          <a:lstStyle/>
          <a:p>
            <a:pPr indent="0" marL="0">
              <a:buNone/>
            </a:pPr>
            <a:r>
              <a:rPr lang="en-US" sz="900" dirty="0">
                <a:solidFill>
                  <a:srgbClr val="1E293B"/>
                </a:solidFill>
              </a:rPr>
              <a:t>Rewrite homepage H1 to include location keyword</a:t>
            </a:r>
            <a:endParaRPr lang="en-US" sz="900" dirty="0"/>
          </a:p>
        </p:txBody>
      </p:sp>
      <p:sp>
        <p:nvSpPr>
          <p:cNvPr id="36" name="Shape 34"/>
          <p:cNvSpPr/>
          <p:nvPr/>
        </p:nvSpPr>
        <p:spPr>
          <a:xfrm>
            <a:off x="4837176" y="2615184"/>
            <a:ext cx="109728" cy="109728"/>
          </a:xfrm>
          <a:prstGeom prst="rect">
            <a:avLst/>
          </a:prstGeom>
          <a:solidFill>
            <a:srgbClr val="D97706"/>
          </a:solidFill>
          <a:ln/>
        </p:spPr>
      </p:sp>
      <p:sp>
        <p:nvSpPr>
          <p:cNvPr id="37" name="Text 35"/>
          <p:cNvSpPr/>
          <p:nvPr/>
        </p:nvSpPr>
        <p:spPr>
          <a:xfrm>
            <a:off x="5020056" y="2587752"/>
            <a:ext cx="3840480" cy="219456"/>
          </a:xfrm>
          <a:prstGeom prst="rect">
            <a:avLst/>
          </a:prstGeom>
          <a:noFill/>
          <a:ln/>
        </p:spPr>
        <p:txBody>
          <a:bodyPr wrap="square" lIns="0" tIns="0" rIns="0" bIns="0" rtlCol="0" anchor="ctr"/>
          <a:lstStyle/>
          <a:p>
            <a:pPr indent="0" marL="0">
              <a:buNone/>
            </a:pPr>
            <a:r>
              <a:rPr lang="en-US" sz="900" dirty="0">
                <a:solidFill>
                  <a:srgbClr val="1E293B"/>
                </a:solidFill>
              </a:rPr>
              <a:t>Caption all 35+ gallery images with work type, suburb, year</a:t>
            </a:r>
            <a:endParaRPr lang="en-US" sz="900" dirty="0"/>
          </a:p>
        </p:txBody>
      </p:sp>
      <p:sp>
        <p:nvSpPr>
          <p:cNvPr id="38" name="Shape 36"/>
          <p:cNvSpPr/>
          <p:nvPr/>
        </p:nvSpPr>
        <p:spPr>
          <a:xfrm>
            <a:off x="228600" y="2907792"/>
            <a:ext cx="4251960" cy="205740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39" name="Shape 37"/>
          <p:cNvSpPr/>
          <p:nvPr/>
        </p:nvSpPr>
        <p:spPr>
          <a:xfrm>
            <a:off x="228600" y="2907792"/>
            <a:ext cx="4251960" cy="384048"/>
          </a:xfrm>
          <a:prstGeom prst="rect">
            <a:avLst/>
          </a:prstGeom>
          <a:solidFill>
            <a:srgbClr val="0891B2"/>
          </a:solidFill>
          <a:ln/>
        </p:spPr>
      </p:sp>
      <p:sp>
        <p:nvSpPr>
          <p:cNvPr id="40" name="Text 38"/>
          <p:cNvSpPr/>
          <p:nvPr/>
        </p:nvSpPr>
        <p:spPr>
          <a:xfrm>
            <a:off x="338328" y="2907792"/>
            <a:ext cx="4023360" cy="384048"/>
          </a:xfrm>
          <a:prstGeom prst="rect">
            <a:avLst/>
          </a:prstGeom>
          <a:noFill/>
          <a:ln/>
        </p:spPr>
        <p:txBody>
          <a:bodyPr wrap="square" lIns="0" tIns="0" rIns="0" bIns="0" rtlCol="0" anchor="ctr"/>
          <a:lstStyle/>
          <a:p>
            <a:pPr indent="0" marL="0">
              <a:buNone/>
            </a:pPr>
            <a:r>
              <a:rPr lang="en-US" sz="950" b="1" dirty="0">
                <a:solidFill>
                  <a:srgbClr val="FFFFFF"/>
                </a:solidFill>
              </a:rPr>
              <a:t>Week 3  —  Schema Rollout</a:t>
            </a:r>
            <a:endParaRPr lang="en-US" sz="950" dirty="0"/>
          </a:p>
        </p:txBody>
      </p:sp>
      <p:sp>
        <p:nvSpPr>
          <p:cNvPr id="41" name="Shape 39"/>
          <p:cNvSpPr/>
          <p:nvPr/>
        </p:nvSpPr>
        <p:spPr>
          <a:xfrm>
            <a:off x="356616" y="3383280"/>
            <a:ext cx="109728" cy="109728"/>
          </a:xfrm>
          <a:prstGeom prst="rect">
            <a:avLst/>
          </a:prstGeom>
          <a:solidFill>
            <a:srgbClr val="0891B2"/>
          </a:solidFill>
          <a:ln/>
        </p:spPr>
      </p:sp>
      <p:sp>
        <p:nvSpPr>
          <p:cNvPr id="42" name="Text 40"/>
          <p:cNvSpPr/>
          <p:nvPr/>
        </p:nvSpPr>
        <p:spPr>
          <a:xfrm>
            <a:off x="539496" y="3355848"/>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Open Graph image to all pages via Yoast Social settings</a:t>
            </a:r>
            <a:endParaRPr lang="en-US" sz="900" dirty="0"/>
          </a:p>
        </p:txBody>
      </p:sp>
      <p:sp>
        <p:nvSpPr>
          <p:cNvPr id="43" name="Shape 41"/>
          <p:cNvSpPr/>
          <p:nvPr/>
        </p:nvSpPr>
        <p:spPr>
          <a:xfrm>
            <a:off x="356616" y="3621024"/>
            <a:ext cx="109728" cy="109728"/>
          </a:xfrm>
          <a:prstGeom prst="rect">
            <a:avLst/>
          </a:prstGeom>
          <a:solidFill>
            <a:srgbClr val="0891B2"/>
          </a:solidFill>
          <a:ln/>
        </p:spPr>
      </p:sp>
      <p:sp>
        <p:nvSpPr>
          <p:cNvPr id="44" name="Text 42"/>
          <p:cNvSpPr/>
          <p:nvPr/>
        </p:nvSpPr>
        <p:spPr>
          <a:xfrm>
            <a:off x="539496" y="3593592"/>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Service schema to each of the 8 service pages</a:t>
            </a:r>
            <a:endParaRPr lang="en-US" sz="900" dirty="0"/>
          </a:p>
        </p:txBody>
      </p:sp>
      <p:sp>
        <p:nvSpPr>
          <p:cNvPr id="45" name="Shape 43"/>
          <p:cNvSpPr/>
          <p:nvPr/>
        </p:nvSpPr>
        <p:spPr>
          <a:xfrm>
            <a:off x="356616" y="3858768"/>
            <a:ext cx="109728" cy="109728"/>
          </a:xfrm>
          <a:prstGeom prst="rect">
            <a:avLst/>
          </a:prstGeom>
          <a:solidFill>
            <a:srgbClr val="0891B2"/>
          </a:solidFill>
          <a:ln/>
        </p:spPr>
      </p:sp>
      <p:sp>
        <p:nvSpPr>
          <p:cNvPr id="46" name="Text 44"/>
          <p:cNvSpPr/>
          <p:nvPr/>
        </p:nvSpPr>
        <p:spPr>
          <a:xfrm>
            <a:off x="539496" y="3831336"/>
            <a:ext cx="3840480" cy="219456"/>
          </a:xfrm>
          <a:prstGeom prst="rect">
            <a:avLst/>
          </a:prstGeom>
          <a:noFill/>
          <a:ln/>
        </p:spPr>
        <p:txBody>
          <a:bodyPr wrap="square" lIns="0" tIns="0" rIns="0" bIns="0" rtlCol="0" anchor="ctr"/>
          <a:lstStyle/>
          <a:p>
            <a:pPr indent="0" marL="0">
              <a:buNone/>
            </a:pPr>
            <a:r>
              <a:rPr lang="en-US" sz="900" dirty="0">
                <a:solidFill>
                  <a:srgbClr val="1E293B"/>
                </a:solidFill>
              </a:rPr>
              <a:t>Validate all schema using Google Rich Results Test</a:t>
            </a:r>
            <a:endParaRPr lang="en-US" sz="900" dirty="0"/>
          </a:p>
        </p:txBody>
      </p:sp>
      <p:sp>
        <p:nvSpPr>
          <p:cNvPr id="47" name="Shape 45"/>
          <p:cNvSpPr/>
          <p:nvPr/>
        </p:nvSpPr>
        <p:spPr>
          <a:xfrm>
            <a:off x="356616" y="4096512"/>
            <a:ext cx="109728" cy="109728"/>
          </a:xfrm>
          <a:prstGeom prst="rect">
            <a:avLst/>
          </a:prstGeom>
          <a:solidFill>
            <a:srgbClr val="0891B2"/>
          </a:solidFill>
          <a:ln/>
        </p:spPr>
      </p:sp>
      <p:sp>
        <p:nvSpPr>
          <p:cNvPr id="48" name="Text 46"/>
          <p:cNvSpPr/>
          <p:nvPr/>
        </p:nvSpPr>
        <p:spPr>
          <a:xfrm>
            <a:off x="539496" y="4069080"/>
            <a:ext cx="3840480" cy="219456"/>
          </a:xfrm>
          <a:prstGeom prst="rect">
            <a:avLst/>
          </a:prstGeom>
          <a:noFill/>
          <a:ln/>
        </p:spPr>
        <p:txBody>
          <a:bodyPr wrap="square" lIns="0" tIns="0" rIns="0" bIns="0" rtlCol="0" anchor="ctr"/>
          <a:lstStyle/>
          <a:p>
            <a:pPr indent="0" marL="0">
              <a:buNone/>
            </a:pPr>
            <a:r>
              <a:rPr lang="en-US" sz="900" dirty="0">
                <a:solidFill>
                  <a:srgbClr val="1E293B"/>
                </a:solidFill>
              </a:rPr>
              <a:t>Add security headers (.htaccess: HSTS, X-Frame, X-Content-Type, Referrer-Policy)</a:t>
            </a:r>
            <a:endParaRPr lang="en-US" sz="900" dirty="0"/>
          </a:p>
        </p:txBody>
      </p:sp>
      <p:sp>
        <p:nvSpPr>
          <p:cNvPr id="49" name="Shape 47"/>
          <p:cNvSpPr/>
          <p:nvPr/>
        </p:nvSpPr>
        <p:spPr>
          <a:xfrm>
            <a:off x="356616" y="4334256"/>
            <a:ext cx="109728" cy="109728"/>
          </a:xfrm>
          <a:prstGeom prst="rect">
            <a:avLst/>
          </a:prstGeom>
          <a:solidFill>
            <a:srgbClr val="0891B2"/>
          </a:solidFill>
          <a:ln/>
        </p:spPr>
      </p:sp>
      <p:sp>
        <p:nvSpPr>
          <p:cNvPr id="50" name="Text 48"/>
          <p:cNvSpPr/>
          <p:nvPr/>
        </p:nvSpPr>
        <p:spPr>
          <a:xfrm>
            <a:off x="539496" y="4306824"/>
            <a:ext cx="3840480" cy="219456"/>
          </a:xfrm>
          <a:prstGeom prst="rect">
            <a:avLst/>
          </a:prstGeom>
          <a:noFill/>
          <a:ln/>
        </p:spPr>
        <p:txBody>
          <a:bodyPr wrap="square" lIns="0" tIns="0" rIns="0" bIns="0" rtlCol="0" anchor="ctr"/>
          <a:lstStyle/>
          <a:p>
            <a:pPr indent="0" marL="0">
              <a:buNone/>
            </a:pPr>
            <a:r>
              <a:rPr lang="en-US" sz="900" dirty="0">
                <a:solidFill>
                  <a:srgbClr val="1E293B"/>
                </a:solidFill>
              </a:rPr>
              <a:t>Deactivate legacy Google XML Sitemaps plugin (conflicts with Yoast)</a:t>
            </a:r>
            <a:endParaRPr lang="en-US" sz="900" dirty="0"/>
          </a:p>
        </p:txBody>
      </p:sp>
      <p:sp>
        <p:nvSpPr>
          <p:cNvPr id="51" name="Shape 49"/>
          <p:cNvSpPr/>
          <p:nvPr/>
        </p:nvSpPr>
        <p:spPr>
          <a:xfrm>
            <a:off x="356616" y="4572000"/>
            <a:ext cx="109728" cy="109728"/>
          </a:xfrm>
          <a:prstGeom prst="rect">
            <a:avLst/>
          </a:prstGeom>
          <a:solidFill>
            <a:srgbClr val="0891B2"/>
          </a:solidFill>
          <a:ln/>
        </p:spPr>
      </p:sp>
      <p:sp>
        <p:nvSpPr>
          <p:cNvPr id="52" name="Text 50"/>
          <p:cNvSpPr/>
          <p:nvPr/>
        </p:nvSpPr>
        <p:spPr>
          <a:xfrm>
            <a:off x="539496" y="4544568"/>
            <a:ext cx="3840480" cy="219456"/>
          </a:xfrm>
          <a:prstGeom prst="rect">
            <a:avLst/>
          </a:prstGeom>
          <a:noFill/>
          <a:ln/>
        </p:spPr>
        <p:txBody>
          <a:bodyPr wrap="square" lIns="0" tIns="0" rIns="0" bIns="0" rtlCol="0" anchor="ctr"/>
          <a:lstStyle/>
          <a:p>
            <a:pPr indent="0" marL="0">
              <a:buNone/>
            </a:pPr>
            <a:r>
              <a:rPr lang="en-US" sz="900" dirty="0">
                <a:solidFill>
                  <a:srgbClr val="1E293B"/>
                </a:solidFill>
              </a:rPr>
              <a:t>Install IndexNow plugin for faster Bing/ChatGPT indexing</a:t>
            </a:r>
            <a:endParaRPr lang="en-US" sz="900" dirty="0"/>
          </a:p>
        </p:txBody>
      </p:sp>
      <p:sp>
        <p:nvSpPr>
          <p:cNvPr id="53" name="Shape 51"/>
          <p:cNvSpPr/>
          <p:nvPr/>
        </p:nvSpPr>
        <p:spPr>
          <a:xfrm>
            <a:off x="4709160" y="2907792"/>
            <a:ext cx="4251960" cy="2057400"/>
          </a:xfrm>
          <a:prstGeom prst="rect">
            <a:avLst/>
          </a:prstGeom>
          <a:solidFill>
            <a:srgbClr val="FFFFFF"/>
          </a:solidFill>
          <a:ln/>
          <a:effectLst>
            <a:outerShdw sx="100000" sy="100000" kx="0" ky="0" algn="bl" rotWithShape="0" blurRad="63500" dist="12700" dir="8100000">
              <a:srgbClr val="000000">
                <a:alpha val="7000"/>
              </a:srgbClr>
            </a:outerShdw>
          </a:effectLst>
        </p:spPr>
      </p:sp>
      <p:sp>
        <p:nvSpPr>
          <p:cNvPr id="54" name="Shape 52"/>
          <p:cNvSpPr/>
          <p:nvPr/>
        </p:nvSpPr>
        <p:spPr>
          <a:xfrm>
            <a:off x="4709160" y="2907792"/>
            <a:ext cx="4251960" cy="384048"/>
          </a:xfrm>
          <a:prstGeom prst="rect">
            <a:avLst/>
          </a:prstGeom>
          <a:solidFill>
            <a:srgbClr val="16A34A"/>
          </a:solidFill>
          <a:ln/>
        </p:spPr>
      </p:sp>
      <p:sp>
        <p:nvSpPr>
          <p:cNvPr id="55" name="Text 53"/>
          <p:cNvSpPr/>
          <p:nvPr/>
        </p:nvSpPr>
        <p:spPr>
          <a:xfrm>
            <a:off x="4818888" y="2907792"/>
            <a:ext cx="4023360" cy="384048"/>
          </a:xfrm>
          <a:prstGeom prst="rect">
            <a:avLst/>
          </a:prstGeom>
          <a:noFill/>
          <a:ln/>
        </p:spPr>
        <p:txBody>
          <a:bodyPr wrap="square" lIns="0" tIns="0" rIns="0" bIns="0" rtlCol="0" anchor="ctr"/>
          <a:lstStyle/>
          <a:p>
            <a:pPr indent="0" marL="0">
              <a:buNone/>
            </a:pPr>
            <a:r>
              <a:rPr lang="en-US" sz="950" b="1" dirty="0">
                <a:solidFill>
                  <a:srgbClr val="FFFFFF"/>
                </a:solidFill>
              </a:rPr>
              <a:t>Week 4  —  Brand Authority &amp; Platforms</a:t>
            </a:r>
            <a:endParaRPr lang="en-US" sz="950" dirty="0"/>
          </a:p>
        </p:txBody>
      </p:sp>
      <p:sp>
        <p:nvSpPr>
          <p:cNvPr id="56" name="Shape 54"/>
          <p:cNvSpPr/>
          <p:nvPr/>
        </p:nvSpPr>
        <p:spPr>
          <a:xfrm>
            <a:off x="4837176" y="3383280"/>
            <a:ext cx="109728" cy="109728"/>
          </a:xfrm>
          <a:prstGeom prst="rect">
            <a:avLst/>
          </a:prstGeom>
          <a:solidFill>
            <a:srgbClr val="16A34A"/>
          </a:solidFill>
          <a:ln/>
        </p:spPr>
      </p:sp>
      <p:sp>
        <p:nvSpPr>
          <p:cNvPr id="57" name="Text 55"/>
          <p:cNvSpPr/>
          <p:nvPr/>
        </p:nvSpPr>
        <p:spPr>
          <a:xfrm>
            <a:off x="5020056" y="3355848"/>
            <a:ext cx="3840480" cy="219456"/>
          </a:xfrm>
          <a:prstGeom prst="rect">
            <a:avLst/>
          </a:prstGeom>
          <a:noFill/>
          <a:ln/>
        </p:spPr>
        <p:txBody>
          <a:bodyPr wrap="square" lIns="0" tIns="0" rIns="0" bIns="0" rtlCol="0" anchor="ctr"/>
          <a:lstStyle/>
          <a:p>
            <a:pPr indent="0" marL="0">
              <a:buNone/>
            </a:pPr>
            <a:r>
              <a:rPr lang="en-US" sz="900" dirty="0">
                <a:solidFill>
                  <a:srgbClr val="1E293B"/>
                </a:solidFill>
              </a:rPr>
              <a:t>Verify or create Google Business Profile — complete all fields</a:t>
            </a:r>
            <a:endParaRPr lang="en-US" sz="900" dirty="0"/>
          </a:p>
        </p:txBody>
      </p:sp>
      <p:sp>
        <p:nvSpPr>
          <p:cNvPr id="58" name="Shape 56"/>
          <p:cNvSpPr/>
          <p:nvPr/>
        </p:nvSpPr>
        <p:spPr>
          <a:xfrm>
            <a:off x="4837176" y="3621024"/>
            <a:ext cx="109728" cy="109728"/>
          </a:xfrm>
          <a:prstGeom prst="rect">
            <a:avLst/>
          </a:prstGeom>
          <a:solidFill>
            <a:srgbClr val="16A34A"/>
          </a:solidFill>
          <a:ln/>
        </p:spPr>
      </p:sp>
      <p:sp>
        <p:nvSpPr>
          <p:cNvPr id="59" name="Text 57"/>
          <p:cNvSpPr/>
          <p:nvPr/>
        </p:nvSpPr>
        <p:spPr>
          <a:xfrm>
            <a:off x="5020056" y="3593592"/>
            <a:ext cx="3840480" cy="219456"/>
          </a:xfrm>
          <a:prstGeom prst="rect">
            <a:avLst/>
          </a:prstGeom>
          <a:noFill/>
          <a:ln/>
        </p:spPr>
        <p:txBody>
          <a:bodyPr wrap="square" lIns="0" tIns="0" rIns="0" bIns="0" rtlCol="0" anchor="ctr"/>
          <a:lstStyle/>
          <a:p>
            <a:pPr indent="0" marL="0">
              <a:buNone/>
            </a:pPr>
            <a:r>
              <a:rPr lang="en-US" sz="900" dirty="0">
                <a:solidFill>
                  <a:srgbClr val="1E293B"/>
                </a:solidFill>
              </a:rPr>
              <a:t>Request reviews from the 28 confirmed ServiceSeeking customers</a:t>
            </a:r>
            <a:endParaRPr lang="en-US" sz="900" dirty="0"/>
          </a:p>
        </p:txBody>
      </p:sp>
      <p:sp>
        <p:nvSpPr>
          <p:cNvPr id="60" name="Shape 58"/>
          <p:cNvSpPr/>
          <p:nvPr/>
        </p:nvSpPr>
        <p:spPr>
          <a:xfrm>
            <a:off x="4837176" y="3858768"/>
            <a:ext cx="109728" cy="109728"/>
          </a:xfrm>
          <a:prstGeom prst="rect">
            <a:avLst/>
          </a:prstGeom>
          <a:solidFill>
            <a:srgbClr val="16A34A"/>
          </a:solidFill>
          <a:ln/>
        </p:spPr>
      </p:sp>
      <p:sp>
        <p:nvSpPr>
          <p:cNvPr id="61" name="Text 59"/>
          <p:cNvSpPr/>
          <p:nvPr/>
        </p:nvSpPr>
        <p:spPr>
          <a:xfrm>
            <a:off x="5020056" y="3831336"/>
            <a:ext cx="3840480" cy="219456"/>
          </a:xfrm>
          <a:prstGeom prst="rect">
            <a:avLst/>
          </a:prstGeom>
          <a:noFill/>
          <a:ln/>
        </p:spPr>
        <p:txBody>
          <a:bodyPr wrap="square" lIns="0" tIns="0" rIns="0" bIns="0" rtlCol="0" anchor="ctr"/>
          <a:lstStyle/>
          <a:p>
            <a:pPr indent="0" marL="0">
              <a:buNone/>
            </a:pPr>
            <a:r>
              <a:rPr lang="en-US" sz="900" dirty="0">
                <a:solidFill>
                  <a:srgbClr val="1E293B"/>
                </a:solidFill>
              </a:rPr>
              <a:t>Claim Localsearch and Oneflare profiles</a:t>
            </a:r>
            <a:endParaRPr lang="en-US" sz="900" dirty="0"/>
          </a:p>
        </p:txBody>
      </p:sp>
      <p:sp>
        <p:nvSpPr>
          <p:cNvPr id="62" name="Shape 60"/>
          <p:cNvSpPr/>
          <p:nvPr/>
        </p:nvSpPr>
        <p:spPr>
          <a:xfrm>
            <a:off x="4837176" y="4096512"/>
            <a:ext cx="109728" cy="109728"/>
          </a:xfrm>
          <a:prstGeom prst="rect">
            <a:avLst/>
          </a:prstGeom>
          <a:solidFill>
            <a:srgbClr val="16A34A"/>
          </a:solidFill>
          <a:ln/>
        </p:spPr>
      </p:sp>
      <p:sp>
        <p:nvSpPr>
          <p:cNvPr id="63" name="Text 61"/>
          <p:cNvSpPr/>
          <p:nvPr/>
        </p:nvSpPr>
        <p:spPr>
          <a:xfrm>
            <a:off x="5020056" y="4069080"/>
            <a:ext cx="3840480" cy="219456"/>
          </a:xfrm>
          <a:prstGeom prst="rect">
            <a:avLst/>
          </a:prstGeom>
          <a:noFill/>
          <a:ln/>
        </p:spPr>
        <p:txBody>
          <a:bodyPr wrap="square" lIns="0" tIns="0" rIns="0" bIns="0" rtlCol="0" anchor="ctr"/>
          <a:lstStyle/>
          <a:p>
            <a:pPr indent="0" marL="0">
              <a:buNone/>
            </a:pPr>
            <a:r>
              <a:rPr lang="en-US" sz="900" dirty="0">
                <a:solidFill>
                  <a:srgbClr val="1E293B"/>
                </a:solidFill>
              </a:rPr>
              <a:t>Create Hipages listing</a:t>
            </a:r>
            <a:endParaRPr lang="en-US" sz="900" dirty="0"/>
          </a:p>
        </p:txBody>
      </p:sp>
      <p:sp>
        <p:nvSpPr>
          <p:cNvPr id="64" name="Shape 62"/>
          <p:cNvSpPr/>
          <p:nvPr/>
        </p:nvSpPr>
        <p:spPr>
          <a:xfrm>
            <a:off x="4837176" y="4334256"/>
            <a:ext cx="109728" cy="109728"/>
          </a:xfrm>
          <a:prstGeom prst="rect">
            <a:avLst/>
          </a:prstGeom>
          <a:solidFill>
            <a:srgbClr val="16A34A"/>
          </a:solidFill>
          <a:ln/>
        </p:spPr>
      </p:sp>
      <p:sp>
        <p:nvSpPr>
          <p:cNvPr id="65" name="Text 63"/>
          <p:cNvSpPr/>
          <p:nvPr/>
        </p:nvSpPr>
        <p:spPr>
          <a:xfrm>
            <a:off x="5020056" y="4306824"/>
            <a:ext cx="3840480" cy="219456"/>
          </a:xfrm>
          <a:prstGeom prst="rect">
            <a:avLst/>
          </a:prstGeom>
          <a:noFill/>
          <a:ln/>
        </p:spPr>
        <p:txBody>
          <a:bodyPr wrap="square" lIns="0" tIns="0" rIns="0" bIns="0" rtlCol="0" anchor="ctr"/>
          <a:lstStyle/>
          <a:p>
            <a:pPr indent="0" marL="0">
              <a:buNone/>
            </a:pPr>
            <a:r>
              <a:rPr lang="en-US" sz="900" dirty="0">
                <a:solidFill>
                  <a:srgbClr val="1E293B"/>
                </a:solidFill>
              </a:rPr>
              <a:t>Create LinkedIn company page</a:t>
            </a:r>
            <a:endParaRPr lang="en-US" sz="900" dirty="0"/>
          </a:p>
        </p:txBody>
      </p:sp>
      <p:sp>
        <p:nvSpPr>
          <p:cNvPr id="66" name="Shape 64"/>
          <p:cNvSpPr/>
          <p:nvPr/>
        </p:nvSpPr>
        <p:spPr>
          <a:xfrm>
            <a:off x="4837176" y="4572000"/>
            <a:ext cx="109728" cy="109728"/>
          </a:xfrm>
          <a:prstGeom prst="rect">
            <a:avLst/>
          </a:prstGeom>
          <a:solidFill>
            <a:srgbClr val="16A34A"/>
          </a:solidFill>
          <a:ln/>
        </p:spPr>
      </p:sp>
      <p:sp>
        <p:nvSpPr>
          <p:cNvPr id="67" name="Text 65"/>
          <p:cNvSpPr/>
          <p:nvPr/>
        </p:nvSpPr>
        <p:spPr>
          <a:xfrm>
            <a:off x="5020056" y="4544568"/>
            <a:ext cx="3840480" cy="219456"/>
          </a:xfrm>
          <a:prstGeom prst="rect">
            <a:avLst/>
          </a:prstGeom>
          <a:noFill/>
          <a:ln/>
        </p:spPr>
        <p:txBody>
          <a:bodyPr wrap="square" lIns="0" tIns="0" rIns="0" bIns="0" rtlCol="0" anchor="ctr"/>
          <a:lstStyle/>
          <a:p>
            <a:pPr indent="0" marL="0">
              <a:buNone/>
            </a:pPr>
            <a:r>
              <a:rPr lang="en-US" sz="900" dirty="0">
                <a:solidFill>
                  <a:srgbClr val="1E293B"/>
                </a:solidFill>
              </a:rPr>
              <a:t>Install ShortPixel/Imagify — convert all images to WebP</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p:spPr>
      </p:sp>
      <p:sp>
        <p:nvSpPr>
          <p:cNvPr id="3" name="Text 1"/>
          <p:cNvSpPr/>
          <p:nvPr/>
        </p:nvSpPr>
        <p:spPr>
          <a:xfrm>
            <a:off x="411480" y="0"/>
            <a:ext cx="8686800" cy="594360"/>
          </a:xfrm>
          <a:prstGeom prst="rect">
            <a:avLst/>
          </a:prstGeom>
          <a:noFill/>
          <a:ln/>
        </p:spPr>
        <p:txBody>
          <a:bodyPr wrap="square" lIns="0" tIns="0" rIns="0" bIns="0" rtlCol="0" anchor="ctr"/>
          <a:lstStyle/>
          <a:p>
            <a:pPr indent="0" marL="0">
              <a:buNone/>
            </a:pPr>
            <a:r>
              <a:rPr lang="en-US" sz="1300" b="1" spc="150" kern="0" dirty="0">
                <a:solidFill>
                  <a:srgbClr val="FFFFFF"/>
                </a:solidFill>
              </a:rPr>
              <a:t>60–90 DAY ROADMAP</a:t>
            </a:r>
            <a:endParaRPr lang="en-US" sz="1300" dirty="0"/>
          </a:p>
        </p:txBody>
      </p:sp>
      <p:sp>
        <p:nvSpPr>
          <p:cNvPr id="4" name="Shape 2"/>
          <p:cNvSpPr/>
          <p:nvPr/>
        </p:nvSpPr>
        <p:spPr>
          <a:xfrm>
            <a:off x="320040" y="713232"/>
            <a:ext cx="8503920" cy="347472"/>
          </a:xfrm>
          <a:prstGeom prst="rect">
            <a:avLst/>
          </a:prstGeom>
          <a:solidFill>
            <a:srgbClr val="0891B2"/>
          </a:solidFill>
          <a:ln/>
        </p:spPr>
      </p:sp>
      <p:sp>
        <p:nvSpPr>
          <p:cNvPr id="5" name="Text 3"/>
          <p:cNvSpPr/>
          <p:nvPr/>
        </p:nvSpPr>
        <p:spPr>
          <a:xfrm>
            <a:off x="457200" y="713232"/>
            <a:ext cx="8321040" cy="347472"/>
          </a:xfrm>
          <a:prstGeom prst="rect">
            <a:avLst/>
          </a:prstGeom>
          <a:noFill/>
          <a:ln/>
        </p:spPr>
        <p:txBody>
          <a:bodyPr wrap="square" lIns="0" tIns="0" rIns="0" bIns="0" rtlCol="0" anchor="ctr"/>
          <a:lstStyle/>
          <a:p>
            <a:pPr indent="0" marL="0">
              <a:buNone/>
            </a:pPr>
            <a:r>
              <a:rPr lang="en-US" sz="1200" b="1" dirty="0">
                <a:solidFill>
                  <a:srgbClr val="FFFFFF"/>
                </a:solidFill>
              </a:rPr>
              <a:t>Month 2: Content Authority</a:t>
            </a:r>
            <a:endParaRPr lang="en-US" sz="1200" dirty="0"/>
          </a:p>
        </p:txBody>
      </p:sp>
      <p:sp>
        <p:nvSpPr>
          <p:cNvPr id="6" name="Text 4"/>
          <p:cNvSpPr/>
          <p:nvPr/>
        </p:nvSpPr>
        <p:spPr>
          <a:xfrm>
            <a:off x="502920" y="1124712"/>
            <a:ext cx="8138160" cy="256032"/>
          </a:xfrm>
          <a:prstGeom prst="rect">
            <a:avLst/>
          </a:prstGeom>
          <a:noFill/>
          <a:ln/>
        </p:spPr>
        <p:txBody>
          <a:bodyPr wrap="square" lIns="0" tIns="0" rIns="0" bIns="0" rtlCol="0" anchor="ctr"/>
          <a:lstStyle/>
          <a:p>
            <a:pPr indent="0" marL="0">
              <a:buNone/>
            </a:pPr>
            <a:r>
              <a:rPr lang="en-US" sz="1000" dirty="0">
                <a:solidFill>
                  <a:srgbClr val="1E293B"/>
                </a:solidFill>
              </a:rPr>
              <a:t>›  Publish 3 project case studies (client type, suburb, scope, outcome, photo)</a:t>
            </a:r>
            <a:endParaRPr lang="en-US" sz="1000" dirty="0"/>
          </a:p>
        </p:txBody>
      </p:sp>
      <p:sp>
        <p:nvSpPr>
          <p:cNvPr id="7" name="Text 5"/>
          <p:cNvSpPr/>
          <p:nvPr/>
        </p:nvSpPr>
        <p:spPr>
          <a:xfrm>
            <a:off x="502920" y="1394460"/>
            <a:ext cx="8138160" cy="256032"/>
          </a:xfrm>
          <a:prstGeom prst="rect">
            <a:avLst/>
          </a:prstGeom>
          <a:noFill/>
          <a:ln/>
        </p:spPr>
        <p:txBody>
          <a:bodyPr wrap="square" lIns="0" tIns="0" rIns="0" bIns="0" rtlCol="0" anchor="ctr"/>
          <a:lstStyle/>
          <a:p>
            <a:pPr indent="0" marL="0">
              <a:buNone/>
            </a:pPr>
            <a:r>
              <a:rPr lang="en-US" sz="1000" dirty="0">
                <a:solidFill>
                  <a:srgbClr val="1E293B"/>
                </a:solidFill>
              </a:rPr>
              <a:t>›  Publish 3 educational guides targeting local informational queries:</a:t>
            </a:r>
            <a:endParaRPr lang="en-US" sz="1000" dirty="0"/>
          </a:p>
        </p:txBody>
      </p:sp>
      <p:sp>
        <p:nvSpPr>
          <p:cNvPr id="8" name="Text 6"/>
          <p:cNvSpPr/>
          <p:nvPr/>
        </p:nvSpPr>
        <p:spPr>
          <a:xfrm>
            <a:off x="822960" y="1664208"/>
            <a:ext cx="7955280" cy="256032"/>
          </a:xfrm>
          <a:prstGeom prst="rect">
            <a:avLst/>
          </a:prstGeom>
          <a:noFill/>
          <a:ln/>
        </p:spPr>
        <p:txBody>
          <a:bodyPr wrap="square" lIns="0" tIns="0" rIns="0" bIns="0" rtlCol="0" anchor="ctr"/>
          <a:lstStyle/>
          <a:p>
            <a:pPr indent="0" marL="0">
              <a:buNone/>
            </a:pPr>
            <a:r>
              <a:rPr lang="en-US" sz="1000" i="1" dirty="0">
                <a:solidFill>
                  <a:srgbClr val="475569"/>
                </a:solidFill>
              </a:rPr>
              <a:t>'When does a switchboard need upgrading? A guide for NSW homeowners'</a:t>
            </a:r>
            <a:endParaRPr lang="en-US" sz="1000" dirty="0"/>
          </a:p>
        </p:txBody>
      </p:sp>
      <p:sp>
        <p:nvSpPr>
          <p:cNvPr id="9" name="Text 7"/>
          <p:cNvSpPr/>
          <p:nvPr/>
        </p:nvSpPr>
        <p:spPr>
          <a:xfrm>
            <a:off x="822960" y="1933956"/>
            <a:ext cx="7955280" cy="256032"/>
          </a:xfrm>
          <a:prstGeom prst="rect">
            <a:avLst/>
          </a:prstGeom>
          <a:noFill/>
          <a:ln/>
        </p:spPr>
        <p:txBody>
          <a:bodyPr wrap="square" lIns="0" tIns="0" rIns="0" bIns="0" rtlCol="0" anchor="ctr"/>
          <a:lstStyle/>
          <a:p>
            <a:pPr indent="0" marL="0">
              <a:buNone/>
            </a:pPr>
            <a:r>
              <a:rPr lang="en-US" sz="1000" i="1" dirty="0">
                <a:solidFill>
                  <a:srgbClr val="475569"/>
                </a:solidFill>
              </a:rPr>
              <a:t>'What is a Certificate of Compliance for Electrical Work (CCEW) and do you need one?'</a:t>
            </a:r>
            <a:endParaRPr lang="en-US" sz="1000" dirty="0"/>
          </a:p>
        </p:txBody>
      </p:sp>
      <p:sp>
        <p:nvSpPr>
          <p:cNvPr id="10" name="Text 8"/>
          <p:cNvSpPr/>
          <p:nvPr/>
        </p:nvSpPr>
        <p:spPr>
          <a:xfrm>
            <a:off x="822960" y="2203704"/>
            <a:ext cx="7955280" cy="256032"/>
          </a:xfrm>
          <a:prstGeom prst="rect">
            <a:avLst/>
          </a:prstGeom>
          <a:noFill/>
          <a:ln/>
        </p:spPr>
        <p:txBody>
          <a:bodyPr wrap="square" lIns="0" tIns="0" rIns="0" bIns="0" rtlCol="0" anchor="ctr"/>
          <a:lstStyle/>
          <a:p>
            <a:pPr indent="0" marL="0">
              <a:buNone/>
            </a:pPr>
            <a:r>
              <a:rPr lang="en-US" sz="1000" i="1" dirty="0">
                <a:solidFill>
                  <a:srgbClr val="475569"/>
                </a:solidFill>
              </a:rPr>
              <a:t>'Electrical safety for commercial tenants in Sydney: what to check before signing a lease'</a:t>
            </a:r>
            <a:endParaRPr lang="en-US" sz="1000" dirty="0"/>
          </a:p>
        </p:txBody>
      </p:sp>
      <p:sp>
        <p:nvSpPr>
          <p:cNvPr id="11" name="Text 9"/>
          <p:cNvSpPr/>
          <p:nvPr/>
        </p:nvSpPr>
        <p:spPr>
          <a:xfrm>
            <a:off x="502920" y="2473452"/>
            <a:ext cx="8138160" cy="256032"/>
          </a:xfrm>
          <a:prstGeom prst="rect">
            <a:avLst/>
          </a:prstGeom>
          <a:noFill/>
          <a:ln/>
        </p:spPr>
        <p:txBody>
          <a:bodyPr wrap="square" lIns="0" tIns="0" rIns="0" bIns="0" rtlCol="0" anchor="ctr"/>
          <a:lstStyle/>
          <a:p>
            <a:pPr indent="0" marL="0">
              <a:buNone/>
            </a:pPr>
            <a:r>
              <a:rPr lang="en-US" sz="1000" dirty="0">
                <a:solidFill>
                  <a:srgbClr val="1E293B"/>
                </a:solidFill>
              </a:rPr>
              <a:t>›  Add real team member bios to About page with qualifications and licence details</a:t>
            </a:r>
            <a:endParaRPr lang="en-US" sz="1000" dirty="0"/>
          </a:p>
        </p:txBody>
      </p:sp>
      <p:sp>
        <p:nvSpPr>
          <p:cNvPr id="12" name="Text 10"/>
          <p:cNvSpPr/>
          <p:nvPr/>
        </p:nvSpPr>
        <p:spPr>
          <a:xfrm>
            <a:off x="502920" y="2743200"/>
            <a:ext cx="8138160" cy="256032"/>
          </a:xfrm>
          <a:prstGeom prst="rect">
            <a:avLst/>
          </a:prstGeom>
          <a:noFill/>
          <a:ln/>
        </p:spPr>
        <p:txBody>
          <a:bodyPr wrap="square" lIns="0" tIns="0" rIns="0" bIns="0" rtlCol="0" anchor="ctr"/>
          <a:lstStyle/>
          <a:p>
            <a:pPr indent="0" marL="0">
              <a:buNone/>
            </a:pPr>
            <a:r>
              <a:rPr lang="en-US" sz="1000" dirty="0">
                <a:solidFill>
                  <a:srgbClr val="1E293B"/>
                </a:solidFill>
              </a:rPr>
              <a:t>›  Expand Industrial and Residential pages to 600+ words with NSW standards references (AS/NZS 3000:2018, AS/CA S009)</a:t>
            </a:r>
            <a:endParaRPr lang="en-US" sz="1000" dirty="0"/>
          </a:p>
        </p:txBody>
      </p:sp>
      <p:sp>
        <p:nvSpPr>
          <p:cNvPr id="13" name="Shape 11"/>
          <p:cNvSpPr/>
          <p:nvPr/>
        </p:nvSpPr>
        <p:spPr>
          <a:xfrm>
            <a:off x="320040" y="3090672"/>
            <a:ext cx="8503920" cy="347472"/>
          </a:xfrm>
          <a:prstGeom prst="rect">
            <a:avLst/>
          </a:prstGeom>
          <a:solidFill>
            <a:srgbClr val="16A34A"/>
          </a:solidFill>
          <a:ln/>
        </p:spPr>
      </p:sp>
      <p:sp>
        <p:nvSpPr>
          <p:cNvPr id="14" name="Text 12"/>
          <p:cNvSpPr/>
          <p:nvPr/>
        </p:nvSpPr>
        <p:spPr>
          <a:xfrm>
            <a:off x="457200" y="3090672"/>
            <a:ext cx="8321040" cy="347472"/>
          </a:xfrm>
          <a:prstGeom prst="rect">
            <a:avLst/>
          </a:prstGeom>
          <a:noFill/>
          <a:ln/>
        </p:spPr>
        <p:txBody>
          <a:bodyPr wrap="square" lIns="0" tIns="0" rIns="0" bIns="0" rtlCol="0" anchor="ctr"/>
          <a:lstStyle/>
          <a:p>
            <a:pPr indent="0" marL="0">
              <a:buNone/>
            </a:pPr>
            <a:r>
              <a:rPr lang="en-US" sz="1200" b="1" dirty="0">
                <a:solidFill>
                  <a:srgbClr val="FFFFFF"/>
                </a:solidFill>
              </a:rPr>
              <a:t>Month 3: Platform &amp; Association</a:t>
            </a:r>
            <a:endParaRPr lang="en-US" sz="1200" dirty="0"/>
          </a:p>
        </p:txBody>
      </p:sp>
      <p:sp>
        <p:nvSpPr>
          <p:cNvPr id="15" name="Text 13"/>
          <p:cNvSpPr/>
          <p:nvPr/>
        </p:nvSpPr>
        <p:spPr>
          <a:xfrm>
            <a:off x="502920" y="3502152"/>
            <a:ext cx="8138160" cy="283464"/>
          </a:xfrm>
          <a:prstGeom prst="rect">
            <a:avLst/>
          </a:prstGeom>
          <a:noFill/>
          <a:ln/>
        </p:spPr>
        <p:txBody>
          <a:bodyPr wrap="square" lIns="0" tIns="0" rIns="0" bIns="0" rtlCol="0" anchor="ctr"/>
          <a:lstStyle/>
          <a:p>
            <a:pPr indent="0" marL="0">
              <a:buNone/>
            </a:pPr>
            <a:r>
              <a:rPr lang="en-US" sz="1000" dirty="0">
                <a:solidFill>
                  <a:srgbClr val="1E293B"/>
                </a:solidFill>
              </a:rPr>
              <a:t>›  Apply for Master Electricians Australia or NECA membership — display member badge on site</a:t>
            </a:r>
            <a:endParaRPr lang="en-US" sz="1000" dirty="0"/>
          </a:p>
        </p:txBody>
      </p:sp>
      <p:sp>
        <p:nvSpPr>
          <p:cNvPr id="16" name="Text 14"/>
          <p:cNvSpPr/>
          <p:nvPr/>
        </p:nvSpPr>
        <p:spPr>
          <a:xfrm>
            <a:off x="502920" y="3803904"/>
            <a:ext cx="8138160" cy="283464"/>
          </a:xfrm>
          <a:prstGeom prst="rect">
            <a:avLst/>
          </a:prstGeom>
          <a:noFill/>
          <a:ln/>
        </p:spPr>
        <p:txBody>
          <a:bodyPr wrap="square" lIns="0" tIns="0" rIns="0" bIns="0" rtlCol="0" anchor="ctr"/>
          <a:lstStyle/>
          <a:p>
            <a:pPr indent="0" marL="0">
              <a:buNone/>
            </a:pPr>
            <a:r>
              <a:rPr lang="en-US" sz="1000" dirty="0">
                <a:solidFill>
                  <a:srgbClr val="1E293B"/>
                </a:solidFill>
              </a:rPr>
              <a:t>›  Build 50 Google Business Profile reviews — implement post-job review request workflow</a:t>
            </a:r>
            <a:endParaRPr lang="en-US" sz="1000" dirty="0"/>
          </a:p>
        </p:txBody>
      </p:sp>
      <p:sp>
        <p:nvSpPr>
          <p:cNvPr id="17" name="Text 15"/>
          <p:cNvSpPr/>
          <p:nvPr/>
        </p:nvSpPr>
        <p:spPr>
          <a:xfrm>
            <a:off x="502920" y="4105656"/>
            <a:ext cx="8138160" cy="283464"/>
          </a:xfrm>
          <a:prstGeom prst="rect">
            <a:avLst/>
          </a:prstGeom>
          <a:noFill/>
          <a:ln/>
        </p:spPr>
        <p:txBody>
          <a:bodyPr wrap="square" lIns="0" tIns="0" rIns="0" bIns="0" rtlCol="0" anchor="ctr"/>
          <a:lstStyle/>
          <a:p>
            <a:pPr indent="0" marL="0">
              <a:buNone/>
            </a:pPr>
            <a:r>
              <a:rPr lang="en-US" sz="1000" dirty="0">
                <a:solidFill>
                  <a:srgbClr val="1E293B"/>
                </a:solidFill>
              </a:rPr>
              <a:t>›  Set up ProductReview.com.au profile</a:t>
            </a:r>
            <a:endParaRPr lang="en-US" sz="1000" dirty="0"/>
          </a:p>
        </p:txBody>
      </p:sp>
      <p:sp>
        <p:nvSpPr>
          <p:cNvPr id="18" name="Text 16"/>
          <p:cNvSpPr/>
          <p:nvPr/>
        </p:nvSpPr>
        <p:spPr>
          <a:xfrm>
            <a:off x="502920" y="4407408"/>
            <a:ext cx="8138160" cy="283464"/>
          </a:xfrm>
          <a:prstGeom prst="rect">
            <a:avLst/>
          </a:prstGeom>
          <a:noFill/>
          <a:ln/>
        </p:spPr>
        <p:txBody>
          <a:bodyPr wrap="square" lIns="0" tIns="0" rIns="0" bIns="0" rtlCol="0" anchor="ctr"/>
          <a:lstStyle/>
          <a:p>
            <a:pPr indent="0" marL="0">
              <a:buNone/>
            </a:pPr>
            <a:r>
              <a:rPr lang="en-US" sz="1000" dirty="0">
                <a:solidFill>
                  <a:srgbClr val="1E293B"/>
                </a:solidFill>
              </a:rPr>
              <a:t>›  Publish first YouTube video (safety inspection or switchboard upgrade walkthrough — phone video adequate)</a:t>
            </a:r>
            <a:endParaRPr lang="en-US" sz="1000" dirty="0"/>
          </a:p>
        </p:txBody>
      </p:sp>
      <p:sp>
        <p:nvSpPr>
          <p:cNvPr id="19" name="Text 17"/>
          <p:cNvSpPr/>
          <p:nvPr/>
        </p:nvSpPr>
        <p:spPr>
          <a:xfrm>
            <a:off x="502920" y="4709160"/>
            <a:ext cx="8138160" cy="283464"/>
          </a:xfrm>
          <a:prstGeom prst="rect">
            <a:avLst/>
          </a:prstGeom>
          <a:noFill/>
          <a:ln/>
        </p:spPr>
        <p:txBody>
          <a:bodyPr wrap="square" lIns="0" tIns="0" rIns="0" bIns="0" rtlCol="0" anchor="ctr"/>
          <a:lstStyle/>
          <a:p>
            <a:pPr indent="0" marL="0">
              <a:buNone/>
            </a:pPr>
            <a:r>
              <a:rPr lang="en-US" sz="1000" dirty="0">
                <a:solidFill>
                  <a:srgbClr val="1E293B"/>
                </a:solidFill>
              </a:rPr>
              <a:t>›  Embed Google Maps and Google review widget on Contact page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891B2"/>
          </a:solidFill>
          <a:ln/>
        </p:spPr>
      </p:sp>
      <p:sp>
        <p:nvSpPr>
          <p:cNvPr id="3" name="Shape 1"/>
          <p:cNvSpPr/>
          <p:nvPr/>
        </p:nvSpPr>
        <p:spPr>
          <a:xfrm>
            <a:off x="0" y="5079492"/>
            <a:ext cx="9144000" cy="64008"/>
          </a:xfrm>
          <a:prstGeom prst="rect">
            <a:avLst/>
          </a:prstGeom>
          <a:solidFill>
            <a:srgbClr val="0891B2"/>
          </a:solidFill>
          <a:ln/>
        </p:spPr>
      </p:sp>
      <p:sp>
        <p:nvSpPr>
          <p:cNvPr id="4" name="Text 2"/>
          <p:cNvSpPr/>
          <p:nvPr/>
        </p:nvSpPr>
        <p:spPr>
          <a:xfrm>
            <a:off x="914400" y="822960"/>
            <a:ext cx="7315200" cy="384048"/>
          </a:xfrm>
          <a:prstGeom prst="rect">
            <a:avLst/>
          </a:prstGeom>
          <a:noFill/>
          <a:ln/>
        </p:spPr>
        <p:txBody>
          <a:bodyPr wrap="square" lIns="0" tIns="0" rIns="0" bIns="0" rtlCol="0" anchor="ctr"/>
          <a:lstStyle/>
          <a:p>
            <a:pPr algn="ctr" indent="0" marL="0">
              <a:buNone/>
            </a:pPr>
            <a:r>
              <a:rPr lang="en-US" sz="1100" b="1" spc="500" kern="0" dirty="0">
                <a:solidFill>
                  <a:srgbClr val="0891B2"/>
                </a:solidFill>
              </a:rPr>
              <a:t>THE OPPORTUNITY</a:t>
            </a:r>
            <a:endParaRPr lang="en-US" sz="1100" dirty="0"/>
          </a:p>
        </p:txBody>
      </p:sp>
      <p:sp>
        <p:nvSpPr>
          <p:cNvPr id="5" name="Text 3"/>
          <p:cNvSpPr/>
          <p:nvPr/>
        </p:nvSpPr>
        <p:spPr>
          <a:xfrm>
            <a:off x="731520" y="1261872"/>
            <a:ext cx="7680960" cy="822960"/>
          </a:xfrm>
          <a:prstGeom prst="rect">
            <a:avLst/>
          </a:prstGeom>
          <a:noFill/>
          <a:ln/>
        </p:spPr>
        <p:txBody>
          <a:bodyPr wrap="square" lIns="0" tIns="0" rIns="0" bIns="0" rtlCol="0" anchor="ctr"/>
          <a:lstStyle/>
          <a:p>
            <a:pPr algn="ctr" indent="0" marL="0">
              <a:buNone/>
            </a:pPr>
            <a:r>
              <a:rPr lang="en-US" sz="2200" b="1" dirty="0">
                <a:solidFill>
                  <a:srgbClr val="FFFFFF"/>
                </a:solidFill>
              </a:rPr>
              <a:t>Rohnees Electricals has everything it needs to dominate</a:t>
            </a:r>
            <a:endParaRPr lang="en-US" sz="2200" dirty="0"/>
          </a:p>
          <a:p>
            <a:pPr algn="ctr" indent="0" marL="0">
              <a:buNone/>
            </a:pPr>
            <a:r>
              <a:rPr lang="en-US" sz="2200" b="1" dirty="0">
                <a:solidFill>
                  <a:srgbClr val="FFFFFF"/>
                </a:solidFill>
              </a:rPr>
              <a:t>South West Sydney in AI search.</a:t>
            </a:r>
            <a:endParaRPr lang="en-US" sz="2200" dirty="0"/>
          </a:p>
        </p:txBody>
      </p:sp>
      <p:sp>
        <p:nvSpPr>
          <p:cNvPr id="6" name="Text 4"/>
          <p:cNvSpPr/>
          <p:nvPr/>
        </p:nvSpPr>
        <p:spPr>
          <a:xfrm>
            <a:off x="1097280" y="2194560"/>
            <a:ext cx="6949440" cy="594360"/>
          </a:xfrm>
          <a:prstGeom prst="rect">
            <a:avLst/>
          </a:prstGeom>
          <a:noFill/>
          <a:ln/>
        </p:spPr>
        <p:txBody>
          <a:bodyPr wrap="square" lIns="0" tIns="0" rIns="0" bIns="0" rtlCol="0" anchor="ctr"/>
          <a:lstStyle/>
          <a:p>
            <a:pPr algn="ctr" indent="0" marL="0">
              <a:buNone/>
            </a:pPr>
            <a:r>
              <a:rPr lang="en-US" sz="1250" dirty="0">
                <a:solidFill>
                  <a:srgbClr val="94A3B8"/>
                </a:solidFill>
              </a:rPr>
              <a:t>15 years of genuine experience. Licensed. Insured. Real reviews. Real customers.</a:t>
            </a:r>
            <a:endParaRPr lang="en-US" sz="1250" dirty="0"/>
          </a:p>
          <a:p>
            <a:pPr algn="ctr" indent="0" marL="0">
              <a:buNone/>
            </a:pPr>
            <a:r>
              <a:rPr lang="en-US" sz="1250" dirty="0">
                <a:solidFill>
                  <a:srgbClr val="94A3B8"/>
                </a:solidFill>
              </a:rPr>
              <a:t>The gap is not the business — it's the signal.</a:t>
            </a:r>
            <a:endParaRPr lang="en-US" sz="1250" dirty="0"/>
          </a:p>
        </p:txBody>
      </p:sp>
      <p:sp>
        <p:nvSpPr>
          <p:cNvPr id="7" name="Shape 5"/>
          <p:cNvSpPr/>
          <p:nvPr/>
        </p:nvSpPr>
        <p:spPr>
          <a:xfrm>
            <a:off x="822960" y="2944368"/>
            <a:ext cx="2377440" cy="1417320"/>
          </a:xfrm>
          <a:prstGeom prst="rect">
            <a:avLst/>
          </a:prstGeom>
          <a:solidFill>
            <a:srgbClr val="1A2D5A"/>
          </a:solidFill>
          <a:ln/>
        </p:spPr>
      </p:sp>
      <p:sp>
        <p:nvSpPr>
          <p:cNvPr id="8" name="Shape 6"/>
          <p:cNvSpPr/>
          <p:nvPr/>
        </p:nvSpPr>
        <p:spPr>
          <a:xfrm>
            <a:off x="822960" y="2944368"/>
            <a:ext cx="2377440" cy="64008"/>
          </a:xfrm>
          <a:prstGeom prst="rect">
            <a:avLst/>
          </a:prstGeom>
          <a:solidFill>
            <a:srgbClr val="0891B2"/>
          </a:solidFill>
          <a:ln/>
        </p:spPr>
      </p:sp>
      <p:sp>
        <p:nvSpPr>
          <p:cNvPr id="9" name="Text 7"/>
          <p:cNvSpPr/>
          <p:nvPr/>
        </p:nvSpPr>
        <p:spPr>
          <a:xfrm>
            <a:off x="822960" y="3054096"/>
            <a:ext cx="2377440" cy="320040"/>
          </a:xfrm>
          <a:prstGeom prst="rect">
            <a:avLst/>
          </a:prstGeom>
          <a:noFill/>
          <a:ln/>
        </p:spPr>
        <p:txBody>
          <a:bodyPr wrap="square" lIns="0" tIns="0" rIns="0" bIns="0" rtlCol="0" anchor="ctr"/>
          <a:lstStyle/>
          <a:p>
            <a:pPr algn="ctr" indent="0" marL="0">
              <a:buNone/>
            </a:pPr>
            <a:r>
              <a:rPr lang="en-US" sz="1300" b="1" dirty="0">
                <a:solidFill>
                  <a:srgbClr val="0891B2"/>
                </a:solidFill>
              </a:rPr>
              <a:t>Week 1–2</a:t>
            </a:r>
            <a:endParaRPr lang="en-US" sz="1300" dirty="0"/>
          </a:p>
        </p:txBody>
      </p:sp>
      <p:sp>
        <p:nvSpPr>
          <p:cNvPr id="10" name="Text 8"/>
          <p:cNvSpPr/>
          <p:nvPr/>
        </p:nvSpPr>
        <p:spPr>
          <a:xfrm>
            <a:off x="822960" y="3429000"/>
            <a:ext cx="2377440" cy="777240"/>
          </a:xfrm>
          <a:prstGeom prst="rect">
            <a:avLst/>
          </a:prstGeom>
          <a:noFill/>
          <a:ln/>
        </p:spPr>
        <p:txBody>
          <a:bodyPr wrap="square" lIns="0" tIns="0" rIns="0" bIns="0" rtlCol="0" anchor="ctr"/>
          <a:lstStyle/>
          <a:p>
            <a:pPr algn="ctr" indent="0" marL="0">
              <a:buNone/>
            </a:pPr>
            <a:r>
              <a:rPr lang="en-US" sz="1100" dirty="0">
                <a:solidFill>
                  <a:srgbClr val="FFFFFF"/>
                </a:solidFill>
              </a:rPr>
              <a:t>AI crawlers can</a:t>
            </a:r>
            <a:endParaRPr lang="en-US" sz="1100" dirty="0"/>
          </a:p>
          <a:p>
            <a:pPr algn="ctr" indent="0" marL="0">
              <a:buNone/>
            </a:pPr>
            <a:r>
              <a:rPr lang="en-US" sz="1100" dirty="0">
                <a:solidFill>
                  <a:srgbClr val="FFFFFF"/>
                </a:solidFill>
              </a:rPr>
              <a:t>read and cite the site</a:t>
            </a:r>
            <a:endParaRPr lang="en-US" sz="1100" dirty="0"/>
          </a:p>
        </p:txBody>
      </p:sp>
      <p:sp>
        <p:nvSpPr>
          <p:cNvPr id="11" name="Shape 9"/>
          <p:cNvSpPr/>
          <p:nvPr/>
        </p:nvSpPr>
        <p:spPr>
          <a:xfrm>
            <a:off x="3429000" y="2944368"/>
            <a:ext cx="2377440" cy="1417320"/>
          </a:xfrm>
          <a:prstGeom prst="rect">
            <a:avLst/>
          </a:prstGeom>
          <a:solidFill>
            <a:srgbClr val="1A2D5A"/>
          </a:solidFill>
          <a:ln/>
        </p:spPr>
      </p:sp>
      <p:sp>
        <p:nvSpPr>
          <p:cNvPr id="12" name="Shape 10"/>
          <p:cNvSpPr/>
          <p:nvPr/>
        </p:nvSpPr>
        <p:spPr>
          <a:xfrm>
            <a:off x="3429000" y="2944368"/>
            <a:ext cx="2377440" cy="64008"/>
          </a:xfrm>
          <a:prstGeom prst="rect">
            <a:avLst/>
          </a:prstGeom>
          <a:solidFill>
            <a:srgbClr val="0891B2"/>
          </a:solidFill>
          <a:ln/>
        </p:spPr>
      </p:sp>
      <p:sp>
        <p:nvSpPr>
          <p:cNvPr id="13" name="Text 11"/>
          <p:cNvSpPr/>
          <p:nvPr/>
        </p:nvSpPr>
        <p:spPr>
          <a:xfrm>
            <a:off x="3429000" y="3054096"/>
            <a:ext cx="2377440" cy="320040"/>
          </a:xfrm>
          <a:prstGeom prst="rect">
            <a:avLst/>
          </a:prstGeom>
          <a:noFill/>
          <a:ln/>
        </p:spPr>
        <p:txBody>
          <a:bodyPr wrap="square" lIns="0" tIns="0" rIns="0" bIns="0" rtlCol="0" anchor="ctr"/>
          <a:lstStyle/>
          <a:p>
            <a:pPr algn="ctr" indent="0" marL="0">
              <a:buNone/>
            </a:pPr>
            <a:r>
              <a:rPr lang="en-US" sz="1300" b="1" dirty="0">
                <a:solidFill>
                  <a:srgbClr val="0891B2"/>
                </a:solidFill>
              </a:rPr>
              <a:t>Month 2</a:t>
            </a:r>
            <a:endParaRPr lang="en-US" sz="1300" dirty="0"/>
          </a:p>
        </p:txBody>
      </p:sp>
      <p:sp>
        <p:nvSpPr>
          <p:cNvPr id="14" name="Text 12"/>
          <p:cNvSpPr/>
          <p:nvPr/>
        </p:nvSpPr>
        <p:spPr>
          <a:xfrm>
            <a:off x="3429000" y="3429000"/>
            <a:ext cx="2377440" cy="777240"/>
          </a:xfrm>
          <a:prstGeom prst="rect">
            <a:avLst/>
          </a:prstGeom>
          <a:noFill/>
          <a:ln/>
        </p:spPr>
        <p:txBody>
          <a:bodyPr wrap="square" lIns="0" tIns="0" rIns="0" bIns="0" rtlCol="0" anchor="ctr"/>
          <a:lstStyle/>
          <a:p>
            <a:pPr algn="ctr" indent="0" marL="0">
              <a:buNone/>
            </a:pPr>
            <a:r>
              <a:rPr lang="en-US" sz="1100" dirty="0">
                <a:solidFill>
                  <a:srgbClr val="FFFFFF"/>
                </a:solidFill>
              </a:rPr>
              <a:t>Content exists that</a:t>
            </a:r>
            <a:endParaRPr lang="en-US" sz="1100" dirty="0"/>
          </a:p>
          <a:p>
            <a:pPr algn="ctr" indent="0" marL="0">
              <a:buNone/>
            </a:pPr>
            <a:r>
              <a:rPr lang="en-US" sz="1100" dirty="0">
                <a:solidFill>
                  <a:srgbClr val="FFFFFF"/>
                </a:solidFill>
              </a:rPr>
              <a:t>answers real questions</a:t>
            </a:r>
            <a:endParaRPr lang="en-US" sz="1100" dirty="0"/>
          </a:p>
        </p:txBody>
      </p:sp>
      <p:sp>
        <p:nvSpPr>
          <p:cNvPr id="15" name="Shape 13"/>
          <p:cNvSpPr/>
          <p:nvPr/>
        </p:nvSpPr>
        <p:spPr>
          <a:xfrm>
            <a:off x="6035040" y="2944368"/>
            <a:ext cx="2377440" cy="1417320"/>
          </a:xfrm>
          <a:prstGeom prst="rect">
            <a:avLst/>
          </a:prstGeom>
          <a:solidFill>
            <a:srgbClr val="1A2D5A"/>
          </a:solidFill>
          <a:ln/>
        </p:spPr>
      </p:sp>
      <p:sp>
        <p:nvSpPr>
          <p:cNvPr id="16" name="Shape 14"/>
          <p:cNvSpPr/>
          <p:nvPr/>
        </p:nvSpPr>
        <p:spPr>
          <a:xfrm>
            <a:off x="6035040" y="2944368"/>
            <a:ext cx="2377440" cy="64008"/>
          </a:xfrm>
          <a:prstGeom prst="rect">
            <a:avLst/>
          </a:prstGeom>
          <a:solidFill>
            <a:srgbClr val="0891B2"/>
          </a:solidFill>
          <a:ln/>
        </p:spPr>
      </p:sp>
      <p:sp>
        <p:nvSpPr>
          <p:cNvPr id="17" name="Text 15"/>
          <p:cNvSpPr/>
          <p:nvPr/>
        </p:nvSpPr>
        <p:spPr>
          <a:xfrm>
            <a:off x="6035040" y="3054096"/>
            <a:ext cx="2377440" cy="320040"/>
          </a:xfrm>
          <a:prstGeom prst="rect">
            <a:avLst/>
          </a:prstGeom>
          <a:noFill/>
          <a:ln/>
        </p:spPr>
        <p:txBody>
          <a:bodyPr wrap="square" lIns="0" tIns="0" rIns="0" bIns="0" rtlCol="0" anchor="ctr"/>
          <a:lstStyle/>
          <a:p>
            <a:pPr algn="ctr" indent="0" marL="0">
              <a:buNone/>
            </a:pPr>
            <a:r>
              <a:rPr lang="en-US" sz="1300" b="1" dirty="0">
                <a:solidFill>
                  <a:srgbClr val="0891B2"/>
                </a:solidFill>
              </a:rPr>
              <a:t>Month 3+</a:t>
            </a:r>
            <a:endParaRPr lang="en-US" sz="1300" dirty="0"/>
          </a:p>
        </p:txBody>
      </p:sp>
      <p:sp>
        <p:nvSpPr>
          <p:cNvPr id="18" name="Text 16"/>
          <p:cNvSpPr/>
          <p:nvPr/>
        </p:nvSpPr>
        <p:spPr>
          <a:xfrm>
            <a:off x="6035040" y="3429000"/>
            <a:ext cx="2377440" cy="777240"/>
          </a:xfrm>
          <a:prstGeom prst="rect">
            <a:avLst/>
          </a:prstGeom>
          <a:noFill/>
          <a:ln/>
        </p:spPr>
        <p:txBody>
          <a:bodyPr wrap="square" lIns="0" tIns="0" rIns="0" bIns="0" rtlCol="0" anchor="ctr"/>
          <a:lstStyle/>
          <a:p>
            <a:pPr algn="ctr" indent="0" marL="0">
              <a:buNone/>
            </a:pPr>
            <a:r>
              <a:rPr lang="en-US" sz="1100" dirty="0">
                <a:solidFill>
                  <a:srgbClr val="FFFFFF"/>
                </a:solidFill>
              </a:rPr>
              <a:t>Authority signals push</a:t>
            </a:r>
            <a:endParaRPr lang="en-US" sz="1100" dirty="0"/>
          </a:p>
          <a:p>
            <a:pPr algn="ctr" indent="0" marL="0">
              <a:buNone/>
            </a:pPr>
            <a:r>
              <a:rPr lang="en-US" sz="1100" dirty="0">
                <a:solidFill>
                  <a:srgbClr val="FFFFFF"/>
                </a:solidFill>
              </a:rPr>
              <a:t>GEO score above 60</a:t>
            </a:r>
            <a:endParaRPr lang="en-US" sz="1100" dirty="0"/>
          </a:p>
        </p:txBody>
      </p:sp>
      <p:sp>
        <p:nvSpPr>
          <p:cNvPr id="19" name="Text 17"/>
          <p:cNvSpPr/>
          <p:nvPr/>
        </p:nvSpPr>
        <p:spPr>
          <a:xfrm>
            <a:off x="0" y="4773168"/>
            <a:ext cx="9144000" cy="256032"/>
          </a:xfrm>
          <a:prstGeom prst="rect">
            <a:avLst/>
          </a:prstGeom>
          <a:noFill/>
          <a:ln/>
        </p:spPr>
        <p:txBody>
          <a:bodyPr wrap="square" lIns="0" tIns="0" rIns="0" bIns="0" rtlCol="0" anchor="ctr"/>
          <a:lstStyle/>
          <a:p>
            <a:pPr algn="ctr" indent="0" marL="0">
              <a:buNone/>
            </a:pPr>
            <a:r>
              <a:rPr lang="en-US" sz="850" dirty="0">
                <a:solidFill>
                  <a:srgbClr val="4A5A7A"/>
                </a:solidFill>
              </a:rPr>
              <a:t>GEO Audit methodology v1.0  ·  11 pages analysed  ·  rohneeselectricals.com.au  ·  20 May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 Audit Report: Rohnees Electricals PTY LTD</dc:title>
  <dc:subject>PptxGenJS Presentation</dc:subject>
  <dc:creator>GEO Audit</dc:creator>
  <cp:lastModifiedBy>GEO Audit</cp:lastModifiedBy>
  <cp:revision>1</cp:revision>
  <dcterms:created xsi:type="dcterms:W3CDTF">2026-05-20T01:46:46Z</dcterms:created>
  <dcterms:modified xsi:type="dcterms:W3CDTF">2026-05-20T01:46:46Z</dcterms:modified>
</cp:coreProperties>
</file>