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9" d="100"/>
          <a:sy n="149" d="100"/>
        </p:scale>
        <p:origin x="4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0282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E4B"/>
        </a:solidFill>
        <a:effectLst/>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6537960" y="1143000"/>
            <a:ext cx="2286000" cy="2468880"/>
          </a:xfrm>
          <a:prstGeom prst="rect">
            <a:avLst/>
          </a:prstGeom>
          <a:solidFill>
            <a:srgbClr val="C0392B"/>
          </a:solidFill>
          <a:ln w="12700">
            <a:solidFill>
              <a:srgbClr val="C0392B"/>
            </a:solidFill>
            <a:prstDash val="solid"/>
          </a:ln>
          <a:effectLst>
            <a:outerShdw blurRad="101600" dist="38100" dir="8100000" algn="bl" rotWithShape="0">
              <a:srgbClr val="000000">
                <a:alpha val="12000"/>
              </a:srgbClr>
            </a:outerShdw>
          </a:effectLst>
        </p:spPr>
        <p:txBody>
          <a:bodyPr/>
          <a:lstStyle/>
          <a:p>
            <a:endParaRPr lang="en-US"/>
          </a:p>
        </p:txBody>
      </p:sp>
      <p:sp>
        <p:nvSpPr>
          <p:cNvPr id="4" name="Text 2"/>
          <p:cNvSpPr/>
          <p:nvPr/>
        </p:nvSpPr>
        <p:spPr>
          <a:xfrm>
            <a:off x="6537960" y="1325880"/>
            <a:ext cx="2286000" cy="1371600"/>
          </a:xfrm>
          <a:prstGeom prst="rect">
            <a:avLst/>
          </a:prstGeom>
          <a:noFill/>
          <a:ln/>
        </p:spPr>
        <p:txBody>
          <a:bodyPr wrap="square" rtlCol="0" anchor="ctr"/>
          <a:lstStyle/>
          <a:p>
            <a:pPr marL="0" indent="0" algn="ctr">
              <a:buNone/>
            </a:pPr>
            <a:r>
              <a:rPr lang="en-US" sz="8000" b="1" dirty="0">
                <a:solidFill>
                  <a:srgbClr val="FFFFFF"/>
                </a:solidFill>
                <a:latin typeface="Calibri" pitchFamily="34" charset="0"/>
                <a:ea typeface="Calibri" pitchFamily="34" charset="-122"/>
                <a:cs typeface="Calibri" pitchFamily="34" charset="-120"/>
              </a:rPr>
              <a:t>28</a:t>
            </a:r>
            <a:endParaRPr lang="en-US" sz="8000" dirty="0"/>
          </a:p>
        </p:txBody>
      </p:sp>
      <p:sp>
        <p:nvSpPr>
          <p:cNvPr id="5" name="Text 3"/>
          <p:cNvSpPr/>
          <p:nvPr/>
        </p:nvSpPr>
        <p:spPr>
          <a:xfrm>
            <a:off x="6537960" y="2651760"/>
            <a:ext cx="2286000" cy="411480"/>
          </a:xfrm>
          <a:prstGeom prst="rect">
            <a:avLst/>
          </a:prstGeom>
          <a:noFill/>
          <a:ln/>
        </p:spPr>
        <p:txBody>
          <a:bodyPr wrap="square" rtlCol="0" anchor="ctr"/>
          <a:lstStyle/>
          <a:p>
            <a:pPr marL="0" indent="0" algn="ctr">
              <a:buNone/>
            </a:pPr>
            <a:r>
              <a:rPr lang="en-US" sz="2200" dirty="0">
                <a:solidFill>
                  <a:srgbClr val="FFFFFF"/>
                </a:solidFill>
                <a:latin typeface="Calibri" pitchFamily="34" charset="0"/>
                <a:ea typeface="Calibri" pitchFamily="34" charset="-122"/>
                <a:cs typeface="Calibri" pitchFamily="34" charset="-120"/>
              </a:rPr>
              <a:t>/100</a:t>
            </a:r>
            <a:endParaRPr lang="en-US" sz="2200" dirty="0"/>
          </a:p>
        </p:txBody>
      </p:sp>
      <p:sp>
        <p:nvSpPr>
          <p:cNvPr id="6" name="Text 4"/>
          <p:cNvSpPr/>
          <p:nvPr/>
        </p:nvSpPr>
        <p:spPr>
          <a:xfrm>
            <a:off x="6537960" y="3063240"/>
            <a:ext cx="2286000" cy="365760"/>
          </a:xfrm>
          <a:prstGeom prst="rect">
            <a:avLst/>
          </a:prstGeom>
          <a:noFill/>
          <a:ln/>
        </p:spPr>
        <p:txBody>
          <a:bodyPr wrap="square"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CRITICAL</a:t>
            </a:r>
            <a:endParaRPr lang="en-US" sz="1200" dirty="0"/>
          </a:p>
        </p:txBody>
      </p:sp>
      <p:sp>
        <p:nvSpPr>
          <p:cNvPr id="7" name="Shape 5"/>
          <p:cNvSpPr/>
          <p:nvPr/>
        </p:nvSpPr>
        <p:spPr>
          <a:xfrm>
            <a:off x="6812280" y="3456432"/>
            <a:ext cx="1737360" cy="36576"/>
          </a:xfrm>
          <a:prstGeom prst="rect">
            <a:avLst/>
          </a:prstGeom>
          <a:solidFill>
            <a:srgbClr val="FF8080"/>
          </a:solidFill>
          <a:ln w="12700">
            <a:solidFill>
              <a:srgbClr val="FF8080"/>
            </a:solidFill>
            <a:prstDash val="solid"/>
          </a:ln>
        </p:spPr>
        <p:txBody>
          <a:bodyPr/>
          <a:lstStyle/>
          <a:p>
            <a:endParaRPr lang="en-US"/>
          </a:p>
        </p:txBody>
      </p:sp>
      <p:sp>
        <p:nvSpPr>
          <p:cNvPr id="8" name="Text 6"/>
          <p:cNvSpPr/>
          <p:nvPr/>
        </p:nvSpPr>
        <p:spPr>
          <a:xfrm>
            <a:off x="530352" y="914400"/>
            <a:ext cx="5760720" cy="438912"/>
          </a:xfrm>
          <a:prstGeom prst="rect">
            <a:avLst/>
          </a:prstGeom>
          <a:noFill/>
          <a:ln/>
        </p:spPr>
        <p:txBody>
          <a:bodyPr wrap="square" lIns="0" tIns="0" rIns="0" bIns="0" rtlCol="0" anchor="ctr"/>
          <a:lstStyle/>
          <a:p>
            <a:pPr marL="0" indent="0">
              <a:buNone/>
            </a:pPr>
            <a:r>
              <a:rPr lang="en-US" sz="1300" b="1" kern="0" spc="400" dirty="0">
                <a:solidFill>
                  <a:srgbClr val="BDC3C7"/>
                </a:solidFill>
                <a:latin typeface="Calibri" pitchFamily="34" charset="0"/>
                <a:ea typeface="Calibri" pitchFamily="34" charset="-122"/>
                <a:cs typeface="Calibri" pitchFamily="34" charset="-120"/>
              </a:rPr>
              <a:t>GEO AUDIT REPORT</a:t>
            </a:r>
            <a:endParaRPr lang="en-US" sz="1300" dirty="0"/>
          </a:p>
        </p:txBody>
      </p:sp>
      <p:sp>
        <p:nvSpPr>
          <p:cNvPr id="9" name="Text 7"/>
          <p:cNvSpPr/>
          <p:nvPr/>
        </p:nvSpPr>
        <p:spPr>
          <a:xfrm>
            <a:off x="530352" y="1353312"/>
            <a:ext cx="5760720" cy="164592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KMH Training &amp;</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Consultancy Australia</a:t>
            </a:r>
            <a:endParaRPr lang="en-US" sz="3400" dirty="0"/>
          </a:p>
        </p:txBody>
      </p:sp>
      <p:sp>
        <p:nvSpPr>
          <p:cNvPr id="10" name="Text 8"/>
          <p:cNvSpPr/>
          <p:nvPr/>
        </p:nvSpPr>
        <p:spPr>
          <a:xfrm>
            <a:off x="530352" y="3035808"/>
            <a:ext cx="5760720" cy="347472"/>
          </a:xfrm>
          <a:prstGeom prst="rect">
            <a:avLst/>
          </a:prstGeom>
          <a:noFill/>
          <a:ln/>
        </p:spPr>
        <p:txBody>
          <a:bodyPr wrap="square" lIns="0" tIns="0" rIns="0" bIns="0" rtlCol="0" anchor="ctr"/>
          <a:lstStyle/>
          <a:p>
            <a:pPr marL="0" indent="0">
              <a:buNone/>
            </a:pPr>
            <a:r>
              <a:rPr lang="en-US" sz="1400" dirty="0">
                <a:solidFill>
                  <a:srgbClr val="BDC3C7"/>
                </a:solidFill>
                <a:latin typeface="Calibri" pitchFamily="34" charset="0"/>
                <a:ea typeface="Calibri" pitchFamily="34" charset="-122"/>
                <a:cs typeface="Calibri" pitchFamily="34" charset="-120"/>
              </a:rPr>
              <a:t>kmhconsultancy.com.au</a:t>
            </a:r>
            <a:endParaRPr lang="en-US" sz="1400" dirty="0"/>
          </a:p>
        </p:txBody>
      </p:sp>
      <p:sp>
        <p:nvSpPr>
          <p:cNvPr id="11" name="Shape 9"/>
          <p:cNvSpPr/>
          <p:nvPr/>
        </p:nvSpPr>
        <p:spPr>
          <a:xfrm>
            <a:off x="530352" y="4160520"/>
            <a:ext cx="8138160" cy="0"/>
          </a:xfrm>
          <a:prstGeom prst="line">
            <a:avLst/>
          </a:prstGeom>
          <a:noFill/>
          <a:ln w="12700">
            <a:solidFill>
              <a:srgbClr val="3D5A80"/>
            </a:solidFill>
            <a:prstDash val="solid"/>
          </a:ln>
        </p:spPr>
        <p:txBody>
          <a:bodyPr/>
          <a:lstStyle/>
          <a:p>
            <a:endParaRPr lang="en-US"/>
          </a:p>
        </p:txBody>
      </p:sp>
      <p:sp>
        <p:nvSpPr>
          <p:cNvPr id="12" name="Text 10"/>
          <p:cNvSpPr/>
          <p:nvPr/>
        </p:nvSpPr>
        <p:spPr>
          <a:xfrm>
            <a:off x="530352" y="4251960"/>
            <a:ext cx="8138160" cy="502920"/>
          </a:xfrm>
          <a:prstGeom prst="rect">
            <a:avLst/>
          </a:prstGeom>
          <a:noFill/>
          <a:ln/>
        </p:spPr>
        <p:txBody>
          <a:bodyPr wrap="square" rtlCol="0" anchor="ctr"/>
          <a:lstStyle/>
          <a:p>
            <a:pPr marL="0" indent="0">
              <a:buNone/>
            </a:pPr>
            <a:r>
              <a:rPr lang="en-US" sz="950" dirty="0">
                <a:solidFill>
                  <a:srgbClr val="95A5A6"/>
                </a:solidFill>
                <a:latin typeface="Calibri" pitchFamily="34" charset="0"/>
                <a:ea typeface="Calibri" pitchFamily="34" charset="-122"/>
                <a:cs typeface="Calibri" pitchFamily="34" charset="-120"/>
              </a:rPr>
              <a:t>Audit Date: 19 May 2026  |  Pages Analysed: 20 of 40  |  Business Type: RPL Consultancy, Trade Licensing, Education  |  5-Agent Parallel Analysis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2E4B"/>
          </a:solidFill>
          <a:ln w="12700">
            <a:solidFill>
              <a:srgbClr val="1B2E4B"/>
            </a:solidFill>
            <a:prstDash val="solid"/>
          </a:ln>
        </p:spPr>
        <p:txBody>
          <a:bodyPr/>
          <a:lstStyle/>
          <a:p>
            <a:endParaRPr lang="en-US"/>
          </a:p>
        </p:txBody>
      </p:sp>
      <p:sp>
        <p:nvSpPr>
          <p:cNvPr id="3" name="Shape 1"/>
          <p:cNvSpPr/>
          <p:nvPr/>
        </p:nvSpPr>
        <p:spPr>
          <a:xfrm>
            <a:off x="0" y="0"/>
            <a:ext cx="256032" cy="566928"/>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438912" y="0"/>
            <a:ext cx="8412480" cy="56692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Executive Summary</a:t>
            </a:r>
            <a:endParaRPr lang="en-US" sz="1800" dirty="0"/>
          </a:p>
        </p:txBody>
      </p:sp>
      <p:sp>
        <p:nvSpPr>
          <p:cNvPr id="5" name="Shape 3"/>
          <p:cNvSpPr/>
          <p:nvPr/>
        </p:nvSpPr>
        <p:spPr>
          <a:xfrm>
            <a:off x="292608" y="713232"/>
            <a:ext cx="8558784" cy="914400"/>
          </a:xfrm>
          <a:prstGeom prst="rect">
            <a:avLst/>
          </a:prstGeom>
          <a:solidFill>
            <a:srgbClr val="FDF2F2"/>
          </a:solidFill>
          <a:ln w="12700">
            <a:solidFill>
              <a:srgbClr val="C0392B"/>
            </a:solidFill>
            <a:prstDash val="solid"/>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475488" y="768096"/>
            <a:ext cx="8229600" cy="804672"/>
          </a:xfrm>
          <a:prstGeom prst="rect">
            <a:avLst/>
          </a:prstGeom>
          <a:noFill/>
          <a:ln/>
        </p:spPr>
        <p:txBody>
          <a:bodyPr wrap="square" rtlCol="0" anchor="ctr"/>
          <a:lstStyle/>
          <a:p>
            <a:pPr marL="0" indent="0">
              <a:buNone/>
            </a:pPr>
            <a:r>
              <a:rPr lang="en-US" sz="1250" i="1" dirty="0">
                <a:solidFill>
                  <a:srgbClr val="2C3E50"/>
                </a:solidFill>
                <a:latin typeface="Calibri" pitchFamily="34" charset="0"/>
                <a:ea typeface="Calibri" pitchFamily="34" charset="-122"/>
                <a:cs typeface="Calibri" pitchFamily="34" charset="-120"/>
              </a:rPr>
              <a:t>KMH is effectively invisible to AI systems (ChatGPT, Claude, Perplexity, Gemini) — every major signal AI uses to discover, trust, and cite a business is absent or critically underbuilt.</a:t>
            </a:r>
            <a:endParaRPr lang="en-US" sz="1250" dirty="0"/>
          </a:p>
        </p:txBody>
      </p:sp>
      <p:sp>
        <p:nvSpPr>
          <p:cNvPr id="7" name="Shape 5"/>
          <p:cNvSpPr/>
          <p:nvPr/>
        </p:nvSpPr>
        <p:spPr>
          <a:xfrm>
            <a:off x="292608" y="1755648"/>
            <a:ext cx="2743200" cy="2926080"/>
          </a:xfrm>
          <a:prstGeom prst="rect">
            <a:avLst/>
          </a:prstGeom>
          <a:solidFill>
            <a:srgbClr val="FFFFFF"/>
          </a:solidFill>
          <a:ln w="12700">
            <a:solidFill>
              <a:srgbClr val="E8EDF2"/>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292608" y="1755648"/>
            <a:ext cx="2743200" cy="182880"/>
          </a:xfrm>
          <a:prstGeom prst="rect">
            <a:avLst/>
          </a:prstGeom>
          <a:solidFill>
            <a:srgbClr val="C0392B"/>
          </a:solidFill>
          <a:ln w="12700">
            <a:solidFill>
              <a:srgbClr val="C0392B"/>
            </a:solidFill>
            <a:prstDash val="solid"/>
          </a:ln>
        </p:spPr>
        <p:txBody>
          <a:bodyPr/>
          <a:lstStyle/>
          <a:p>
            <a:endParaRPr lang="en-US"/>
          </a:p>
        </p:txBody>
      </p:sp>
      <p:sp>
        <p:nvSpPr>
          <p:cNvPr id="9" name="Text 7"/>
          <p:cNvSpPr/>
          <p:nvPr/>
        </p:nvSpPr>
        <p:spPr>
          <a:xfrm>
            <a:off x="457200" y="1993392"/>
            <a:ext cx="2423160" cy="438912"/>
          </a:xfrm>
          <a:prstGeom prst="rect">
            <a:avLst/>
          </a:prstGeom>
          <a:noFill/>
          <a:ln/>
        </p:spPr>
        <p:txBody>
          <a:bodyPr wrap="square" rtlCol="0" anchor="ctr"/>
          <a:lstStyle/>
          <a:p>
            <a:pPr marL="0" indent="0">
              <a:buNone/>
            </a:pPr>
            <a:r>
              <a:rPr lang="en-US" sz="1300" b="1" dirty="0">
                <a:solidFill>
                  <a:srgbClr val="1B2E4B"/>
                </a:solidFill>
                <a:latin typeface="Calibri" pitchFamily="34" charset="0"/>
                <a:ea typeface="Calibri" pitchFamily="34" charset="-122"/>
                <a:cs typeface="Calibri" pitchFamily="34" charset="-120"/>
              </a:rPr>
              <a:t>Biggest Gap</a:t>
            </a:r>
            <a:endParaRPr lang="en-US" sz="1300" dirty="0"/>
          </a:p>
        </p:txBody>
      </p:sp>
      <p:sp>
        <p:nvSpPr>
          <p:cNvPr id="10" name="Text 8"/>
          <p:cNvSpPr/>
          <p:nvPr/>
        </p:nvSpPr>
        <p:spPr>
          <a:xfrm>
            <a:off x="457200" y="2487168"/>
            <a:ext cx="2423160" cy="2011680"/>
          </a:xfrm>
          <a:prstGeom prst="rect">
            <a:avLst/>
          </a:prstGeom>
          <a:noFill/>
          <a:ln/>
        </p:spPr>
        <p:txBody>
          <a:bodyPr wrap="square" rtlCol="0" anchor="ctr"/>
          <a:lstStyle/>
          <a:p>
            <a:pPr marL="0" indent="0">
              <a:buNone/>
            </a:pPr>
            <a:r>
              <a:rPr lang="en-US" sz="1150" dirty="0">
                <a:solidFill>
                  <a:srgbClr val="2C3E50"/>
                </a:solidFill>
                <a:latin typeface="Calibri" pitchFamily="34" charset="0"/>
                <a:ea typeface="Calibri" pitchFamily="34" charset="-122"/>
                <a:cs typeface="Calibri" pitchFamily="34" charset="-120"/>
              </a:rPr>
              <a:t>Zero structured data across all 20 pages. Rank Math is installed but has never been configured.</a:t>
            </a:r>
            <a:endParaRPr lang="en-US" sz="1150" dirty="0"/>
          </a:p>
        </p:txBody>
      </p:sp>
      <p:sp>
        <p:nvSpPr>
          <p:cNvPr id="11" name="Shape 9"/>
          <p:cNvSpPr/>
          <p:nvPr/>
        </p:nvSpPr>
        <p:spPr>
          <a:xfrm>
            <a:off x="3154680" y="1755648"/>
            <a:ext cx="2743200" cy="2926080"/>
          </a:xfrm>
          <a:prstGeom prst="rect">
            <a:avLst/>
          </a:prstGeom>
          <a:solidFill>
            <a:srgbClr val="FFFFFF"/>
          </a:solidFill>
          <a:ln w="12700">
            <a:solidFill>
              <a:srgbClr val="E8EDF2"/>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3154680" y="1755648"/>
            <a:ext cx="2743200" cy="182880"/>
          </a:xfrm>
          <a:prstGeom prst="rect">
            <a:avLst/>
          </a:prstGeom>
          <a:solidFill>
            <a:srgbClr val="1E7B3A"/>
          </a:solidFill>
          <a:ln w="12700">
            <a:solidFill>
              <a:srgbClr val="1E7B3A"/>
            </a:solidFill>
            <a:prstDash val="solid"/>
          </a:ln>
        </p:spPr>
        <p:txBody>
          <a:bodyPr/>
          <a:lstStyle/>
          <a:p>
            <a:endParaRPr lang="en-US"/>
          </a:p>
        </p:txBody>
      </p:sp>
      <p:sp>
        <p:nvSpPr>
          <p:cNvPr id="13" name="Text 11"/>
          <p:cNvSpPr/>
          <p:nvPr/>
        </p:nvSpPr>
        <p:spPr>
          <a:xfrm>
            <a:off x="3319272" y="1993392"/>
            <a:ext cx="2423160" cy="438912"/>
          </a:xfrm>
          <a:prstGeom prst="rect">
            <a:avLst/>
          </a:prstGeom>
          <a:noFill/>
          <a:ln/>
        </p:spPr>
        <p:txBody>
          <a:bodyPr wrap="square" rtlCol="0" anchor="ctr"/>
          <a:lstStyle/>
          <a:p>
            <a:pPr marL="0" indent="0">
              <a:buNone/>
            </a:pPr>
            <a:r>
              <a:rPr lang="en-US" sz="1300" b="1" dirty="0">
                <a:solidFill>
                  <a:srgbClr val="1B2E4B"/>
                </a:solidFill>
                <a:latin typeface="Calibri" pitchFamily="34" charset="0"/>
                <a:ea typeface="Calibri" pitchFamily="34" charset="-122"/>
                <a:cs typeface="Calibri" pitchFamily="34" charset="-120"/>
              </a:rPr>
              <a:t>Quickest Win</a:t>
            </a:r>
            <a:endParaRPr lang="en-US" sz="1300" dirty="0"/>
          </a:p>
        </p:txBody>
      </p:sp>
      <p:sp>
        <p:nvSpPr>
          <p:cNvPr id="14" name="Text 12"/>
          <p:cNvSpPr/>
          <p:nvPr/>
        </p:nvSpPr>
        <p:spPr>
          <a:xfrm>
            <a:off x="3319272" y="2487168"/>
            <a:ext cx="2423160" cy="2011680"/>
          </a:xfrm>
          <a:prstGeom prst="rect">
            <a:avLst/>
          </a:prstGeom>
          <a:noFill/>
          <a:ln/>
        </p:spPr>
        <p:txBody>
          <a:bodyPr wrap="square" rtlCol="0" anchor="ctr"/>
          <a:lstStyle/>
          <a:p>
            <a:pPr marL="0" indent="0">
              <a:buNone/>
            </a:pPr>
            <a:r>
              <a:rPr lang="en-US" sz="1150" dirty="0">
                <a:solidFill>
                  <a:srgbClr val="2C3E50"/>
                </a:solidFill>
                <a:latin typeface="Calibri" pitchFamily="34" charset="0"/>
                <a:ea typeface="Calibri" pitchFamily="34" charset="-122"/>
                <a:cs typeface="Calibri" pitchFamily="34" charset="-120"/>
              </a:rPr>
              <a:t>Rank Math schema + llms.txt + Google Business Profile = estimated +15–20 points in a single day.</a:t>
            </a:r>
            <a:endParaRPr lang="en-US" sz="1150" dirty="0"/>
          </a:p>
        </p:txBody>
      </p:sp>
      <p:sp>
        <p:nvSpPr>
          <p:cNvPr id="15" name="Shape 13"/>
          <p:cNvSpPr/>
          <p:nvPr/>
        </p:nvSpPr>
        <p:spPr>
          <a:xfrm>
            <a:off x="6016752" y="1755648"/>
            <a:ext cx="2743200" cy="2926080"/>
          </a:xfrm>
          <a:prstGeom prst="rect">
            <a:avLst/>
          </a:prstGeom>
          <a:solidFill>
            <a:srgbClr val="FFFFFF"/>
          </a:solidFill>
          <a:ln w="12700">
            <a:solidFill>
              <a:srgbClr val="E8EDF2"/>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6016752" y="1755648"/>
            <a:ext cx="2743200" cy="182880"/>
          </a:xfrm>
          <a:prstGeom prst="rect">
            <a:avLst/>
          </a:prstGeom>
          <a:solidFill>
            <a:srgbClr val="D4820A"/>
          </a:solidFill>
          <a:ln w="12700">
            <a:solidFill>
              <a:srgbClr val="D4820A"/>
            </a:solidFill>
            <a:prstDash val="solid"/>
          </a:ln>
        </p:spPr>
        <p:txBody>
          <a:bodyPr/>
          <a:lstStyle/>
          <a:p>
            <a:endParaRPr lang="en-US"/>
          </a:p>
        </p:txBody>
      </p:sp>
      <p:sp>
        <p:nvSpPr>
          <p:cNvPr id="17" name="Text 15"/>
          <p:cNvSpPr/>
          <p:nvPr/>
        </p:nvSpPr>
        <p:spPr>
          <a:xfrm>
            <a:off x="6181344" y="1993392"/>
            <a:ext cx="2423160" cy="438912"/>
          </a:xfrm>
          <a:prstGeom prst="rect">
            <a:avLst/>
          </a:prstGeom>
          <a:noFill/>
          <a:ln/>
        </p:spPr>
        <p:txBody>
          <a:bodyPr wrap="square" rtlCol="0" anchor="ctr"/>
          <a:lstStyle/>
          <a:p>
            <a:pPr marL="0" indent="0">
              <a:buNone/>
            </a:pPr>
            <a:r>
              <a:rPr lang="en-US" sz="1300" b="1" dirty="0">
                <a:solidFill>
                  <a:srgbClr val="1B2E4B"/>
                </a:solidFill>
                <a:latin typeface="Calibri" pitchFamily="34" charset="0"/>
                <a:ea typeface="Calibri" pitchFamily="34" charset="-122"/>
                <a:cs typeface="Calibri" pitchFamily="34" charset="-120"/>
              </a:rPr>
              <a:t>Root Cause</a:t>
            </a:r>
            <a:endParaRPr lang="en-US" sz="1300" dirty="0"/>
          </a:p>
        </p:txBody>
      </p:sp>
      <p:sp>
        <p:nvSpPr>
          <p:cNvPr id="18" name="Text 16"/>
          <p:cNvSpPr/>
          <p:nvPr/>
        </p:nvSpPr>
        <p:spPr>
          <a:xfrm>
            <a:off x="6181344" y="2487168"/>
            <a:ext cx="2423160" cy="2011680"/>
          </a:xfrm>
          <a:prstGeom prst="rect">
            <a:avLst/>
          </a:prstGeom>
          <a:noFill/>
          <a:ln/>
        </p:spPr>
        <p:txBody>
          <a:bodyPr wrap="square" rtlCol="0" anchor="ctr"/>
          <a:lstStyle/>
          <a:p>
            <a:pPr marL="0" indent="0">
              <a:buNone/>
            </a:pPr>
            <a:r>
              <a:rPr lang="en-US" sz="1150" dirty="0">
                <a:solidFill>
                  <a:srgbClr val="2C3E50"/>
                </a:solidFill>
                <a:latin typeface="Calibri" pitchFamily="34" charset="0"/>
                <a:ea typeface="Calibri" pitchFamily="34" charset="-122"/>
                <a:cs typeface="Calibri" pitchFamily="34" charset="-120"/>
              </a:rPr>
              <a:t>AI crawlers CAN reach the site — access is open. But every signal they look for once they arrive is missing.</a:t>
            </a:r>
            <a:endParaRPr lang="en-US" sz="1150" dirty="0"/>
          </a:p>
        </p:txBody>
      </p:sp>
      <p:sp>
        <p:nvSpPr>
          <p:cNvPr id="19" name="Shape 17"/>
          <p:cNvSpPr/>
          <p:nvPr/>
        </p:nvSpPr>
        <p:spPr>
          <a:xfrm>
            <a:off x="0" y="4773168"/>
            <a:ext cx="9144000" cy="370332"/>
          </a:xfrm>
          <a:prstGeom prst="rect">
            <a:avLst/>
          </a:prstGeom>
          <a:solidFill>
            <a:srgbClr val="1B2E4B"/>
          </a:solidFill>
          <a:ln w="12700">
            <a:solidFill>
              <a:srgbClr val="1B2E4B"/>
            </a:solidFill>
            <a:prstDash val="solid"/>
          </a:ln>
        </p:spPr>
        <p:txBody>
          <a:bodyPr/>
          <a:lstStyle/>
          <a:p>
            <a:endParaRPr lang="en-US"/>
          </a:p>
        </p:txBody>
      </p:sp>
      <p:sp>
        <p:nvSpPr>
          <p:cNvPr id="20" name="Text 18"/>
          <p:cNvSpPr/>
          <p:nvPr/>
        </p:nvSpPr>
        <p:spPr>
          <a:xfrm>
            <a:off x="292608" y="4791456"/>
            <a:ext cx="8558784" cy="329184"/>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Overall GEO Score: 28/100 — CRITICAL  |  Re-audit recommended after implementing Week 1–2 actions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2E4B"/>
          </a:solidFill>
          <a:ln w="12700">
            <a:solidFill>
              <a:srgbClr val="1B2E4B"/>
            </a:solidFill>
            <a:prstDash val="solid"/>
          </a:ln>
        </p:spPr>
        <p:txBody>
          <a:bodyPr/>
          <a:lstStyle/>
          <a:p>
            <a:endParaRPr lang="en-US"/>
          </a:p>
        </p:txBody>
      </p:sp>
      <p:sp>
        <p:nvSpPr>
          <p:cNvPr id="3" name="Shape 1"/>
          <p:cNvSpPr/>
          <p:nvPr/>
        </p:nvSpPr>
        <p:spPr>
          <a:xfrm>
            <a:off x="0" y="0"/>
            <a:ext cx="256032" cy="566928"/>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438912" y="0"/>
            <a:ext cx="8412480" cy="56692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Score Breakdown</a:t>
            </a:r>
            <a:endParaRPr lang="en-US" sz="1800" dirty="0"/>
          </a:p>
        </p:txBody>
      </p:sp>
      <p:sp>
        <p:nvSpPr>
          <p:cNvPr id="5" name="Shape 3"/>
          <p:cNvSpPr/>
          <p:nvPr/>
        </p:nvSpPr>
        <p:spPr>
          <a:xfrm>
            <a:off x="292608" y="676656"/>
            <a:ext cx="8558784" cy="384048"/>
          </a:xfrm>
          <a:prstGeom prst="rect">
            <a:avLst/>
          </a:prstGeom>
          <a:solidFill>
            <a:srgbClr val="1B2E4B"/>
          </a:solidFill>
          <a:ln w="12700">
            <a:solidFill>
              <a:srgbClr val="1B2E4B"/>
            </a:solidFill>
            <a:prstDash val="solid"/>
          </a:ln>
        </p:spPr>
        <p:txBody>
          <a:bodyPr/>
          <a:lstStyle/>
          <a:p>
            <a:endParaRPr lang="en-US"/>
          </a:p>
        </p:txBody>
      </p:sp>
      <p:sp>
        <p:nvSpPr>
          <p:cNvPr id="6" name="Text 4"/>
          <p:cNvSpPr/>
          <p:nvPr/>
        </p:nvSpPr>
        <p:spPr>
          <a:xfrm>
            <a:off x="438912" y="694944"/>
            <a:ext cx="34747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p>
        </p:txBody>
      </p:sp>
      <p:sp>
        <p:nvSpPr>
          <p:cNvPr id="7" name="Text 5"/>
          <p:cNvSpPr/>
          <p:nvPr/>
        </p:nvSpPr>
        <p:spPr>
          <a:xfrm>
            <a:off x="4005072" y="694944"/>
            <a:ext cx="7772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Score</a:t>
            </a:r>
            <a:endParaRPr lang="en-US" sz="1100" dirty="0"/>
          </a:p>
        </p:txBody>
      </p:sp>
      <p:sp>
        <p:nvSpPr>
          <p:cNvPr id="8" name="Text 6"/>
          <p:cNvSpPr/>
          <p:nvPr/>
        </p:nvSpPr>
        <p:spPr>
          <a:xfrm>
            <a:off x="4892040" y="694944"/>
            <a:ext cx="7772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Weight</a:t>
            </a:r>
            <a:endParaRPr lang="en-US" sz="1100" dirty="0"/>
          </a:p>
        </p:txBody>
      </p:sp>
      <p:sp>
        <p:nvSpPr>
          <p:cNvPr id="9" name="Text 7"/>
          <p:cNvSpPr/>
          <p:nvPr/>
        </p:nvSpPr>
        <p:spPr>
          <a:xfrm>
            <a:off x="5760720" y="694944"/>
            <a:ext cx="86868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Weighted</a:t>
            </a:r>
            <a:endParaRPr lang="en-US" sz="1100" dirty="0"/>
          </a:p>
        </p:txBody>
      </p:sp>
      <p:sp>
        <p:nvSpPr>
          <p:cNvPr id="10" name="Text 8"/>
          <p:cNvSpPr/>
          <p:nvPr/>
        </p:nvSpPr>
        <p:spPr>
          <a:xfrm>
            <a:off x="6720840" y="694944"/>
            <a:ext cx="17373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Visual</a:t>
            </a:r>
            <a:endParaRPr lang="en-US" sz="1100" dirty="0"/>
          </a:p>
        </p:txBody>
      </p:sp>
      <p:sp>
        <p:nvSpPr>
          <p:cNvPr id="11" name="Shape 9"/>
          <p:cNvSpPr/>
          <p:nvPr/>
        </p:nvSpPr>
        <p:spPr>
          <a:xfrm>
            <a:off x="292608" y="1097280"/>
            <a:ext cx="8558784" cy="512064"/>
          </a:xfrm>
          <a:prstGeom prst="rect">
            <a:avLst/>
          </a:prstGeom>
          <a:solidFill>
            <a:srgbClr val="FFFFFF"/>
          </a:solidFill>
          <a:ln w="12700">
            <a:solidFill>
              <a:srgbClr val="D8DDE3"/>
            </a:solidFill>
            <a:prstDash val="solid"/>
          </a:ln>
        </p:spPr>
        <p:txBody>
          <a:bodyPr/>
          <a:lstStyle/>
          <a:p>
            <a:endParaRPr lang="en-US"/>
          </a:p>
        </p:txBody>
      </p:sp>
      <p:sp>
        <p:nvSpPr>
          <p:cNvPr id="12" name="Text 10"/>
          <p:cNvSpPr/>
          <p:nvPr/>
        </p:nvSpPr>
        <p:spPr>
          <a:xfrm>
            <a:off x="438912" y="1097280"/>
            <a:ext cx="3429000" cy="51206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AI Citability</a:t>
            </a:r>
            <a:endParaRPr lang="en-US" sz="1200" dirty="0"/>
          </a:p>
        </p:txBody>
      </p:sp>
      <p:sp>
        <p:nvSpPr>
          <p:cNvPr id="13" name="Text 11"/>
          <p:cNvSpPr/>
          <p:nvPr/>
        </p:nvSpPr>
        <p:spPr>
          <a:xfrm>
            <a:off x="3886200" y="1097280"/>
            <a:ext cx="914400" cy="512064"/>
          </a:xfrm>
          <a:prstGeom prst="rect">
            <a:avLst/>
          </a:prstGeom>
          <a:noFill/>
          <a:ln/>
        </p:spPr>
        <p:txBody>
          <a:bodyPr wrap="square" lIns="0" tIns="0" rIns="0" bIns="0" rtlCol="0" anchor="ctr"/>
          <a:lstStyle/>
          <a:p>
            <a:pPr marL="0" indent="0" algn="ctr">
              <a:buNone/>
            </a:pPr>
            <a:r>
              <a:rPr lang="en-US" sz="1300" b="1" dirty="0">
                <a:solidFill>
                  <a:srgbClr val="D4820A"/>
                </a:solidFill>
                <a:latin typeface="Calibri" pitchFamily="34" charset="0"/>
                <a:ea typeface="Calibri" pitchFamily="34" charset="-122"/>
                <a:cs typeface="Calibri" pitchFamily="34" charset="-120"/>
              </a:rPr>
              <a:t>38/100</a:t>
            </a:r>
            <a:endParaRPr lang="en-US" sz="1300" dirty="0"/>
          </a:p>
        </p:txBody>
      </p:sp>
      <p:sp>
        <p:nvSpPr>
          <p:cNvPr id="14" name="Text 12"/>
          <p:cNvSpPr/>
          <p:nvPr/>
        </p:nvSpPr>
        <p:spPr>
          <a:xfrm>
            <a:off x="4754880" y="1097280"/>
            <a:ext cx="914400" cy="512064"/>
          </a:xfrm>
          <a:prstGeom prst="rect">
            <a:avLst/>
          </a:prstGeom>
          <a:noFill/>
          <a:ln/>
        </p:spPr>
        <p:txBody>
          <a:bodyPr wrap="square" lIns="0" tIns="0" rIns="0" bIns="0" rtlCol="0" anchor="ctr"/>
          <a:lstStyle/>
          <a:p>
            <a:pPr marL="0" indent="0" algn="ctr">
              <a:buNone/>
            </a:pPr>
            <a:r>
              <a:rPr lang="en-US" sz="1200" dirty="0">
                <a:solidFill>
                  <a:srgbClr val="2C3E50"/>
                </a:solidFill>
                <a:latin typeface="Calibri" pitchFamily="34" charset="0"/>
                <a:ea typeface="Calibri" pitchFamily="34" charset="-122"/>
                <a:cs typeface="Calibri" pitchFamily="34" charset="-120"/>
              </a:rPr>
              <a:t>25%</a:t>
            </a:r>
            <a:endParaRPr lang="en-US" sz="1200" dirty="0"/>
          </a:p>
        </p:txBody>
      </p:sp>
      <p:sp>
        <p:nvSpPr>
          <p:cNvPr id="15" name="Text 13"/>
          <p:cNvSpPr/>
          <p:nvPr/>
        </p:nvSpPr>
        <p:spPr>
          <a:xfrm>
            <a:off x="5623560" y="1097280"/>
            <a:ext cx="1005840" cy="512064"/>
          </a:xfrm>
          <a:prstGeom prst="rect">
            <a:avLst/>
          </a:prstGeom>
          <a:noFill/>
          <a:ln/>
        </p:spPr>
        <p:txBody>
          <a:bodyPr wrap="square" lIns="0" tIns="0" rIns="0" bIns="0" rtlCol="0" anchor="ctr"/>
          <a:lstStyle/>
          <a:p>
            <a:pPr marL="0" indent="0" algn="ctr">
              <a:buNone/>
            </a:pPr>
            <a:r>
              <a:rPr lang="en-US" sz="1200" dirty="0">
                <a:solidFill>
                  <a:srgbClr val="2C3E50"/>
                </a:solidFill>
                <a:latin typeface="Calibri" pitchFamily="34" charset="0"/>
                <a:ea typeface="Calibri" pitchFamily="34" charset="-122"/>
                <a:cs typeface="Calibri" pitchFamily="34" charset="-120"/>
              </a:rPr>
              <a:t>9.50</a:t>
            </a:r>
            <a:endParaRPr lang="en-US" sz="1200" dirty="0"/>
          </a:p>
        </p:txBody>
      </p:sp>
      <p:sp>
        <p:nvSpPr>
          <p:cNvPr id="16" name="Shape 14"/>
          <p:cNvSpPr/>
          <p:nvPr/>
        </p:nvSpPr>
        <p:spPr>
          <a:xfrm>
            <a:off x="6720840" y="1225296"/>
            <a:ext cx="1691640" cy="256032"/>
          </a:xfrm>
          <a:prstGeom prst="rect">
            <a:avLst/>
          </a:prstGeom>
          <a:solidFill>
            <a:srgbClr val="E8EDF2"/>
          </a:solidFill>
          <a:ln w="12700">
            <a:solidFill>
              <a:srgbClr val="E8EDF2"/>
            </a:solidFill>
            <a:prstDash val="solid"/>
          </a:ln>
        </p:spPr>
        <p:txBody>
          <a:bodyPr/>
          <a:lstStyle/>
          <a:p>
            <a:endParaRPr lang="en-US"/>
          </a:p>
        </p:txBody>
      </p:sp>
      <p:sp>
        <p:nvSpPr>
          <p:cNvPr id="17" name="Shape 15"/>
          <p:cNvSpPr/>
          <p:nvPr/>
        </p:nvSpPr>
        <p:spPr>
          <a:xfrm>
            <a:off x="6720840" y="1225296"/>
            <a:ext cx="642823" cy="256032"/>
          </a:xfrm>
          <a:prstGeom prst="rect">
            <a:avLst/>
          </a:prstGeom>
          <a:solidFill>
            <a:srgbClr val="D4820A"/>
          </a:solidFill>
          <a:ln w="12700">
            <a:solidFill>
              <a:srgbClr val="D4820A"/>
            </a:solidFill>
            <a:prstDash val="solid"/>
          </a:ln>
        </p:spPr>
        <p:txBody>
          <a:bodyPr/>
          <a:lstStyle/>
          <a:p>
            <a:endParaRPr lang="en-US"/>
          </a:p>
        </p:txBody>
      </p:sp>
      <p:sp>
        <p:nvSpPr>
          <p:cNvPr id="18" name="Shape 16"/>
          <p:cNvSpPr/>
          <p:nvPr/>
        </p:nvSpPr>
        <p:spPr>
          <a:xfrm>
            <a:off x="292608" y="1664208"/>
            <a:ext cx="8558784" cy="512064"/>
          </a:xfrm>
          <a:prstGeom prst="rect">
            <a:avLst/>
          </a:prstGeom>
          <a:solidFill>
            <a:srgbClr val="EEF2F7"/>
          </a:solidFill>
          <a:ln w="12700">
            <a:solidFill>
              <a:srgbClr val="D8DDE3"/>
            </a:solidFill>
            <a:prstDash val="solid"/>
          </a:ln>
        </p:spPr>
        <p:txBody>
          <a:bodyPr/>
          <a:lstStyle/>
          <a:p>
            <a:endParaRPr lang="en-US"/>
          </a:p>
        </p:txBody>
      </p:sp>
      <p:sp>
        <p:nvSpPr>
          <p:cNvPr id="19" name="Text 17"/>
          <p:cNvSpPr/>
          <p:nvPr/>
        </p:nvSpPr>
        <p:spPr>
          <a:xfrm>
            <a:off x="438912" y="1664208"/>
            <a:ext cx="3429000" cy="51206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Brand Authority</a:t>
            </a:r>
            <a:endParaRPr lang="en-US" sz="1200" dirty="0"/>
          </a:p>
        </p:txBody>
      </p:sp>
      <p:sp>
        <p:nvSpPr>
          <p:cNvPr id="20" name="Text 18"/>
          <p:cNvSpPr/>
          <p:nvPr/>
        </p:nvSpPr>
        <p:spPr>
          <a:xfrm>
            <a:off x="3886200" y="1664208"/>
            <a:ext cx="914400" cy="512064"/>
          </a:xfrm>
          <a:prstGeom prst="rect">
            <a:avLst/>
          </a:prstGeom>
          <a:noFill/>
          <a:ln/>
        </p:spPr>
        <p:txBody>
          <a:bodyPr wrap="square" lIns="0" tIns="0" rIns="0" bIns="0" rtlCol="0" anchor="ctr"/>
          <a:lstStyle/>
          <a:p>
            <a:pPr marL="0" indent="0" algn="ctr">
              <a:buNone/>
            </a:pPr>
            <a:r>
              <a:rPr lang="en-US" sz="1300" b="1" dirty="0">
                <a:solidFill>
                  <a:srgbClr val="C0392B"/>
                </a:solidFill>
                <a:latin typeface="Calibri" pitchFamily="34" charset="0"/>
                <a:ea typeface="Calibri" pitchFamily="34" charset="-122"/>
                <a:cs typeface="Calibri" pitchFamily="34" charset="-120"/>
              </a:rPr>
              <a:t>22/100</a:t>
            </a:r>
            <a:endParaRPr lang="en-US" sz="1300" dirty="0"/>
          </a:p>
        </p:txBody>
      </p:sp>
      <p:sp>
        <p:nvSpPr>
          <p:cNvPr id="21" name="Text 19"/>
          <p:cNvSpPr/>
          <p:nvPr/>
        </p:nvSpPr>
        <p:spPr>
          <a:xfrm>
            <a:off x="4754880" y="1664208"/>
            <a:ext cx="914400" cy="512064"/>
          </a:xfrm>
          <a:prstGeom prst="rect">
            <a:avLst/>
          </a:prstGeom>
          <a:noFill/>
          <a:ln/>
        </p:spPr>
        <p:txBody>
          <a:bodyPr wrap="square" lIns="0" tIns="0" rIns="0" bIns="0" rtlCol="0" anchor="ctr"/>
          <a:lstStyle/>
          <a:p>
            <a:pPr marL="0" indent="0" algn="ctr">
              <a:buNone/>
            </a:pPr>
            <a:r>
              <a:rPr lang="en-US" sz="1200" dirty="0">
                <a:solidFill>
                  <a:srgbClr val="2C3E50"/>
                </a:solidFill>
                <a:latin typeface="Calibri" pitchFamily="34" charset="0"/>
                <a:ea typeface="Calibri" pitchFamily="34" charset="-122"/>
                <a:cs typeface="Calibri" pitchFamily="34" charset="-120"/>
              </a:rPr>
              <a:t>20%</a:t>
            </a:r>
            <a:endParaRPr lang="en-US" sz="1200" dirty="0"/>
          </a:p>
        </p:txBody>
      </p:sp>
      <p:sp>
        <p:nvSpPr>
          <p:cNvPr id="22" name="Text 20"/>
          <p:cNvSpPr/>
          <p:nvPr/>
        </p:nvSpPr>
        <p:spPr>
          <a:xfrm>
            <a:off x="5623560" y="1664208"/>
            <a:ext cx="1005840" cy="512064"/>
          </a:xfrm>
          <a:prstGeom prst="rect">
            <a:avLst/>
          </a:prstGeom>
          <a:noFill/>
          <a:ln/>
        </p:spPr>
        <p:txBody>
          <a:bodyPr wrap="square" lIns="0" tIns="0" rIns="0" bIns="0" rtlCol="0" anchor="ctr"/>
          <a:lstStyle/>
          <a:p>
            <a:pPr marL="0" indent="0" algn="ctr">
              <a:buNone/>
            </a:pPr>
            <a:r>
              <a:rPr lang="en-US" sz="1200" dirty="0">
                <a:solidFill>
                  <a:srgbClr val="2C3E50"/>
                </a:solidFill>
                <a:latin typeface="Calibri" pitchFamily="34" charset="0"/>
                <a:ea typeface="Calibri" pitchFamily="34" charset="-122"/>
                <a:cs typeface="Calibri" pitchFamily="34" charset="-120"/>
              </a:rPr>
              <a:t>4.40</a:t>
            </a:r>
            <a:endParaRPr lang="en-US" sz="1200" dirty="0"/>
          </a:p>
        </p:txBody>
      </p:sp>
      <p:sp>
        <p:nvSpPr>
          <p:cNvPr id="23" name="Shape 21"/>
          <p:cNvSpPr/>
          <p:nvPr/>
        </p:nvSpPr>
        <p:spPr>
          <a:xfrm>
            <a:off x="6720840" y="1792224"/>
            <a:ext cx="1691640" cy="256032"/>
          </a:xfrm>
          <a:prstGeom prst="rect">
            <a:avLst/>
          </a:prstGeom>
          <a:solidFill>
            <a:srgbClr val="E8EDF2"/>
          </a:solidFill>
          <a:ln w="12700">
            <a:solidFill>
              <a:srgbClr val="E8EDF2"/>
            </a:solidFill>
            <a:prstDash val="solid"/>
          </a:ln>
        </p:spPr>
        <p:txBody>
          <a:bodyPr/>
          <a:lstStyle/>
          <a:p>
            <a:endParaRPr lang="en-US"/>
          </a:p>
        </p:txBody>
      </p:sp>
      <p:sp>
        <p:nvSpPr>
          <p:cNvPr id="24" name="Shape 22"/>
          <p:cNvSpPr/>
          <p:nvPr/>
        </p:nvSpPr>
        <p:spPr>
          <a:xfrm>
            <a:off x="6720840" y="1792224"/>
            <a:ext cx="372161" cy="256032"/>
          </a:xfrm>
          <a:prstGeom prst="rect">
            <a:avLst/>
          </a:prstGeom>
          <a:solidFill>
            <a:srgbClr val="C0392B"/>
          </a:solidFill>
          <a:ln w="12700">
            <a:solidFill>
              <a:srgbClr val="C0392B"/>
            </a:solidFill>
            <a:prstDash val="solid"/>
          </a:ln>
        </p:spPr>
        <p:txBody>
          <a:bodyPr/>
          <a:lstStyle/>
          <a:p>
            <a:endParaRPr lang="en-US"/>
          </a:p>
        </p:txBody>
      </p:sp>
      <p:sp>
        <p:nvSpPr>
          <p:cNvPr id="25" name="Shape 23"/>
          <p:cNvSpPr/>
          <p:nvPr/>
        </p:nvSpPr>
        <p:spPr>
          <a:xfrm>
            <a:off x="292608" y="2231136"/>
            <a:ext cx="8558784" cy="512064"/>
          </a:xfrm>
          <a:prstGeom prst="rect">
            <a:avLst/>
          </a:prstGeom>
          <a:solidFill>
            <a:srgbClr val="FFFFFF"/>
          </a:solidFill>
          <a:ln w="12700">
            <a:solidFill>
              <a:srgbClr val="D8DDE3"/>
            </a:solidFill>
            <a:prstDash val="solid"/>
          </a:ln>
        </p:spPr>
        <p:txBody>
          <a:bodyPr/>
          <a:lstStyle/>
          <a:p>
            <a:endParaRPr lang="en-US"/>
          </a:p>
        </p:txBody>
      </p:sp>
      <p:sp>
        <p:nvSpPr>
          <p:cNvPr id="26" name="Text 24"/>
          <p:cNvSpPr/>
          <p:nvPr/>
        </p:nvSpPr>
        <p:spPr>
          <a:xfrm>
            <a:off x="438912" y="2231136"/>
            <a:ext cx="3429000" cy="51206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Content E-E-A-T</a:t>
            </a:r>
            <a:endParaRPr lang="en-US" sz="1200" dirty="0"/>
          </a:p>
        </p:txBody>
      </p:sp>
      <p:sp>
        <p:nvSpPr>
          <p:cNvPr id="27" name="Text 25"/>
          <p:cNvSpPr/>
          <p:nvPr/>
        </p:nvSpPr>
        <p:spPr>
          <a:xfrm>
            <a:off x="3886200" y="2231136"/>
            <a:ext cx="914400" cy="512064"/>
          </a:xfrm>
          <a:prstGeom prst="rect">
            <a:avLst/>
          </a:prstGeom>
          <a:noFill/>
          <a:ln/>
        </p:spPr>
        <p:txBody>
          <a:bodyPr wrap="square" lIns="0" tIns="0" rIns="0" bIns="0" rtlCol="0" anchor="ctr"/>
          <a:lstStyle/>
          <a:p>
            <a:pPr marL="0" indent="0" algn="ctr">
              <a:buNone/>
            </a:pPr>
            <a:r>
              <a:rPr lang="en-US" sz="1300" b="1" dirty="0">
                <a:solidFill>
                  <a:srgbClr val="C0392B"/>
                </a:solidFill>
                <a:latin typeface="Calibri" pitchFamily="34" charset="0"/>
                <a:ea typeface="Calibri" pitchFamily="34" charset="-122"/>
                <a:cs typeface="Calibri" pitchFamily="34" charset="-120"/>
              </a:rPr>
              <a:t>28/100</a:t>
            </a:r>
            <a:endParaRPr lang="en-US" sz="1300" dirty="0"/>
          </a:p>
        </p:txBody>
      </p:sp>
      <p:sp>
        <p:nvSpPr>
          <p:cNvPr id="28" name="Text 26"/>
          <p:cNvSpPr/>
          <p:nvPr/>
        </p:nvSpPr>
        <p:spPr>
          <a:xfrm>
            <a:off x="4754880" y="2231136"/>
            <a:ext cx="914400" cy="512064"/>
          </a:xfrm>
          <a:prstGeom prst="rect">
            <a:avLst/>
          </a:prstGeom>
          <a:noFill/>
          <a:ln/>
        </p:spPr>
        <p:txBody>
          <a:bodyPr wrap="square" lIns="0" tIns="0" rIns="0" bIns="0" rtlCol="0" anchor="ctr"/>
          <a:lstStyle/>
          <a:p>
            <a:pPr marL="0" indent="0" algn="ctr">
              <a:buNone/>
            </a:pPr>
            <a:r>
              <a:rPr lang="en-US" sz="1200" dirty="0">
                <a:solidFill>
                  <a:srgbClr val="2C3E50"/>
                </a:solidFill>
                <a:latin typeface="Calibri" pitchFamily="34" charset="0"/>
                <a:ea typeface="Calibri" pitchFamily="34" charset="-122"/>
                <a:cs typeface="Calibri" pitchFamily="34" charset="-120"/>
              </a:rPr>
              <a:t>20%</a:t>
            </a:r>
            <a:endParaRPr lang="en-US" sz="1200" dirty="0"/>
          </a:p>
        </p:txBody>
      </p:sp>
      <p:sp>
        <p:nvSpPr>
          <p:cNvPr id="29" name="Text 27"/>
          <p:cNvSpPr/>
          <p:nvPr/>
        </p:nvSpPr>
        <p:spPr>
          <a:xfrm>
            <a:off x="5623560" y="2231136"/>
            <a:ext cx="1005840" cy="512064"/>
          </a:xfrm>
          <a:prstGeom prst="rect">
            <a:avLst/>
          </a:prstGeom>
          <a:noFill/>
          <a:ln/>
        </p:spPr>
        <p:txBody>
          <a:bodyPr wrap="square" lIns="0" tIns="0" rIns="0" bIns="0" rtlCol="0" anchor="ctr"/>
          <a:lstStyle/>
          <a:p>
            <a:pPr marL="0" indent="0" algn="ctr">
              <a:buNone/>
            </a:pPr>
            <a:r>
              <a:rPr lang="en-US" sz="1200" dirty="0">
                <a:solidFill>
                  <a:srgbClr val="2C3E50"/>
                </a:solidFill>
                <a:latin typeface="Calibri" pitchFamily="34" charset="0"/>
                <a:ea typeface="Calibri" pitchFamily="34" charset="-122"/>
                <a:cs typeface="Calibri" pitchFamily="34" charset="-120"/>
              </a:rPr>
              <a:t>5.60</a:t>
            </a:r>
            <a:endParaRPr lang="en-US" sz="1200" dirty="0"/>
          </a:p>
        </p:txBody>
      </p:sp>
      <p:sp>
        <p:nvSpPr>
          <p:cNvPr id="30" name="Shape 28"/>
          <p:cNvSpPr/>
          <p:nvPr/>
        </p:nvSpPr>
        <p:spPr>
          <a:xfrm>
            <a:off x="6720840" y="2359152"/>
            <a:ext cx="1691640" cy="256032"/>
          </a:xfrm>
          <a:prstGeom prst="rect">
            <a:avLst/>
          </a:prstGeom>
          <a:solidFill>
            <a:srgbClr val="E8EDF2"/>
          </a:solidFill>
          <a:ln w="12700">
            <a:solidFill>
              <a:srgbClr val="E8EDF2"/>
            </a:solidFill>
            <a:prstDash val="solid"/>
          </a:ln>
        </p:spPr>
        <p:txBody>
          <a:bodyPr/>
          <a:lstStyle/>
          <a:p>
            <a:endParaRPr lang="en-US"/>
          </a:p>
        </p:txBody>
      </p:sp>
      <p:sp>
        <p:nvSpPr>
          <p:cNvPr id="31" name="Shape 29"/>
          <p:cNvSpPr/>
          <p:nvPr/>
        </p:nvSpPr>
        <p:spPr>
          <a:xfrm>
            <a:off x="6720840" y="2359152"/>
            <a:ext cx="473659" cy="256032"/>
          </a:xfrm>
          <a:prstGeom prst="rect">
            <a:avLst/>
          </a:prstGeom>
          <a:solidFill>
            <a:srgbClr val="C0392B"/>
          </a:solidFill>
          <a:ln w="12700">
            <a:solidFill>
              <a:srgbClr val="C0392B"/>
            </a:solidFill>
            <a:prstDash val="solid"/>
          </a:ln>
        </p:spPr>
        <p:txBody>
          <a:bodyPr/>
          <a:lstStyle/>
          <a:p>
            <a:endParaRPr lang="en-US"/>
          </a:p>
        </p:txBody>
      </p:sp>
      <p:sp>
        <p:nvSpPr>
          <p:cNvPr id="32" name="Shape 30"/>
          <p:cNvSpPr/>
          <p:nvPr/>
        </p:nvSpPr>
        <p:spPr>
          <a:xfrm>
            <a:off x="292608" y="2798064"/>
            <a:ext cx="8558784" cy="512064"/>
          </a:xfrm>
          <a:prstGeom prst="rect">
            <a:avLst/>
          </a:prstGeom>
          <a:solidFill>
            <a:srgbClr val="EEF2F7"/>
          </a:solidFill>
          <a:ln w="12700">
            <a:solidFill>
              <a:srgbClr val="D8DDE3"/>
            </a:solidFill>
            <a:prstDash val="solid"/>
          </a:ln>
        </p:spPr>
        <p:txBody>
          <a:bodyPr/>
          <a:lstStyle/>
          <a:p>
            <a:endParaRPr lang="en-US"/>
          </a:p>
        </p:txBody>
      </p:sp>
      <p:sp>
        <p:nvSpPr>
          <p:cNvPr id="33" name="Text 31"/>
          <p:cNvSpPr/>
          <p:nvPr/>
        </p:nvSpPr>
        <p:spPr>
          <a:xfrm>
            <a:off x="438912" y="2798064"/>
            <a:ext cx="3429000" cy="51206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Technical GEO</a:t>
            </a:r>
            <a:endParaRPr lang="en-US" sz="1200" dirty="0"/>
          </a:p>
        </p:txBody>
      </p:sp>
      <p:sp>
        <p:nvSpPr>
          <p:cNvPr id="34" name="Text 32"/>
          <p:cNvSpPr/>
          <p:nvPr/>
        </p:nvSpPr>
        <p:spPr>
          <a:xfrm>
            <a:off x="3886200" y="2798064"/>
            <a:ext cx="914400" cy="512064"/>
          </a:xfrm>
          <a:prstGeom prst="rect">
            <a:avLst/>
          </a:prstGeom>
          <a:noFill/>
          <a:ln/>
        </p:spPr>
        <p:txBody>
          <a:bodyPr wrap="square" lIns="0" tIns="0" rIns="0" bIns="0" rtlCol="0" anchor="ctr"/>
          <a:lstStyle/>
          <a:p>
            <a:pPr marL="0" indent="0" algn="ctr">
              <a:buNone/>
            </a:pPr>
            <a:r>
              <a:rPr lang="en-US" sz="1300" b="1" dirty="0">
                <a:solidFill>
                  <a:srgbClr val="D4820A"/>
                </a:solidFill>
                <a:latin typeface="Calibri" pitchFamily="34" charset="0"/>
                <a:ea typeface="Calibri" pitchFamily="34" charset="-122"/>
                <a:cs typeface="Calibri" pitchFamily="34" charset="-120"/>
              </a:rPr>
              <a:t>42/100</a:t>
            </a:r>
            <a:endParaRPr lang="en-US" sz="1300" dirty="0"/>
          </a:p>
        </p:txBody>
      </p:sp>
      <p:sp>
        <p:nvSpPr>
          <p:cNvPr id="35" name="Text 33"/>
          <p:cNvSpPr/>
          <p:nvPr/>
        </p:nvSpPr>
        <p:spPr>
          <a:xfrm>
            <a:off x="4754880" y="2798064"/>
            <a:ext cx="914400" cy="512064"/>
          </a:xfrm>
          <a:prstGeom prst="rect">
            <a:avLst/>
          </a:prstGeom>
          <a:noFill/>
          <a:ln/>
        </p:spPr>
        <p:txBody>
          <a:bodyPr wrap="square" lIns="0" tIns="0" rIns="0" bIns="0" rtlCol="0" anchor="ctr"/>
          <a:lstStyle/>
          <a:p>
            <a:pPr marL="0" indent="0" algn="ctr">
              <a:buNone/>
            </a:pPr>
            <a:r>
              <a:rPr lang="en-US" sz="1200" dirty="0">
                <a:solidFill>
                  <a:srgbClr val="2C3E50"/>
                </a:solidFill>
                <a:latin typeface="Calibri" pitchFamily="34" charset="0"/>
                <a:ea typeface="Calibri" pitchFamily="34" charset="-122"/>
                <a:cs typeface="Calibri" pitchFamily="34" charset="-120"/>
              </a:rPr>
              <a:t>15%</a:t>
            </a:r>
            <a:endParaRPr lang="en-US" sz="1200" dirty="0"/>
          </a:p>
        </p:txBody>
      </p:sp>
      <p:sp>
        <p:nvSpPr>
          <p:cNvPr id="36" name="Text 34"/>
          <p:cNvSpPr/>
          <p:nvPr/>
        </p:nvSpPr>
        <p:spPr>
          <a:xfrm>
            <a:off x="5623560" y="2798064"/>
            <a:ext cx="1005840" cy="512064"/>
          </a:xfrm>
          <a:prstGeom prst="rect">
            <a:avLst/>
          </a:prstGeom>
          <a:noFill/>
          <a:ln/>
        </p:spPr>
        <p:txBody>
          <a:bodyPr wrap="square" lIns="0" tIns="0" rIns="0" bIns="0" rtlCol="0" anchor="ctr"/>
          <a:lstStyle/>
          <a:p>
            <a:pPr marL="0" indent="0" algn="ctr">
              <a:buNone/>
            </a:pPr>
            <a:r>
              <a:rPr lang="en-US" sz="1200" dirty="0">
                <a:solidFill>
                  <a:srgbClr val="2C3E50"/>
                </a:solidFill>
                <a:latin typeface="Calibri" pitchFamily="34" charset="0"/>
                <a:ea typeface="Calibri" pitchFamily="34" charset="-122"/>
                <a:cs typeface="Calibri" pitchFamily="34" charset="-120"/>
              </a:rPr>
              <a:t>6.30</a:t>
            </a:r>
            <a:endParaRPr lang="en-US" sz="1200" dirty="0"/>
          </a:p>
        </p:txBody>
      </p:sp>
      <p:sp>
        <p:nvSpPr>
          <p:cNvPr id="37" name="Shape 35"/>
          <p:cNvSpPr/>
          <p:nvPr/>
        </p:nvSpPr>
        <p:spPr>
          <a:xfrm>
            <a:off x="6720840" y="2926080"/>
            <a:ext cx="1691640" cy="256032"/>
          </a:xfrm>
          <a:prstGeom prst="rect">
            <a:avLst/>
          </a:prstGeom>
          <a:solidFill>
            <a:srgbClr val="E8EDF2"/>
          </a:solidFill>
          <a:ln w="12700">
            <a:solidFill>
              <a:srgbClr val="E8EDF2"/>
            </a:solidFill>
            <a:prstDash val="solid"/>
          </a:ln>
        </p:spPr>
        <p:txBody>
          <a:bodyPr/>
          <a:lstStyle/>
          <a:p>
            <a:endParaRPr lang="en-US"/>
          </a:p>
        </p:txBody>
      </p:sp>
      <p:sp>
        <p:nvSpPr>
          <p:cNvPr id="38" name="Shape 36"/>
          <p:cNvSpPr/>
          <p:nvPr/>
        </p:nvSpPr>
        <p:spPr>
          <a:xfrm>
            <a:off x="6720840" y="2926080"/>
            <a:ext cx="710489" cy="256032"/>
          </a:xfrm>
          <a:prstGeom prst="rect">
            <a:avLst/>
          </a:prstGeom>
          <a:solidFill>
            <a:srgbClr val="D4820A"/>
          </a:solidFill>
          <a:ln w="12700">
            <a:solidFill>
              <a:srgbClr val="D4820A"/>
            </a:solidFill>
            <a:prstDash val="solid"/>
          </a:ln>
        </p:spPr>
        <p:txBody>
          <a:bodyPr/>
          <a:lstStyle/>
          <a:p>
            <a:endParaRPr lang="en-US"/>
          </a:p>
        </p:txBody>
      </p:sp>
      <p:sp>
        <p:nvSpPr>
          <p:cNvPr id="39" name="Shape 37"/>
          <p:cNvSpPr/>
          <p:nvPr/>
        </p:nvSpPr>
        <p:spPr>
          <a:xfrm>
            <a:off x="292608" y="3364992"/>
            <a:ext cx="8558784" cy="512064"/>
          </a:xfrm>
          <a:prstGeom prst="rect">
            <a:avLst/>
          </a:prstGeom>
          <a:solidFill>
            <a:srgbClr val="FFFFFF"/>
          </a:solidFill>
          <a:ln w="12700">
            <a:solidFill>
              <a:srgbClr val="D8DDE3"/>
            </a:solidFill>
            <a:prstDash val="solid"/>
          </a:ln>
        </p:spPr>
        <p:txBody>
          <a:bodyPr/>
          <a:lstStyle/>
          <a:p>
            <a:endParaRPr lang="en-US"/>
          </a:p>
        </p:txBody>
      </p:sp>
      <p:sp>
        <p:nvSpPr>
          <p:cNvPr id="40" name="Text 38"/>
          <p:cNvSpPr/>
          <p:nvPr/>
        </p:nvSpPr>
        <p:spPr>
          <a:xfrm>
            <a:off x="438912" y="3364992"/>
            <a:ext cx="3429000" cy="51206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Schema &amp; Structured Data</a:t>
            </a:r>
            <a:endParaRPr lang="en-US" sz="1200" dirty="0"/>
          </a:p>
        </p:txBody>
      </p:sp>
      <p:sp>
        <p:nvSpPr>
          <p:cNvPr id="41" name="Text 39"/>
          <p:cNvSpPr/>
          <p:nvPr/>
        </p:nvSpPr>
        <p:spPr>
          <a:xfrm>
            <a:off x="3886200" y="3364992"/>
            <a:ext cx="914400" cy="512064"/>
          </a:xfrm>
          <a:prstGeom prst="rect">
            <a:avLst/>
          </a:prstGeom>
          <a:noFill/>
          <a:ln/>
        </p:spPr>
        <p:txBody>
          <a:bodyPr wrap="square" lIns="0" tIns="0" rIns="0" bIns="0" rtlCol="0" anchor="ctr"/>
          <a:lstStyle/>
          <a:p>
            <a:pPr marL="0" indent="0" algn="ctr">
              <a:buNone/>
            </a:pPr>
            <a:r>
              <a:rPr lang="en-US" sz="1300" b="1" dirty="0">
                <a:solidFill>
                  <a:srgbClr val="C0392B"/>
                </a:solidFill>
                <a:latin typeface="Calibri" pitchFamily="34" charset="0"/>
                <a:ea typeface="Calibri" pitchFamily="34" charset="-122"/>
                <a:cs typeface="Calibri" pitchFamily="34" charset="-120"/>
              </a:rPr>
              <a:t>2/100</a:t>
            </a:r>
            <a:endParaRPr lang="en-US" sz="1300" dirty="0"/>
          </a:p>
        </p:txBody>
      </p:sp>
      <p:sp>
        <p:nvSpPr>
          <p:cNvPr id="42" name="Text 40"/>
          <p:cNvSpPr/>
          <p:nvPr/>
        </p:nvSpPr>
        <p:spPr>
          <a:xfrm>
            <a:off x="4754880" y="3364992"/>
            <a:ext cx="914400" cy="512064"/>
          </a:xfrm>
          <a:prstGeom prst="rect">
            <a:avLst/>
          </a:prstGeom>
          <a:noFill/>
          <a:ln/>
        </p:spPr>
        <p:txBody>
          <a:bodyPr wrap="square" lIns="0" tIns="0" rIns="0" bIns="0" rtlCol="0" anchor="ctr"/>
          <a:lstStyle/>
          <a:p>
            <a:pPr marL="0" indent="0" algn="ctr">
              <a:buNone/>
            </a:pPr>
            <a:r>
              <a:rPr lang="en-US" sz="1200" dirty="0">
                <a:solidFill>
                  <a:srgbClr val="2C3E50"/>
                </a:solidFill>
                <a:latin typeface="Calibri" pitchFamily="34" charset="0"/>
                <a:ea typeface="Calibri" pitchFamily="34" charset="-122"/>
                <a:cs typeface="Calibri" pitchFamily="34" charset="-120"/>
              </a:rPr>
              <a:t>10%</a:t>
            </a:r>
            <a:endParaRPr lang="en-US" sz="1200" dirty="0"/>
          </a:p>
        </p:txBody>
      </p:sp>
      <p:sp>
        <p:nvSpPr>
          <p:cNvPr id="43" name="Text 41"/>
          <p:cNvSpPr/>
          <p:nvPr/>
        </p:nvSpPr>
        <p:spPr>
          <a:xfrm>
            <a:off x="5623560" y="3364992"/>
            <a:ext cx="1005840" cy="512064"/>
          </a:xfrm>
          <a:prstGeom prst="rect">
            <a:avLst/>
          </a:prstGeom>
          <a:noFill/>
          <a:ln/>
        </p:spPr>
        <p:txBody>
          <a:bodyPr wrap="square" lIns="0" tIns="0" rIns="0" bIns="0" rtlCol="0" anchor="ctr"/>
          <a:lstStyle/>
          <a:p>
            <a:pPr marL="0" indent="0" algn="ctr">
              <a:buNone/>
            </a:pPr>
            <a:r>
              <a:rPr lang="en-US" sz="1200" dirty="0">
                <a:solidFill>
                  <a:srgbClr val="2C3E50"/>
                </a:solidFill>
                <a:latin typeface="Calibri" pitchFamily="34" charset="0"/>
                <a:ea typeface="Calibri" pitchFamily="34" charset="-122"/>
                <a:cs typeface="Calibri" pitchFamily="34" charset="-120"/>
              </a:rPr>
              <a:t>0.20</a:t>
            </a:r>
            <a:endParaRPr lang="en-US" sz="1200" dirty="0"/>
          </a:p>
        </p:txBody>
      </p:sp>
      <p:sp>
        <p:nvSpPr>
          <p:cNvPr id="44" name="Shape 42"/>
          <p:cNvSpPr/>
          <p:nvPr/>
        </p:nvSpPr>
        <p:spPr>
          <a:xfrm>
            <a:off x="6720840" y="3493008"/>
            <a:ext cx="1691640" cy="256032"/>
          </a:xfrm>
          <a:prstGeom prst="rect">
            <a:avLst/>
          </a:prstGeom>
          <a:solidFill>
            <a:srgbClr val="E8EDF2"/>
          </a:solidFill>
          <a:ln w="12700">
            <a:solidFill>
              <a:srgbClr val="E8EDF2"/>
            </a:solidFill>
            <a:prstDash val="solid"/>
          </a:ln>
        </p:spPr>
        <p:txBody>
          <a:bodyPr/>
          <a:lstStyle/>
          <a:p>
            <a:endParaRPr lang="en-US"/>
          </a:p>
        </p:txBody>
      </p:sp>
      <p:sp>
        <p:nvSpPr>
          <p:cNvPr id="45" name="Shape 43"/>
          <p:cNvSpPr/>
          <p:nvPr/>
        </p:nvSpPr>
        <p:spPr>
          <a:xfrm>
            <a:off x="6720840" y="3493008"/>
            <a:ext cx="54864" cy="256032"/>
          </a:xfrm>
          <a:prstGeom prst="rect">
            <a:avLst/>
          </a:prstGeom>
          <a:solidFill>
            <a:srgbClr val="C0392B"/>
          </a:solidFill>
          <a:ln w="12700">
            <a:solidFill>
              <a:srgbClr val="C0392B"/>
            </a:solidFill>
            <a:prstDash val="solid"/>
          </a:ln>
        </p:spPr>
        <p:txBody>
          <a:bodyPr/>
          <a:lstStyle/>
          <a:p>
            <a:endParaRPr lang="en-US"/>
          </a:p>
        </p:txBody>
      </p:sp>
      <p:sp>
        <p:nvSpPr>
          <p:cNvPr id="46" name="Shape 44"/>
          <p:cNvSpPr/>
          <p:nvPr/>
        </p:nvSpPr>
        <p:spPr>
          <a:xfrm>
            <a:off x="292608" y="3931920"/>
            <a:ext cx="8558784" cy="512064"/>
          </a:xfrm>
          <a:prstGeom prst="rect">
            <a:avLst/>
          </a:prstGeom>
          <a:solidFill>
            <a:srgbClr val="EEF2F7"/>
          </a:solidFill>
          <a:ln w="12700">
            <a:solidFill>
              <a:srgbClr val="D8DDE3"/>
            </a:solidFill>
            <a:prstDash val="solid"/>
          </a:ln>
        </p:spPr>
        <p:txBody>
          <a:bodyPr/>
          <a:lstStyle/>
          <a:p>
            <a:endParaRPr lang="en-US"/>
          </a:p>
        </p:txBody>
      </p:sp>
      <p:sp>
        <p:nvSpPr>
          <p:cNvPr id="47" name="Text 45"/>
          <p:cNvSpPr/>
          <p:nvPr/>
        </p:nvSpPr>
        <p:spPr>
          <a:xfrm>
            <a:off x="438912" y="3931920"/>
            <a:ext cx="3429000" cy="51206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Platform Optimization</a:t>
            </a:r>
            <a:endParaRPr lang="en-US" sz="1200" dirty="0"/>
          </a:p>
        </p:txBody>
      </p:sp>
      <p:sp>
        <p:nvSpPr>
          <p:cNvPr id="48" name="Text 46"/>
          <p:cNvSpPr/>
          <p:nvPr/>
        </p:nvSpPr>
        <p:spPr>
          <a:xfrm>
            <a:off x="3886200" y="3931920"/>
            <a:ext cx="914400" cy="512064"/>
          </a:xfrm>
          <a:prstGeom prst="rect">
            <a:avLst/>
          </a:prstGeom>
          <a:noFill/>
          <a:ln/>
        </p:spPr>
        <p:txBody>
          <a:bodyPr wrap="square" lIns="0" tIns="0" rIns="0" bIns="0" rtlCol="0" anchor="ctr"/>
          <a:lstStyle/>
          <a:p>
            <a:pPr marL="0" indent="0" algn="ctr">
              <a:buNone/>
            </a:pPr>
            <a:r>
              <a:rPr lang="en-US" sz="1300" b="1" dirty="0">
                <a:solidFill>
                  <a:srgbClr val="C0392B"/>
                </a:solidFill>
                <a:latin typeface="Calibri" pitchFamily="34" charset="0"/>
                <a:ea typeface="Calibri" pitchFamily="34" charset="-122"/>
                <a:cs typeface="Calibri" pitchFamily="34" charset="-120"/>
              </a:rPr>
              <a:t>15/100</a:t>
            </a:r>
            <a:endParaRPr lang="en-US" sz="1300" dirty="0"/>
          </a:p>
        </p:txBody>
      </p:sp>
      <p:sp>
        <p:nvSpPr>
          <p:cNvPr id="49" name="Text 47"/>
          <p:cNvSpPr/>
          <p:nvPr/>
        </p:nvSpPr>
        <p:spPr>
          <a:xfrm>
            <a:off x="4754880" y="3931920"/>
            <a:ext cx="914400" cy="512064"/>
          </a:xfrm>
          <a:prstGeom prst="rect">
            <a:avLst/>
          </a:prstGeom>
          <a:noFill/>
          <a:ln/>
        </p:spPr>
        <p:txBody>
          <a:bodyPr wrap="square" lIns="0" tIns="0" rIns="0" bIns="0" rtlCol="0" anchor="ctr"/>
          <a:lstStyle/>
          <a:p>
            <a:pPr marL="0" indent="0" algn="ctr">
              <a:buNone/>
            </a:pPr>
            <a:r>
              <a:rPr lang="en-US" sz="1200" dirty="0">
                <a:solidFill>
                  <a:srgbClr val="2C3E50"/>
                </a:solidFill>
                <a:latin typeface="Calibri" pitchFamily="34" charset="0"/>
                <a:ea typeface="Calibri" pitchFamily="34" charset="-122"/>
                <a:cs typeface="Calibri" pitchFamily="34" charset="-120"/>
              </a:rPr>
              <a:t>10%</a:t>
            </a:r>
            <a:endParaRPr lang="en-US" sz="1200" dirty="0"/>
          </a:p>
        </p:txBody>
      </p:sp>
      <p:sp>
        <p:nvSpPr>
          <p:cNvPr id="50" name="Text 48"/>
          <p:cNvSpPr/>
          <p:nvPr/>
        </p:nvSpPr>
        <p:spPr>
          <a:xfrm>
            <a:off x="5623560" y="3931920"/>
            <a:ext cx="1005840" cy="512064"/>
          </a:xfrm>
          <a:prstGeom prst="rect">
            <a:avLst/>
          </a:prstGeom>
          <a:noFill/>
          <a:ln/>
        </p:spPr>
        <p:txBody>
          <a:bodyPr wrap="square" lIns="0" tIns="0" rIns="0" bIns="0" rtlCol="0" anchor="ctr"/>
          <a:lstStyle/>
          <a:p>
            <a:pPr marL="0" indent="0" algn="ctr">
              <a:buNone/>
            </a:pPr>
            <a:r>
              <a:rPr lang="en-US" sz="1200" dirty="0">
                <a:solidFill>
                  <a:srgbClr val="2C3E50"/>
                </a:solidFill>
                <a:latin typeface="Calibri" pitchFamily="34" charset="0"/>
                <a:ea typeface="Calibri" pitchFamily="34" charset="-122"/>
                <a:cs typeface="Calibri" pitchFamily="34" charset="-120"/>
              </a:rPr>
              <a:t>1.50</a:t>
            </a:r>
            <a:endParaRPr lang="en-US" sz="1200" dirty="0"/>
          </a:p>
        </p:txBody>
      </p:sp>
      <p:sp>
        <p:nvSpPr>
          <p:cNvPr id="51" name="Shape 49"/>
          <p:cNvSpPr/>
          <p:nvPr/>
        </p:nvSpPr>
        <p:spPr>
          <a:xfrm>
            <a:off x="6720840" y="4059936"/>
            <a:ext cx="1691640" cy="256032"/>
          </a:xfrm>
          <a:prstGeom prst="rect">
            <a:avLst/>
          </a:prstGeom>
          <a:solidFill>
            <a:srgbClr val="E8EDF2"/>
          </a:solidFill>
          <a:ln w="12700">
            <a:solidFill>
              <a:srgbClr val="E8EDF2"/>
            </a:solidFill>
            <a:prstDash val="solid"/>
          </a:ln>
        </p:spPr>
        <p:txBody>
          <a:bodyPr/>
          <a:lstStyle/>
          <a:p>
            <a:endParaRPr lang="en-US"/>
          </a:p>
        </p:txBody>
      </p:sp>
      <p:sp>
        <p:nvSpPr>
          <p:cNvPr id="52" name="Shape 50"/>
          <p:cNvSpPr/>
          <p:nvPr/>
        </p:nvSpPr>
        <p:spPr>
          <a:xfrm>
            <a:off x="6720840" y="4059936"/>
            <a:ext cx="253746" cy="256032"/>
          </a:xfrm>
          <a:prstGeom prst="rect">
            <a:avLst/>
          </a:prstGeom>
          <a:solidFill>
            <a:srgbClr val="C0392B"/>
          </a:solidFill>
          <a:ln w="12700">
            <a:solidFill>
              <a:srgbClr val="C0392B"/>
            </a:solidFill>
            <a:prstDash val="solid"/>
          </a:ln>
        </p:spPr>
        <p:txBody>
          <a:bodyPr/>
          <a:lstStyle/>
          <a:p>
            <a:endParaRPr lang="en-US"/>
          </a:p>
        </p:txBody>
      </p:sp>
      <p:sp>
        <p:nvSpPr>
          <p:cNvPr id="53" name="Shape 51"/>
          <p:cNvSpPr/>
          <p:nvPr/>
        </p:nvSpPr>
        <p:spPr>
          <a:xfrm>
            <a:off x="292608" y="4498848"/>
            <a:ext cx="8558784" cy="475488"/>
          </a:xfrm>
          <a:prstGeom prst="rect">
            <a:avLst/>
          </a:prstGeom>
          <a:solidFill>
            <a:srgbClr val="1B2E4B"/>
          </a:solidFill>
          <a:ln w="12700">
            <a:solidFill>
              <a:srgbClr val="1B2E4B"/>
            </a:solidFill>
            <a:prstDash val="solid"/>
          </a:ln>
        </p:spPr>
        <p:txBody>
          <a:bodyPr/>
          <a:lstStyle/>
          <a:p>
            <a:endParaRPr lang="en-US"/>
          </a:p>
        </p:txBody>
      </p:sp>
      <p:sp>
        <p:nvSpPr>
          <p:cNvPr id="54" name="Text 52"/>
          <p:cNvSpPr/>
          <p:nvPr/>
        </p:nvSpPr>
        <p:spPr>
          <a:xfrm>
            <a:off x="438912" y="4498848"/>
            <a:ext cx="3429000" cy="47548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OVERALL GEO SCORE</a:t>
            </a:r>
            <a:endParaRPr lang="en-US" sz="1200" dirty="0"/>
          </a:p>
        </p:txBody>
      </p:sp>
      <p:sp>
        <p:nvSpPr>
          <p:cNvPr id="55" name="Text 53"/>
          <p:cNvSpPr/>
          <p:nvPr/>
        </p:nvSpPr>
        <p:spPr>
          <a:xfrm>
            <a:off x="3886200" y="4498848"/>
            <a:ext cx="914400" cy="475488"/>
          </a:xfrm>
          <a:prstGeom prst="rect">
            <a:avLst/>
          </a:prstGeom>
          <a:noFill/>
          <a:ln/>
        </p:spPr>
        <p:txBody>
          <a:bodyPr wrap="square" lIns="0" tIns="0" rIns="0" bIns="0" rtlCol="0" anchor="ctr"/>
          <a:lstStyle/>
          <a:p>
            <a:pPr marL="0" indent="0" algn="ctr">
              <a:buNone/>
            </a:pPr>
            <a:r>
              <a:rPr lang="en-US" sz="1400" b="1" dirty="0">
                <a:solidFill>
                  <a:srgbClr val="C0392B"/>
                </a:solidFill>
                <a:latin typeface="Calibri" pitchFamily="34" charset="0"/>
                <a:ea typeface="Calibri" pitchFamily="34" charset="-122"/>
                <a:cs typeface="Calibri" pitchFamily="34" charset="-120"/>
              </a:rPr>
              <a:t>28 / 100</a:t>
            </a:r>
            <a:endParaRPr lang="en-US" sz="1400" dirty="0"/>
          </a:p>
        </p:txBody>
      </p:sp>
      <p:sp>
        <p:nvSpPr>
          <p:cNvPr id="56" name="Text 54"/>
          <p:cNvSpPr/>
          <p:nvPr/>
        </p:nvSpPr>
        <p:spPr>
          <a:xfrm>
            <a:off x="5394960" y="4498848"/>
            <a:ext cx="1371600" cy="475488"/>
          </a:xfrm>
          <a:prstGeom prst="rect">
            <a:avLst/>
          </a:prstGeom>
          <a:noFill/>
          <a:ln/>
        </p:spPr>
        <p:txBody>
          <a:bodyPr wrap="square" lIns="0" tIns="0" rIns="0" bIns="0" rtlCol="0" anchor="ctr"/>
          <a:lstStyle/>
          <a:p>
            <a:pPr marL="0" indent="0" algn="ctr">
              <a:buNone/>
            </a:pPr>
            <a:r>
              <a:rPr lang="en-US" sz="1100" b="1" kern="0" spc="200" dirty="0">
                <a:solidFill>
                  <a:srgbClr val="C0392B"/>
                </a:solidFill>
                <a:latin typeface="Calibri" pitchFamily="34" charset="0"/>
                <a:ea typeface="Calibri" pitchFamily="34" charset="-122"/>
                <a:cs typeface="Calibri" pitchFamily="34" charset="-120"/>
              </a:rPr>
              <a:t>CRITICAL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E4B"/>
        </a:solidFill>
        <a:effectLst/>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C0392B"/>
          </a:solidFill>
          <a:ln w="12700">
            <a:solidFill>
              <a:srgbClr val="C0392B"/>
            </a:solidFill>
            <a:prstDash val="solid"/>
          </a:ln>
        </p:spPr>
        <p:txBody>
          <a:bodyPr/>
          <a:lstStyle/>
          <a:p>
            <a:endParaRPr lang="en-US"/>
          </a:p>
        </p:txBody>
      </p:sp>
      <p:sp>
        <p:nvSpPr>
          <p:cNvPr id="3" name="Text 1"/>
          <p:cNvSpPr/>
          <p:nvPr/>
        </p:nvSpPr>
        <p:spPr>
          <a:xfrm>
            <a:off x="530352" y="822960"/>
            <a:ext cx="6400800" cy="457200"/>
          </a:xfrm>
          <a:prstGeom prst="rect">
            <a:avLst/>
          </a:prstGeom>
          <a:noFill/>
          <a:ln/>
        </p:spPr>
        <p:txBody>
          <a:bodyPr wrap="square" lIns="0" tIns="0" rIns="0" bIns="0" rtlCol="0" anchor="ctr"/>
          <a:lstStyle/>
          <a:p>
            <a:pPr marL="0" indent="0">
              <a:buNone/>
            </a:pPr>
            <a:r>
              <a:rPr lang="en-US" sz="1300" b="1" kern="0" spc="400" dirty="0">
                <a:solidFill>
                  <a:srgbClr val="BDC3C7"/>
                </a:solidFill>
                <a:latin typeface="Calibri" pitchFamily="34" charset="0"/>
                <a:ea typeface="Calibri" pitchFamily="34" charset="-122"/>
                <a:cs typeface="Calibri" pitchFamily="34" charset="-120"/>
              </a:rPr>
              <a:t>CRITICAL ISSUES</a:t>
            </a:r>
            <a:endParaRPr lang="en-US" sz="1300" dirty="0"/>
          </a:p>
        </p:txBody>
      </p:sp>
      <p:sp>
        <p:nvSpPr>
          <p:cNvPr id="4" name="Text 2"/>
          <p:cNvSpPr/>
          <p:nvPr/>
        </p:nvSpPr>
        <p:spPr>
          <a:xfrm>
            <a:off x="530352" y="1280160"/>
            <a:ext cx="6400800" cy="118872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Fix Immediately</a:t>
            </a:r>
            <a:endParaRPr lang="en-US" sz="4600" dirty="0"/>
          </a:p>
        </p:txBody>
      </p:sp>
      <p:sp>
        <p:nvSpPr>
          <p:cNvPr id="5" name="Text 3"/>
          <p:cNvSpPr/>
          <p:nvPr/>
        </p:nvSpPr>
        <p:spPr>
          <a:xfrm>
            <a:off x="530352" y="2542032"/>
            <a:ext cx="6309360" cy="685800"/>
          </a:xfrm>
          <a:prstGeom prst="rect">
            <a:avLst/>
          </a:prstGeom>
          <a:noFill/>
          <a:ln/>
        </p:spPr>
        <p:txBody>
          <a:bodyPr wrap="square" lIns="0" tIns="0" rIns="0" bIns="0" rtlCol="0" anchor="ctr"/>
          <a:lstStyle/>
          <a:p>
            <a:pPr marL="0" indent="0">
              <a:buNone/>
            </a:pPr>
            <a:r>
              <a:rPr lang="en-US" sz="1400" dirty="0">
                <a:solidFill>
                  <a:srgbClr val="BDC3C7"/>
                </a:solidFill>
                <a:latin typeface="Calibri" pitchFamily="34" charset="0"/>
                <a:ea typeface="Calibri" pitchFamily="34" charset="-122"/>
                <a:cs typeface="Calibri" pitchFamily="34" charset="-120"/>
              </a:rPr>
              <a:t>These 5 gaps are actively preventing AI discovery of KMH. Each has a concrete fix that can be implemented within a day.</a:t>
            </a:r>
            <a:endParaRPr lang="en-US" sz="1400" dirty="0"/>
          </a:p>
        </p:txBody>
      </p:sp>
      <p:sp>
        <p:nvSpPr>
          <p:cNvPr id="6" name="Shape 4"/>
          <p:cNvSpPr/>
          <p:nvPr/>
        </p:nvSpPr>
        <p:spPr>
          <a:xfrm>
            <a:off x="7086600" y="1280160"/>
            <a:ext cx="1828800" cy="1828800"/>
          </a:xfrm>
          <a:prstGeom prst="ellipse">
            <a:avLst/>
          </a:prstGeom>
          <a:solidFill>
            <a:srgbClr val="C0392B"/>
          </a:solidFill>
          <a:ln w="12700">
            <a:solidFill>
              <a:srgbClr val="C0392B"/>
            </a:solidFill>
            <a:prstDash val="solid"/>
          </a:ln>
          <a:effectLst>
            <a:outerShdw blurRad="101600" dist="38100" dir="8100000" algn="bl" rotWithShape="0">
              <a:srgbClr val="000000">
                <a:alpha val="12000"/>
              </a:srgbClr>
            </a:outerShdw>
          </a:effectLst>
        </p:spPr>
        <p:txBody>
          <a:bodyPr/>
          <a:lstStyle/>
          <a:p>
            <a:endParaRPr lang="en-US"/>
          </a:p>
        </p:txBody>
      </p:sp>
      <p:sp>
        <p:nvSpPr>
          <p:cNvPr id="7" name="Text 5"/>
          <p:cNvSpPr/>
          <p:nvPr/>
        </p:nvSpPr>
        <p:spPr>
          <a:xfrm>
            <a:off x="7086600" y="1444752"/>
            <a:ext cx="1828800" cy="1005840"/>
          </a:xfrm>
          <a:prstGeom prst="rect">
            <a:avLst/>
          </a:prstGeom>
          <a:noFill/>
          <a:ln/>
        </p:spPr>
        <p:txBody>
          <a:bodyPr wrap="square" rtlCol="0" anchor="ctr"/>
          <a:lstStyle/>
          <a:p>
            <a:pPr marL="0" indent="0" algn="ctr">
              <a:buNone/>
            </a:pPr>
            <a:r>
              <a:rPr lang="en-US" sz="6800" b="1" dirty="0">
                <a:solidFill>
                  <a:srgbClr val="FFFFFF"/>
                </a:solidFill>
                <a:latin typeface="Calibri" pitchFamily="34" charset="0"/>
                <a:ea typeface="Calibri" pitchFamily="34" charset="-122"/>
                <a:cs typeface="Calibri" pitchFamily="34" charset="-120"/>
              </a:rPr>
              <a:t>5</a:t>
            </a:r>
            <a:endParaRPr lang="en-US" sz="6800" dirty="0"/>
          </a:p>
        </p:txBody>
      </p:sp>
      <p:sp>
        <p:nvSpPr>
          <p:cNvPr id="8" name="Text 6"/>
          <p:cNvSpPr/>
          <p:nvPr/>
        </p:nvSpPr>
        <p:spPr>
          <a:xfrm>
            <a:off x="7086600" y="2487168"/>
            <a:ext cx="1828800" cy="365760"/>
          </a:xfrm>
          <a:prstGeom prst="rect">
            <a:avLst/>
          </a:prstGeom>
          <a:noFill/>
          <a:ln/>
        </p:spPr>
        <p:txBody>
          <a:bodyPr wrap="square" rtlCol="0" anchor="ctr"/>
          <a:lstStyle/>
          <a:p>
            <a:pPr marL="0" indent="0" algn="ctr">
              <a:buNone/>
            </a:pPr>
            <a:r>
              <a:rPr lang="en-US" sz="1000" kern="0" spc="200" dirty="0">
                <a:solidFill>
                  <a:srgbClr val="FFFFFF"/>
                </a:solidFill>
                <a:latin typeface="Calibri" pitchFamily="34" charset="0"/>
                <a:ea typeface="Calibri" pitchFamily="34" charset="-122"/>
                <a:cs typeface="Calibri" pitchFamily="34" charset="-120"/>
              </a:rPr>
              <a:t>CRITICAL</a:t>
            </a:r>
            <a:endParaRPr lang="en-US" sz="1000" dirty="0"/>
          </a:p>
        </p:txBody>
      </p:sp>
      <p:sp>
        <p:nvSpPr>
          <p:cNvPr id="9" name="Shape 7"/>
          <p:cNvSpPr/>
          <p:nvPr/>
        </p:nvSpPr>
        <p:spPr>
          <a:xfrm>
            <a:off x="530352" y="4480560"/>
            <a:ext cx="8138160" cy="0"/>
          </a:xfrm>
          <a:prstGeom prst="line">
            <a:avLst/>
          </a:prstGeom>
          <a:noFill/>
          <a:ln w="12700">
            <a:solidFill>
              <a:srgbClr val="3D5A80"/>
            </a:solidFill>
            <a:prstDash val="solid"/>
          </a:ln>
        </p:spPr>
        <p:txBody>
          <a:bodyPr/>
          <a:lstStyle/>
          <a:p>
            <a:endParaRPr lang="en-US"/>
          </a:p>
        </p:txBody>
      </p:sp>
      <p:sp>
        <p:nvSpPr>
          <p:cNvPr id="10" name="Text 8"/>
          <p:cNvSpPr/>
          <p:nvPr/>
        </p:nvSpPr>
        <p:spPr>
          <a:xfrm>
            <a:off x="530352" y="4572000"/>
            <a:ext cx="8138160" cy="365760"/>
          </a:xfrm>
          <a:prstGeom prst="rect">
            <a:avLst/>
          </a:prstGeom>
          <a:noFill/>
          <a:ln/>
        </p:spPr>
        <p:txBody>
          <a:bodyPr wrap="square" rtlCol="0" anchor="ctr"/>
          <a:lstStyle/>
          <a:p>
            <a:pPr marL="0" indent="0">
              <a:buNone/>
            </a:pPr>
            <a:r>
              <a:rPr lang="en-US" sz="1100" dirty="0">
                <a:solidFill>
                  <a:srgbClr val="95A5A6"/>
                </a:solidFill>
                <a:latin typeface="Calibri" pitchFamily="34" charset="0"/>
                <a:ea typeface="Calibri" pitchFamily="34" charset="-122"/>
                <a:cs typeface="Calibri" pitchFamily="34" charset="-120"/>
              </a:rPr>
              <a:t>Estimated score impact from fixing issues 1–3 alone: +10–14 points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2E4B"/>
          </a:solidFill>
          <a:ln w="12700">
            <a:solidFill>
              <a:srgbClr val="1B2E4B"/>
            </a:solidFill>
            <a:prstDash val="solid"/>
          </a:ln>
        </p:spPr>
        <p:txBody>
          <a:bodyPr/>
          <a:lstStyle/>
          <a:p>
            <a:endParaRPr lang="en-US"/>
          </a:p>
        </p:txBody>
      </p:sp>
      <p:sp>
        <p:nvSpPr>
          <p:cNvPr id="3" name="Shape 1"/>
          <p:cNvSpPr/>
          <p:nvPr/>
        </p:nvSpPr>
        <p:spPr>
          <a:xfrm>
            <a:off x="0" y="0"/>
            <a:ext cx="256032" cy="566928"/>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438912" y="0"/>
            <a:ext cx="8412480" cy="56692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Critical Issues — Fix Immediately</a:t>
            </a:r>
            <a:endParaRPr lang="en-US" sz="1800" dirty="0"/>
          </a:p>
        </p:txBody>
      </p:sp>
      <p:sp>
        <p:nvSpPr>
          <p:cNvPr id="5" name="Shape 3"/>
          <p:cNvSpPr/>
          <p:nvPr/>
        </p:nvSpPr>
        <p:spPr>
          <a:xfrm>
            <a:off x="274320" y="749808"/>
            <a:ext cx="2743200" cy="2029968"/>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274320" y="749808"/>
            <a:ext cx="384048" cy="2029968"/>
          </a:xfrm>
          <a:prstGeom prst="rect">
            <a:avLst/>
          </a:prstGeom>
          <a:solidFill>
            <a:srgbClr val="C0392B"/>
          </a:solidFill>
          <a:ln w="12700">
            <a:solidFill>
              <a:srgbClr val="C0392B"/>
            </a:solidFill>
            <a:prstDash val="solid"/>
          </a:ln>
        </p:spPr>
        <p:txBody>
          <a:bodyPr/>
          <a:lstStyle/>
          <a:p>
            <a:endParaRPr lang="en-US"/>
          </a:p>
        </p:txBody>
      </p:sp>
      <p:sp>
        <p:nvSpPr>
          <p:cNvPr id="7" name="Text 5"/>
          <p:cNvSpPr/>
          <p:nvPr/>
        </p:nvSpPr>
        <p:spPr>
          <a:xfrm>
            <a:off x="274320" y="1499616"/>
            <a:ext cx="384048" cy="53035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749808" y="841248"/>
            <a:ext cx="2176272" cy="548640"/>
          </a:xfrm>
          <a:prstGeom prst="rect">
            <a:avLst/>
          </a:prstGeom>
          <a:noFill/>
          <a:ln/>
        </p:spPr>
        <p:txBody>
          <a:bodyPr wrap="square" rtlCol="0" anchor="ctr"/>
          <a:lstStyle/>
          <a:p>
            <a:pPr marL="0" indent="0">
              <a:buNone/>
            </a:pPr>
            <a:r>
              <a:rPr lang="en-US" sz="1050" b="1" dirty="0">
                <a:solidFill>
                  <a:srgbClr val="1B2E4B"/>
                </a:solidFill>
                <a:latin typeface="Calibri" pitchFamily="34" charset="0"/>
                <a:ea typeface="Calibri" pitchFamily="34" charset="-122"/>
                <a:cs typeface="Calibri" pitchFamily="34" charset="-120"/>
              </a:rPr>
              <a:t>Zero Schema Markup Sitewide</a:t>
            </a:r>
            <a:endParaRPr lang="en-US" sz="1050" dirty="0"/>
          </a:p>
        </p:txBody>
      </p:sp>
      <p:sp>
        <p:nvSpPr>
          <p:cNvPr id="9" name="Text 7"/>
          <p:cNvSpPr/>
          <p:nvPr/>
        </p:nvSpPr>
        <p:spPr>
          <a:xfrm>
            <a:off x="749808" y="1408176"/>
            <a:ext cx="2176272" cy="1280160"/>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All 20 pages: no JSON-LD, Microdata, or RDFa. Rank Math is installed but never configured. Fix: 30-min Rank Math setup → Organization + LocalBusiness schema live sitewide.</a:t>
            </a:r>
            <a:endParaRPr lang="en-US" sz="950" dirty="0"/>
          </a:p>
        </p:txBody>
      </p:sp>
      <p:sp>
        <p:nvSpPr>
          <p:cNvPr id="10" name="Shape 8"/>
          <p:cNvSpPr/>
          <p:nvPr/>
        </p:nvSpPr>
        <p:spPr>
          <a:xfrm>
            <a:off x="3154680" y="749808"/>
            <a:ext cx="2743200" cy="2029968"/>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3154680" y="749808"/>
            <a:ext cx="384048" cy="2029968"/>
          </a:xfrm>
          <a:prstGeom prst="rect">
            <a:avLst/>
          </a:prstGeom>
          <a:solidFill>
            <a:srgbClr val="C0392B"/>
          </a:solidFill>
          <a:ln w="12700">
            <a:solidFill>
              <a:srgbClr val="C0392B"/>
            </a:solidFill>
            <a:prstDash val="solid"/>
          </a:ln>
        </p:spPr>
        <p:txBody>
          <a:bodyPr/>
          <a:lstStyle/>
          <a:p>
            <a:endParaRPr lang="en-US"/>
          </a:p>
        </p:txBody>
      </p:sp>
      <p:sp>
        <p:nvSpPr>
          <p:cNvPr id="12" name="Text 10"/>
          <p:cNvSpPr/>
          <p:nvPr/>
        </p:nvSpPr>
        <p:spPr>
          <a:xfrm>
            <a:off x="3154680" y="1499616"/>
            <a:ext cx="384048" cy="53035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3630168" y="841248"/>
            <a:ext cx="2176272" cy="548640"/>
          </a:xfrm>
          <a:prstGeom prst="rect">
            <a:avLst/>
          </a:prstGeom>
          <a:noFill/>
          <a:ln/>
        </p:spPr>
        <p:txBody>
          <a:bodyPr wrap="square" rtlCol="0" anchor="ctr"/>
          <a:lstStyle/>
          <a:p>
            <a:pPr marL="0" indent="0">
              <a:buNone/>
            </a:pPr>
            <a:r>
              <a:rPr lang="en-US" sz="1050" b="1" dirty="0">
                <a:solidFill>
                  <a:srgbClr val="1B2E4B"/>
                </a:solidFill>
                <a:latin typeface="Calibri" pitchFamily="34" charset="0"/>
                <a:ea typeface="Calibri" pitchFamily="34" charset="-122"/>
                <a:cs typeface="Calibri" pitchFamily="34" charset="-120"/>
              </a:rPr>
              <a:t>No llms.txt File</a:t>
            </a:r>
            <a:endParaRPr lang="en-US" sz="1050" dirty="0"/>
          </a:p>
        </p:txBody>
      </p:sp>
      <p:sp>
        <p:nvSpPr>
          <p:cNvPr id="14" name="Text 12"/>
          <p:cNvSpPr/>
          <p:nvPr/>
        </p:nvSpPr>
        <p:spPr>
          <a:xfrm>
            <a:off x="3630168" y="1408176"/>
            <a:ext cx="2176272" cy="1280160"/>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/llms.txt returns 404. This is the primary GEO-specific file AI assistants (Perplexity, Claude) check first. Fix: upload the ready-to-use template — 30 minutes.</a:t>
            </a:r>
            <a:endParaRPr lang="en-US" sz="950" dirty="0"/>
          </a:p>
        </p:txBody>
      </p:sp>
      <p:sp>
        <p:nvSpPr>
          <p:cNvPr id="15" name="Shape 13"/>
          <p:cNvSpPr/>
          <p:nvPr/>
        </p:nvSpPr>
        <p:spPr>
          <a:xfrm>
            <a:off x="6035040" y="749808"/>
            <a:ext cx="2743200" cy="2029968"/>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6035040" y="749808"/>
            <a:ext cx="384048" cy="2029968"/>
          </a:xfrm>
          <a:prstGeom prst="rect">
            <a:avLst/>
          </a:prstGeom>
          <a:solidFill>
            <a:srgbClr val="C0392B"/>
          </a:solidFill>
          <a:ln w="12700">
            <a:solidFill>
              <a:srgbClr val="C0392B"/>
            </a:solidFill>
            <a:prstDash val="solid"/>
          </a:ln>
        </p:spPr>
        <p:txBody>
          <a:bodyPr/>
          <a:lstStyle/>
          <a:p>
            <a:endParaRPr lang="en-US"/>
          </a:p>
        </p:txBody>
      </p:sp>
      <p:sp>
        <p:nvSpPr>
          <p:cNvPr id="17" name="Text 15"/>
          <p:cNvSpPr/>
          <p:nvPr/>
        </p:nvSpPr>
        <p:spPr>
          <a:xfrm>
            <a:off x="6035040" y="1499616"/>
            <a:ext cx="384048" cy="53035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6"/>
          <p:cNvSpPr/>
          <p:nvPr/>
        </p:nvSpPr>
        <p:spPr>
          <a:xfrm>
            <a:off x="6510528" y="841248"/>
            <a:ext cx="2176272" cy="548640"/>
          </a:xfrm>
          <a:prstGeom prst="rect">
            <a:avLst/>
          </a:prstGeom>
          <a:noFill/>
          <a:ln/>
        </p:spPr>
        <p:txBody>
          <a:bodyPr wrap="square" rtlCol="0" anchor="ctr"/>
          <a:lstStyle/>
          <a:p>
            <a:pPr marL="0" indent="0">
              <a:buNone/>
            </a:pPr>
            <a:r>
              <a:rPr lang="en-US" sz="1050" b="1" dirty="0">
                <a:solidFill>
                  <a:srgbClr val="1B2E4B"/>
                </a:solidFill>
                <a:latin typeface="Calibri" pitchFamily="34" charset="0"/>
                <a:ea typeface="Calibri" pitchFamily="34" charset="-122"/>
                <a:cs typeface="Calibri" pitchFamily="34" charset="-120"/>
              </a:rPr>
              <a:t>No About Us Page (Both /about/ &amp; /about-us/ → 404)</a:t>
            </a:r>
            <a:endParaRPr lang="en-US" sz="1050" dirty="0"/>
          </a:p>
        </p:txBody>
      </p:sp>
      <p:sp>
        <p:nvSpPr>
          <p:cNvPr id="19" name="Text 17"/>
          <p:cNvSpPr/>
          <p:nvPr/>
        </p:nvSpPr>
        <p:spPr>
          <a:xfrm>
            <a:off x="6510528" y="1408176"/>
            <a:ext cx="2176272" cy="1280160"/>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AI systems querying 'who is KMH?' hit a dead end. Google's SQEG flags absence of 'who is responsible for this website' as low quality.</a:t>
            </a:r>
            <a:endParaRPr lang="en-US" sz="950" dirty="0"/>
          </a:p>
        </p:txBody>
      </p:sp>
      <p:sp>
        <p:nvSpPr>
          <p:cNvPr id="20" name="Shape 18"/>
          <p:cNvSpPr/>
          <p:nvPr/>
        </p:nvSpPr>
        <p:spPr>
          <a:xfrm>
            <a:off x="274320" y="2926080"/>
            <a:ext cx="2743200" cy="2029968"/>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274320" y="2926080"/>
            <a:ext cx="384048" cy="2029968"/>
          </a:xfrm>
          <a:prstGeom prst="rect">
            <a:avLst/>
          </a:prstGeom>
          <a:solidFill>
            <a:srgbClr val="C0392B"/>
          </a:solidFill>
          <a:ln w="12700">
            <a:solidFill>
              <a:srgbClr val="C0392B"/>
            </a:solidFill>
            <a:prstDash val="solid"/>
          </a:ln>
        </p:spPr>
        <p:txBody>
          <a:bodyPr/>
          <a:lstStyle/>
          <a:p>
            <a:endParaRPr lang="en-US"/>
          </a:p>
        </p:txBody>
      </p:sp>
      <p:sp>
        <p:nvSpPr>
          <p:cNvPr id="22" name="Text 20"/>
          <p:cNvSpPr/>
          <p:nvPr/>
        </p:nvSpPr>
        <p:spPr>
          <a:xfrm>
            <a:off x="274320" y="3675888"/>
            <a:ext cx="384048" cy="53035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3" name="Text 21"/>
          <p:cNvSpPr/>
          <p:nvPr/>
        </p:nvSpPr>
        <p:spPr>
          <a:xfrm>
            <a:off x="749808" y="3017520"/>
            <a:ext cx="2176272" cy="548640"/>
          </a:xfrm>
          <a:prstGeom prst="rect">
            <a:avLst/>
          </a:prstGeom>
          <a:noFill/>
          <a:ln/>
        </p:spPr>
        <p:txBody>
          <a:bodyPr wrap="square" rtlCol="0" anchor="ctr"/>
          <a:lstStyle/>
          <a:p>
            <a:pPr marL="0" indent="0">
              <a:buNone/>
            </a:pPr>
            <a:r>
              <a:rPr lang="en-US" sz="1050" b="1" dirty="0">
                <a:solidFill>
                  <a:srgbClr val="1B2E4B"/>
                </a:solidFill>
                <a:latin typeface="Calibri" pitchFamily="34" charset="0"/>
                <a:ea typeface="Calibri" pitchFamily="34" charset="-122"/>
                <a:cs typeface="Calibri" pitchFamily="34" charset="-120"/>
              </a:rPr>
              <a:t>Zero External Source Citations</a:t>
            </a:r>
            <a:endParaRPr lang="en-US" sz="1050" dirty="0"/>
          </a:p>
        </p:txBody>
      </p:sp>
      <p:sp>
        <p:nvSpPr>
          <p:cNvPr id="24" name="Text 22"/>
          <p:cNvSpPr/>
          <p:nvPr/>
        </p:nvSpPr>
        <p:spPr>
          <a:xfrm>
            <a:off x="749808" y="3584448"/>
            <a:ext cx="2176272" cy="1280160"/>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Not one page links to ASQA, NSW Fair Trading, Home Affairs, PRISMS, or any government body. Licensed-services content with zero citations = low-trust for AI.</a:t>
            </a:r>
            <a:endParaRPr lang="en-US" sz="950" dirty="0"/>
          </a:p>
        </p:txBody>
      </p:sp>
      <p:sp>
        <p:nvSpPr>
          <p:cNvPr id="25" name="Shape 23"/>
          <p:cNvSpPr/>
          <p:nvPr/>
        </p:nvSpPr>
        <p:spPr>
          <a:xfrm>
            <a:off x="3154680" y="2926080"/>
            <a:ext cx="2743200" cy="2029968"/>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26" name="Shape 24"/>
          <p:cNvSpPr/>
          <p:nvPr/>
        </p:nvSpPr>
        <p:spPr>
          <a:xfrm>
            <a:off x="3154680" y="2926080"/>
            <a:ext cx="384048" cy="2029968"/>
          </a:xfrm>
          <a:prstGeom prst="rect">
            <a:avLst/>
          </a:prstGeom>
          <a:solidFill>
            <a:srgbClr val="C0392B"/>
          </a:solidFill>
          <a:ln w="12700">
            <a:solidFill>
              <a:srgbClr val="C0392B"/>
            </a:solidFill>
            <a:prstDash val="solid"/>
          </a:ln>
        </p:spPr>
        <p:txBody>
          <a:bodyPr/>
          <a:lstStyle/>
          <a:p>
            <a:endParaRPr lang="en-US"/>
          </a:p>
        </p:txBody>
      </p:sp>
      <p:sp>
        <p:nvSpPr>
          <p:cNvPr id="27" name="Text 25"/>
          <p:cNvSpPr/>
          <p:nvPr/>
        </p:nvSpPr>
        <p:spPr>
          <a:xfrm>
            <a:off x="3154680" y="3675888"/>
            <a:ext cx="384048" cy="53035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8" name="Text 26"/>
          <p:cNvSpPr/>
          <p:nvPr/>
        </p:nvSpPr>
        <p:spPr>
          <a:xfrm>
            <a:off x="3630168" y="3017520"/>
            <a:ext cx="2176272" cy="548640"/>
          </a:xfrm>
          <a:prstGeom prst="rect">
            <a:avLst/>
          </a:prstGeom>
          <a:noFill/>
          <a:ln/>
        </p:spPr>
        <p:txBody>
          <a:bodyPr wrap="square" rtlCol="0" anchor="ctr"/>
          <a:lstStyle/>
          <a:p>
            <a:pPr marL="0" indent="0">
              <a:buNone/>
            </a:pPr>
            <a:r>
              <a:rPr lang="en-US" sz="1050" b="1" dirty="0">
                <a:solidFill>
                  <a:srgbClr val="1B2E4B"/>
                </a:solidFill>
                <a:latin typeface="Calibri" pitchFamily="34" charset="0"/>
                <a:ea typeface="Calibri" pitchFamily="34" charset="-122"/>
                <a:cs typeface="Calibri" pitchFamily="34" charset="-120"/>
              </a:rPr>
              <a:t>No Named Authors on Any Page</a:t>
            </a:r>
            <a:endParaRPr lang="en-US" sz="1050" dirty="0"/>
          </a:p>
        </p:txBody>
      </p:sp>
      <p:sp>
        <p:nvSpPr>
          <p:cNvPr id="29" name="Text 27"/>
          <p:cNvSpPr/>
          <p:nvPr/>
        </p:nvSpPr>
        <p:spPr>
          <a:xfrm>
            <a:off x="3630168" y="3584448"/>
            <a:ext cx="2176272" cy="1280160"/>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Every page is attributed to the business entity with no byline. For regulated services (migration, licensing), anonymous content is bypassed by AI citation models.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2E4B"/>
          </a:solidFill>
          <a:ln w="12700">
            <a:solidFill>
              <a:srgbClr val="1B2E4B"/>
            </a:solidFill>
            <a:prstDash val="solid"/>
          </a:ln>
        </p:spPr>
        <p:txBody>
          <a:bodyPr/>
          <a:lstStyle/>
          <a:p>
            <a:endParaRPr lang="en-US"/>
          </a:p>
        </p:txBody>
      </p:sp>
      <p:sp>
        <p:nvSpPr>
          <p:cNvPr id="3" name="Shape 1"/>
          <p:cNvSpPr/>
          <p:nvPr/>
        </p:nvSpPr>
        <p:spPr>
          <a:xfrm>
            <a:off x="0" y="0"/>
            <a:ext cx="256032" cy="566928"/>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438912" y="0"/>
            <a:ext cx="8412480" cy="56692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High Priority Issues — Fix Within 1 Week</a:t>
            </a:r>
            <a:endParaRPr lang="en-US" sz="1800" dirty="0"/>
          </a:p>
        </p:txBody>
      </p:sp>
      <p:sp>
        <p:nvSpPr>
          <p:cNvPr id="5" name="Shape 3"/>
          <p:cNvSpPr/>
          <p:nvPr/>
        </p:nvSpPr>
        <p:spPr>
          <a:xfrm>
            <a:off x="292608" y="731520"/>
            <a:ext cx="4206240" cy="960120"/>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84048" y="978408"/>
            <a:ext cx="457200" cy="457200"/>
          </a:xfrm>
          <a:prstGeom prst="ellipse">
            <a:avLst/>
          </a:prstGeom>
          <a:solidFill>
            <a:srgbClr val="D4820A"/>
          </a:solidFill>
          <a:ln w="12700">
            <a:solidFill>
              <a:srgbClr val="D4820A"/>
            </a:solidFill>
            <a:prstDash val="solid"/>
          </a:ln>
        </p:spPr>
        <p:txBody>
          <a:bodyPr/>
          <a:lstStyle/>
          <a:p>
            <a:endParaRPr lang="en-US"/>
          </a:p>
        </p:txBody>
      </p:sp>
      <p:sp>
        <p:nvSpPr>
          <p:cNvPr id="7" name="Text 5"/>
          <p:cNvSpPr/>
          <p:nvPr/>
        </p:nvSpPr>
        <p:spPr>
          <a:xfrm>
            <a:off x="384048" y="978408"/>
            <a:ext cx="45720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6</a:t>
            </a:r>
            <a:endParaRPr lang="en-US" sz="1150" dirty="0"/>
          </a:p>
        </p:txBody>
      </p:sp>
      <p:sp>
        <p:nvSpPr>
          <p:cNvPr id="8" name="Text 6"/>
          <p:cNvSpPr/>
          <p:nvPr/>
        </p:nvSpPr>
        <p:spPr>
          <a:xfrm>
            <a:off x="950976" y="786384"/>
            <a:ext cx="3429000" cy="384048"/>
          </a:xfrm>
          <a:prstGeom prst="rect">
            <a:avLst/>
          </a:prstGeom>
          <a:noFill/>
          <a:ln/>
        </p:spPr>
        <p:txBody>
          <a:bodyPr wrap="square" rtlCol="0" anchor="ctr"/>
          <a:lstStyle/>
          <a:p>
            <a:pPr marL="0" indent="0">
              <a:buNone/>
            </a:pPr>
            <a:r>
              <a:rPr lang="en-US" sz="1100" b="1" dirty="0">
                <a:solidFill>
                  <a:srgbClr val="1B2E4B"/>
                </a:solidFill>
                <a:latin typeface="Calibri" pitchFamily="34" charset="0"/>
                <a:ea typeface="Calibri" pitchFamily="34" charset="-122"/>
                <a:cs typeface="Calibri" pitchFamily="34" charset="-120"/>
              </a:rPr>
              <a:t>No Google Business Profile</a:t>
            </a:r>
            <a:endParaRPr lang="en-US" sz="1100" dirty="0"/>
          </a:p>
        </p:txBody>
      </p:sp>
      <p:sp>
        <p:nvSpPr>
          <p:cNvPr id="9" name="Text 7"/>
          <p:cNvSpPr/>
          <p:nvPr/>
        </p:nvSpPr>
        <p:spPr>
          <a:xfrm>
            <a:off x="950976" y="1188720"/>
            <a:ext cx="3429000" cy="457200"/>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Create + verify at business.google.com → Knowledge Panel, local pack eligibility, Gemini/AI Overview citations.</a:t>
            </a:r>
            <a:endParaRPr lang="en-US" sz="950" dirty="0"/>
          </a:p>
        </p:txBody>
      </p:sp>
      <p:sp>
        <p:nvSpPr>
          <p:cNvPr id="10" name="Shape 8"/>
          <p:cNvSpPr/>
          <p:nvPr/>
        </p:nvSpPr>
        <p:spPr>
          <a:xfrm>
            <a:off x="4736592" y="731520"/>
            <a:ext cx="4206240" cy="960120"/>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4828032" y="978408"/>
            <a:ext cx="457200" cy="457200"/>
          </a:xfrm>
          <a:prstGeom prst="ellipse">
            <a:avLst/>
          </a:prstGeom>
          <a:solidFill>
            <a:srgbClr val="D4820A"/>
          </a:solidFill>
          <a:ln w="12700">
            <a:solidFill>
              <a:srgbClr val="D4820A"/>
            </a:solidFill>
            <a:prstDash val="solid"/>
          </a:ln>
        </p:spPr>
        <p:txBody>
          <a:bodyPr/>
          <a:lstStyle/>
          <a:p>
            <a:endParaRPr lang="en-US"/>
          </a:p>
        </p:txBody>
      </p:sp>
      <p:sp>
        <p:nvSpPr>
          <p:cNvPr id="12" name="Text 10"/>
          <p:cNvSpPr/>
          <p:nvPr/>
        </p:nvSpPr>
        <p:spPr>
          <a:xfrm>
            <a:off x="4828032" y="978408"/>
            <a:ext cx="45720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7</a:t>
            </a:r>
            <a:endParaRPr lang="en-US" sz="1150" dirty="0"/>
          </a:p>
        </p:txBody>
      </p:sp>
      <p:sp>
        <p:nvSpPr>
          <p:cNvPr id="13" name="Text 11"/>
          <p:cNvSpPr/>
          <p:nvPr/>
        </p:nvSpPr>
        <p:spPr>
          <a:xfrm>
            <a:off x="5394960" y="786384"/>
            <a:ext cx="3429000" cy="384048"/>
          </a:xfrm>
          <a:prstGeom prst="rect">
            <a:avLst/>
          </a:prstGeom>
          <a:noFill/>
          <a:ln/>
        </p:spPr>
        <p:txBody>
          <a:bodyPr wrap="square" rtlCol="0" anchor="ctr"/>
          <a:lstStyle/>
          <a:p>
            <a:pPr marL="0" indent="0">
              <a:buNone/>
            </a:pPr>
            <a:r>
              <a:rPr lang="en-US" sz="1100" b="1" dirty="0">
                <a:solidFill>
                  <a:srgbClr val="1B2E4B"/>
                </a:solidFill>
                <a:latin typeface="Calibri" pitchFamily="34" charset="0"/>
                <a:ea typeface="Calibri" pitchFamily="34" charset="-122"/>
                <a:cs typeface="Calibri" pitchFamily="34" charset="-120"/>
              </a:rPr>
              <a:t>No LinkedIn Company Page</a:t>
            </a:r>
            <a:endParaRPr lang="en-US" sz="1100" dirty="0"/>
          </a:p>
        </p:txBody>
      </p:sp>
      <p:sp>
        <p:nvSpPr>
          <p:cNvPr id="14" name="Text 12"/>
          <p:cNvSpPr/>
          <p:nvPr/>
        </p:nvSpPr>
        <p:spPr>
          <a:xfrm>
            <a:off x="5394960" y="1188720"/>
            <a:ext cx="3429000" cy="457200"/>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LinkedIn is crawled by Bing (ChatGPT) and Perplexity for professional entity recognition. Even a minimal profile helps.</a:t>
            </a:r>
            <a:endParaRPr lang="en-US" sz="950" dirty="0"/>
          </a:p>
        </p:txBody>
      </p:sp>
      <p:sp>
        <p:nvSpPr>
          <p:cNvPr id="15" name="Shape 13"/>
          <p:cNvSpPr/>
          <p:nvPr/>
        </p:nvSpPr>
        <p:spPr>
          <a:xfrm>
            <a:off x="292608" y="1810512"/>
            <a:ext cx="4206240" cy="960120"/>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384048" y="2057400"/>
            <a:ext cx="457200" cy="457200"/>
          </a:xfrm>
          <a:prstGeom prst="ellipse">
            <a:avLst/>
          </a:prstGeom>
          <a:solidFill>
            <a:srgbClr val="D4820A"/>
          </a:solidFill>
          <a:ln w="12700">
            <a:solidFill>
              <a:srgbClr val="D4820A"/>
            </a:solidFill>
            <a:prstDash val="solid"/>
          </a:ln>
        </p:spPr>
        <p:txBody>
          <a:bodyPr/>
          <a:lstStyle/>
          <a:p>
            <a:endParaRPr lang="en-US"/>
          </a:p>
        </p:txBody>
      </p:sp>
      <p:sp>
        <p:nvSpPr>
          <p:cNvPr id="17" name="Text 15"/>
          <p:cNvSpPr/>
          <p:nvPr/>
        </p:nvSpPr>
        <p:spPr>
          <a:xfrm>
            <a:off x="384048" y="2057400"/>
            <a:ext cx="45720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8</a:t>
            </a:r>
            <a:endParaRPr lang="en-US" sz="1150" dirty="0"/>
          </a:p>
        </p:txBody>
      </p:sp>
      <p:sp>
        <p:nvSpPr>
          <p:cNvPr id="18" name="Text 16"/>
          <p:cNvSpPr/>
          <p:nvPr/>
        </p:nvSpPr>
        <p:spPr>
          <a:xfrm>
            <a:off x="950976" y="1865376"/>
            <a:ext cx="3429000" cy="384048"/>
          </a:xfrm>
          <a:prstGeom prst="rect">
            <a:avLst/>
          </a:prstGeom>
          <a:noFill/>
          <a:ln/>
        </p:spPr>
        <p:txBody>
          <a:bodyPr wrap="square" rtlCol="0" anchor="ctr"/>
          <a:lstStyle/>
          <a:p>
            <a:pPr marL="0" indent="0">
              <a:buNone/>
            </a:pPr>
            <a:r>
              <a:rPr lang="en-US" sz="1100" b="1" dirty="0">
                <a:solidFill>
                  <a:srgbClr val="1B2E4B"/>
                </a:solidFill>
                <a:latin typeface="Calibri" pitchFamily="34" charset="0"/>
                <a:ea typeface="Calibri" pitchFamily="34" charset="-122"/>
                <a:cs typeface="Calibri" pitchFamily="34" charset="-120"/>
              </a:rPr>
              <a:t>FAQPage Schema Missing</a:t>
            </a:r>
            <a:endParaRPr lang="en-US" sz="1100" dirty="0"/>
          </a:p>
        </p:txBody>
      </p:sp>
      <p:sp>
        <p:nvSpPr>
          <p:cNvPr id="19" name="Text 17"/>
          <p:cNvSpPr/>
          <p:nvPr/>
        </p:nvSpPr>
        <p:spPr>
          <a:xfrm>
            <a:off x="950976" y="2267712"/>
            <a:ext cx="3429000" cy="457200"/>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RPL, Trade License, Student Visas &amp; homepage all have FAQ HTML. Add FAQPage schema via Rank Math — no coding required.</a:t>
            </a:r>
            <a:endParaRPr lang="en-US" sz="950" dirty="0"/>
          </a:p>
        </p:txBody>
      </p:sp>
      <p:sp>
        <p:nvSpPr>
          <p:cNvPr id="20" name="Shape 18"/>
          <p:cNvSpPr/>
          <p:nvPr/>
        </p:nvSpPr>
        <p:spPr>
          <a:xfrm>
            <a:off x="4736592" y="1810512"/>
            <a:ext cx="4206240" cy="960120"/>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4828032" y="2057400"/>
            <a:ext cx="457200" cy="457200"/>
          </a:xfrm>
          <a:prstGeom prst="ellipse">
            <a:avLst/>
          </a:prstGeom>
          <a:solidFill>
            <a:srgbClr val="D4820A"/>
          </a:solidFill>
          <a:ln w="12700">
            <a:solidFill>
              <a:srgbClr val="D4820A"/>
            </a:solidFill>
            <a:prstDash val="solid"/>
          </a:ln>
        </p:spPr>
        <p:txBody>
          <a:bodyPr/>
          <a:lstStyle/>
          <a:p>
            <a:endParaRPr lang="en-US"/>
          </a:p>
        </p:txBody>
      </p:sp>
      <p:sp>
        <p:nvSpPr>
          <p:cNvPr id="22" name="Text 20"/>
          <p:cNvSpPr/>
          <p:nvPr/>
        </p:nvSpPr>
        <p:spPr>
          <a:xfrm>
            <a:off x="4828032" y="2057400"/>
            <a:ext cx="45720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9</a:t>
            </a:r>
            <a:endParaRPr lang="en-US" sz="1150" dirty="0"/>
          </a:p>
        </p:txBody>
      </p:sp>
      <p:sp>
        <p:nvSpPr>
          <p:cNvPr id="23" name="Text 21"/>
          <p:cNvSpPr/>
          <p:nvPr/>
        </p:nvSpPr>
        <p:spPr>
          <a:xfrm>
            <a:off x="5394960" y="1865376"/>
            <a:ext cx="3429000" cy="384048"/>
          </a:xfrm>
          <a:prstGeom prst="rect">
            <a:avLst/>
          </a:prstGeom>
          <a:noFill/>
          <a:ln/>
        </p:spPr>
        <p:txBody>
          <a:bodyPr wrap="square" rtlCol="0" anchor="ctr"/>
          <a:lstStyle/>
          <a:p>
            <a:pPr marL="0" indent="0">
              <a:buNone/>
            </a:pPr>
            <a:r>
              <a:rPr lang="en-US" sz="1100" b="1" dirty="0">
                <a:solidFill>
                  <a:srgbClr val="1B2E4B"/>
                </a:solidFill>
                <a:latin typeface="Calibri" pitchFamily="34" charset="0"/>
                <a:ea typeface="Calibri" pitchFamily="34" charset="-122"/>
                <a:cs typeface="Calibri" pitchFamily="34" charset="-120"/>
              </a:rPr>
              <a:t>No Open Graph / Twitter Cards</a:t>
            </a:r>
            <a:endParaRPr lang="en-US" sz="1100" dirty="0"/>
          </a:p>
        </p:txBody>
      </p:sp>
      <p:sp>
        <p:nvSpPr>
          <p:cNvPr id="24" name="Text 22"/>
          <p:cNvSpPr/>
          <p:nvPr/>
        </p:nvSpPr>
        <p:spPr>
          <a:xfrm>
            <a:off x="5394960" y="2267712"/>
            <a:ext cx="3429000" cy="457200"/>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Zero social meta tags detected. Enable in Rank Math (15 min) — every social share currently produces an unformatted naked link.</a:t>
            </a:r>
            <a:endParaRPr lang="en-US" sz="950" dirty="0"/>
          </a:p>
        </p:txBody>
      </p:sp>
      <p:sp>
        <p:nvSpPr>
          <p:cNvPr id="25" name="Shape 23"/>
          <p:cNvSpPr/>
          <p:nvPr/>
        </p:nvSpPr>
        <p:spPr>
          <a:xfrm>
            <a:off x="292608" y="2889504"/>
            <a:ext cx="4206240" cy="960120"/>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26" name="Shape 24"/>
          <p:cNvSpPr/>
          <p:nvPr/>
        </p:nvSpPr>
        <p:spPr>
          <a:xfrm>
            <a:off x="384048" y="3136392"/>
            <a:ext cx="457200" cy="457200"/>
          </a:xfrm>
          <a:prstGeom prst="ellipse">
            <a:avLst/>
          </a:prstGeom>
          <a:solidFill>
            <a:srgbClr val="D4820A"/>
          </a:solidFill>
          <a:ln w="12700">
            <a:solidFill>
              <a:srgbClr val="D4820A"/>
            </a:solidFill>
            <a:prstDash val="solid"/>
          </a:ln>
        </p:spPr>
        <p:txBody>
          <a:bodyPr/>
          <a:lstStyle/>
          <a:p>
            <a:endParaRPr lang="en-US"/>
          </a:p>
        </p:txBody>
      </p:sp>
      <p:sp>
        <p:nvSpPr>
          <p:cNvPr id="27" name="Text 25"/>
          <p:cNvSpPr/>
          <p:nvPr/>
        </p:nvSpPr>
        <p:spPr>
          <a:xfrm>
            <a:off x="384048" y="3136392"/>
            <a:ext cx="45720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10</a:t>
            </a:r>
            <a:endParaRPr lang="en-US" sz="1150" dirty="0"/>
          </a:p>
        </p:txBody>
      </p:sp>
      <p:sp>
        <p:nvSpPr>
          <p:cNvPr id="28" name="Text 26"/>
          <p:cNvSpPr/>
          <p:nvPr/>
        </p:nvSpPr>
        <p:spPr>
          <a:xfrm>
            <a:off x="950976" y="2944368"/>
            <a:ext cx="3429000" cy="384048"/>
          </a:xfrm>
          <a:prstGeom prst="rect">
            <a:avLst/>
          </a:prstGeom>
          <a:noFill/>
          <a:ln/>
        </p:spPr>
        <p:txBody>
          <a:bodyPr wrap="square" rtlCol="0" anchor="ctr"/>
          <a:lstStyle/>
          <a:p>
            <a:pPr marL="0" indent="0">
              <a:buNone/>
            </a:pPr>
            <a:r>
              <a:rPr lang="en-US" sz="1100" b="1" dirty="0">
                <a:solidFill>
                  <a:srgbClr val="1B2E4B"/>
                </a:solidFill>
                <a:latin typeface="Calibri" pitchFamily="34" charset="0"/>
                <a:ea typeface="Calibri" pitchFamily="34" charset="-122"/>
                <a:cs typeface="Calibri" pitchFamily="34" charset="-120"/>
              </a:rPr>
              <a:t>Thin Content on Key Pages</a:t>
            </a:r>
            <a:endParaRPr lang="en-US" sz="1100" dirty="0"/>
          </a:p>
        </p:txBody>
      </p:sp>
      <p:sp>
        <p:nvSpPr>
          <p:cNvPr id="29" name="Text 27"/>
          <p:cNvSpPr/>
          <p:nvPr/>
        </p:nvSpPr>
        <p:spPr>
          <a:xfrm>
            <a:off x="950976" y="3346704"/>
            <a:ext cx="3429000" cy="457200"/>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/what-is-rpl/ (350 words) and /trade-license-nsw/ (650 words) are below AI citation threshold. Internal keyword cannibalism risk.</a:t>
            </a:r>
            <a:endParaRPr lang="en-US" sz="950" dirty="0"/>
          </a:p>
        </p:txBody>
      </p:sp>
      <p:sp>
        <p:nvSpPr>
          <p:cNvPr id="30" name="Shape 28"/>
          <p:cNvSpPr/>
          <p:nvPr/>
        </p:nvSpPr>
        <p:spPr>
          <a:xfrm>
            <a:off x="4736592" y="2889504"/>
            <a:ext cx="4206240" cy="960120"/>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31" name="Shape 29"/>
          <p:cNvSpPr/>
          <p:nvPr/>
        </p:nvSpPr>
        <p:spPr>
          <a:xfrm>
            <a:off x="4828032" y="3136392"/>
            <a:ext cx="457200" cy="457200"/>
          </a:xfrm>
          <a:prstGeom prst="ellipse">
            <a:avLst/>
          </a:prstGeom>
          <a:solidFill>
            <a:srgbClr val="D4820A"/>
          </a:solidFill>
          <a:ln w="12700">
            <a:solidFill>
              <a:srgbClr val="D4820A"/>
            </a:solidFill>
            <a:prstDash val="solid"/>
          </a:ln>
        </p:spPr>
        <p:txBody>
          <a:bodyPr/>
          <a:lstStyle/>
          <a:p>
            <a:endParaRPr lang="en-US"/>
          </a:p>
        </p:txBody>
      </p:sp>
      <p:sp>
        <p:nvSpPr>
          <p:cNvPr id="32" name="Text 30"/>
          <p:cNvSpPr/>
          <p:nvPr/>
        </p:nvSpPr>
        <p:spPr>
          <a:xfrm>
            <a:off x="4828032" y="3136392"/>
            <a:ext cx="45720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11</a:t>
            </a:r>
            <a:endParaRPr lang="en-US" sz="1150" dirty="0"/>
          </a:p>
        </p:txBody>
      </p:sp>
      <p:sp>
        <p:nvSpPr>
          <p:cNvPr id="33" name="Text 31"/>
          <p:cNvSpPr/>
          <p:nvPr/>
        </p:nvSpPr>
        <p:spPr>
          <a:xfrm>
            <a:off x="5394960" y="2944368"/>
            <a:ext cx="3429000" cy="384048"/>
          </a:xfrm>
          <a:prstGeom prst="rect">
            <a:avLst/>
          </a:prstGeom>
          <a:noFill/>
          <a:ln/>
        </p:spPr>
        <p:txBody>
          <a:bodyPr wrap="square" rtlCol="0" anchor="ctr"/>
          <a:lstStyle/>
          <a:p>
            <a:pPr marL="0" indent="0">
              <a:buNone/>
            </a:pPr>
            <a:r>
              <a:rPr lang="en-US" sz="1100" b="1" dirty="0">
                <a:solidFill>
                  <a:srgbClr val="1B2E4B"/>
                </a:solidFill>
                <a:latin typeface="Calibri" pitchFamily="34" charset="0"/>
                <a:ea typeface="Calibri" pitchFamily="34" charset="-122"/>
                <a:cs typeface="Calibri" pitchFamily="34" charset="-120"/>
              </a:rPr>
              <a:t>No ProductReview.com.au Listing</a:t>
            </a:r>
            <a:endParaRPr lang="en-US" sz="1100" dirty="0"/>
          </a:p>
        </p:txBody>
      </p:sp>
      <p:sp>
        <p:nvSpPr>
          <p:cNvPr id="34" name="Text 32"/>
          <p:cNvSpPr/>
          <p:nvPr/>
        </p:nvSpPr>
        <p:spPr>
          <a:xfrm>
            <a:off x="5394960" y="3346704"/>
            <a:ext cx="3429000" cy="457200"/>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Australia's primary review platform. AI regularly cites it for AU service businesses. Zero presence = zero third-party citations.</a:t>
            </a:r>
            <a:endParaRPr lang="en-US" sz="950" dirty="0"/>
          </a:p>
        </p:txBody>
      </p:sp>
      <p:sp>
        <p:nvSpPr>
          <p:cNvPr id="35" name="Shape 33"/>
          <p:cNvSpPr/>
          <p:nvPr/>
        </p:nvSpPr>
        <p:spPr>
          <a:xfrm>
            <a:off x="292608" y="3968496"/>
            <a:ext cx="4206240" cy="960120"/>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36" name="Shape 34"/>
          <p:cNvSpPr/>
          <p:nvPr/>
        </p:nvSpPr>
        <p:spPr>
          <a:xfrm>
            <a:off x="384048" y="4215384"/>
            <a:ext cx="457200" cy="457200"/>
          </a:xfrm>
          <a:prstGeom prst="ellipse">
            <a:avLst/>
          </a:prstGeom>
          <a:solidFill>
            <a:srgbClr val="D4820A"/>
          </a:solidFill>
          <a:ln w="12700">
            <a:solidFill>
              <a:srgbClr val="D4820A"/>
            </a:solidFill>
            <a:prstDash val="solid"/>
          </a:ln>
        </p:spPr>
        <p:txBody>
          <a:bodyPr/>
          <a:lstStyle/>
          <a:p>
            <a:endParaRPr lang="en-US"/>
          </a:p>
        </p:txBody>
      </p:sp>
      <p:sp>
        <p:nvSpPr>
          <p:cNvPr id="37" name="Text 35"/>
          <p:cNvSpPr/>
          <p:nvPr/>
        </p:nvSpPr>
        <p:spPr>
          <a:xfrm>
            <a:off x="384048" y="4215384"/>
            <a:ext cx="45720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12</a:t>
            </a:r>
            <a:endParaRPr lang="en-US" sz="1150" dirty="0"/>
          </a:p>
        </p:txBody>
      </p:sp>
      <p:sp>
        <p:nvSpPr>
          <p:cNvPr id="38" name="Text 36"/>
          <p:cNvSpPr/>
          <p:nvPr/>
        </p:nvSpPr>
        <p:spPr>
          <a:xfrm>
            <a:off x="950976" y="4023360"/>
            <a:ext cx="3429000" cy="384048"/>
          </a:xfrm>
          <a:prstGeom prst="rect">
            <a:avLst/>
          </a:prstGeom>
          <a:noFill/>
          <a:ln/>
        </p:spPr>
        <p:txBody>
          <a:bodyPr wrap="square" rtlCol="0" anchor="ctr"/>
          <a:lstStyle/>
          <a:p>
            <a:pPr marL="0" indent="0">
              <a:buNone/>
            </a:pPr>
            <a:r>
              <a:rPr lang="en-US" sz="1100" b="1" dirty="0">
                <a:solidFill>
                  <a:srgbClr val="1B2E4B"/>
                </a:solidFill>
                <a:latin typeface="Calibri" pitchFamily="34" charset="0"/>
                <a:ea typeface="Calibri" pitchFamily="34" charset="-122"/>
                <a:cs typeface="Calibri" pitchFamily="34" charset="-120"/>
              </a:rPr>
              <a:t>ELICOS Post Critically Thin</a:t>
            </a:r>
            <a:endParaRPr lang="en-US" sz="1100" dirty="0"/>
          </a:p>
        </p:txBody>
      </p:sp>
      <p:sp>
        <p:nvSpPr>
          <p:cNvPr id="39" name="Text 37"/>
          <p:cNvSpPr/>
          <p:nvPr/>
        </p:nvSpPr>
        <p:spPr>
          <a:xfrm>
            <a:off x="950976" y="4425696"/>
            <a:ext cx="3429000" cy="457200"/>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~280 words on a regulated service with legal implications — shorter than a LinkedIn post. For AI citability, this page doesn't exist.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E4B"/>
        </a:solidFill>
        <a:effectLst/>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C0392B"/>
          </a:solidFill>
          <a:ln w="12700">
            <a:solidFill>
              <a:srgbClr val="C0392B"/>
            </a:solidFill>
            <a:prstDash val="solid"/>
          </a:ln>
        </p:spPr>
        <p:txBody>
          <a:bodyPr/>
          <a:lstStyle/>
          <a:p>
            <a:endParaRPr lang="en-US"/>
          </a:p>
        </p:txBody>
      </p:sp>
      <p:sp>
        <p:nvSpPr>
          <p:cNvPr id="3" name="Text 1"/>
          <p:cNvSpPr/>
          <p:nvPr/>
        </p:nvSpPr>
        <p:spPr>
          <a:xfrm>
            <a:off x="530352" y="868680"/>
            <a:ext cx="7315200" cy="457200"/>
          </a:xfrm>
          <a:prstGeom prst="rect">
            <a:avLst/>
          </a:prstGeom>
          <a:noFill/>
          <a:ln/>
        </p:spPr>
        <p:txBody>
          <a:bodyPr wrap="square" lIns="0" tIns="0" rIns="0" bIns="0" rtlCol="0" anchor="ctr"/>
          <a:lstStyle/>
          <a:p>
            <a:pPr marL="0" indent="0">
              <a:buNone/>
            </a:pPr>
            <a:r>
              <a:rPr lang="en-US" sz="1300" b="1" kern="0" spc="400" dirty="0">
                <a:solidFill>
                  <a:srgbClr val="BDC3C7"/>
                </a:solidFill>
                <a:latin typeface="Calibri" pitchFamily="34" charset="0"/>
                <a:ea typeface="Calibri" pitchFamily="34" charset="-122"/>
                <a:cs typeface="Calibri" pitchFamily="34" charset="-120"/>
              </a:rPr>
              <a:t>CATEGORY DEEP DIVES</a:t>
            </a:r>
            <a:endParaRPr lang="en-US" sz="1300" dirty="0"/>
          </a:p>
        </p:txBody>
      </p:sp>
      <p:sp>
        <p:nvSpPr>
          <p:cNvPr id="4" name="Text 2"/>
          <p:cNvSpPr/>
          <p:nvPr/>
        </p:nvSpPr>
        <p:spPr>
          <a:xfrm>
            <a:off x="530352" y="1325880"/>
            <a:ext cx="8046720" cy="164592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Detailed scoring across</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all 6 GEO dimensions</a:t>
            </a:r>
            <a:endParaRPr lang="en-US" sz="4000" dirty="0"/>
          </a:p>
        </p:txBody>
      </p:sp>
      <p:sp>
        <p:nvSpPr>
          <p:cNvPr id="5" name="Shape 3"/>
          <p:cNvSpPr/>
          <p:nvPr/>
        </p:nvSpPr>
        <p:spPr>
          <a:xfrm>
            <a:off x="804672" y="3108960"/>
            <a:ext cx="502920" cy="1371600"/>
          </a:xfrm>
          <a:prstGeom prst="rect">
            <a:avLst/>
          </a:prstGeom>
          <a:solidFill>
            <a:srgbClr val="2A4060"/>
          </a:solidFill>
          <a:ln w="12700">
            <a:solidFill>
              <a:srgbClr val="2A4060"/>
            </a:solidFill>
            <a:prstDash val="solid"/>
          </a:ln>
        </p:spPr>
        <p:txBody>
          <a:bodyPr/>
          <a:lstStyle/>
          <a:p>
            <a:endParaRPr lang="en-US"/>
          </a:p>
        </p:txBody>
      </p:sp>
      <p:sp>
        <p:nvSpPr>
          <p:cNvPr id="6" name="Shape 4"/>
          <p:cNvSpPr/>
          <p:nvPr/>
        </p:nvSpPr>
        <p:spPr>
          <a:xfrm>
            <a:off x="804672" y="3959352"/>
            <a:ext cx="502920" cy="521208"/>
          </a:xfrm>
          <a:prstGeom prst="rect">
            <a:avLst/>
          </a:prstGeom>
          <a:solidFill>
            <a:srgbClr val="D4820A"/>
          </a:solidFill>
          <a:ln w="12700">
            <a:solidFill>
              <a:srgbClr val="D4820A"/>
            </a:solidFill>
            <a:prstDash val="solid"/>
          </a:ln>
        </p:spPr>
        <p:txBody>
          <a:bodyPr/>
          <a:lstStyle/>
          <a:p>
            <a:endParaRPr lang="en-US"/>
          </a:p>
        </p:txBody>
      </p:sp>
      <p:sp>
        <p:nvSpPr>
          <p:cNvPr id="7" name="Text 5"/>
          <p:cNvSpPr/>
          <p:nvPr/>
        </p:nvSpPr>
        <p:spPr>
          <a:xfrm>
            <a:off x="530352" y="3611880"/>
            <a:ext cx="1005840" cy="329184"/>
          </a:xfrm>
          <a:prstGeom prst="rect">
            <a:avLst/>
          </a:prstGeom>
          <a:noFill/>
          <a:ln/>
        </p:spPr>
        <p:txBody>
          <a:bodyPr wrap="square" rtlCol="0" anchor="ctr"/>
          <a:lstStyle/>
          <a:p>
            <a:pPr marL="0" indent="0" algn="ctr">
              <a:buNone/>
            </a:pPr>
            <a:r>
              <a:rPr lang="en-US" sz="1400" b="1" dirty="0">
                <a:solidFill>
                  <a:srgbClr val="D4820A"/>
                </a:solidFill>
                <a:latin typeface="Calibri" pitchFamily="34" charset="0"/>
                <a:ea typeface="Calibri" pitchFamily="34" charset="-122"/>
                <a:cs typeface="Calibri" pitchFamily="34" charset="-120"/>
              </a:rPr>
              <a:t>38</a:t>
            </a:r>
            <a:endParaRPr lang="en-US" sz="1400" dirty="0"/>
          </a:p>
        </p:txBody>
      </p:sp>
      <p:sp>
        <p:nvSpPr>
          <p:cNvPr id="8" name="Text 6"/>
          <p:cNvSpPr/>
          <p:nvPr/>
        </p:nvSpPr>
        <p:spPr>
          <a:xfrm>
            <a:off x="530352" y="4535424"/>
            <a:ext cx="1005840" cy="475488"/>
          </a:xfrm>
          <a:prstGeom prst="rect">
            <a:avLst/>
          </a:prstGeom>
          <a:noFill/>
          <a:ln/>
        </p:spPr>
        <p:txBody>
          <a:bodyPr wrap="square" rtlCol="0" anchor="ctr"/>
          <a:lstStyle/>
          <a:p>
            <a:pPr marL="0" indent="0" algn="ctr">
              <a:buNone/>
            </a:pPr>
            <a:r>
              <a:rPr lang="en-US" sz="850" dirty="0">
                <a:solidFill>
                  <a:srgbClr val="BDC3C7"/>
                </a:solidFill>
                <a:latin typeface="Calibri" pitchFamily="34" charset="0"/>
                <a:ea typeface="Calibri" pitchFamily="34" charset="-122"/>
                <a:cs typeface="Calibri" pitchFamily="34" charset="-120"/>
              </a:rPr>
              <a:t>AI Citability</a:t>
            </a:r>
            <a:endParaRPr lang="en-US" sz="850" dirty="0"/>
          </a:p>
        </p:txBody>
      </p:sp>
      <p:sp>
        <p:nvSpPr>
          <p:cNvPr id="9" name="Shape 7"/>
          <p:cNvSpPr/>
          <p:nvPr/>
        </p:nvSpPr>
        <p:spPr>
          <a:xfrm>
            <a:off x="2221992" y="3108960"/>
            <a:ext cx="502920" cy="1371600"/>
          </a:xfrm>
          <a:prstGeom prst="rect">
            <a:avLst/>
          </a:prstGeom>
          <a:solidFill>
            <a:srgbClr val="2A4060"/>
          </a:solidFill>
          <a:ln w="12700">
            <a:solidFill>
              <a:srgbClr val="2A4060"/>
            </a:solidFill>
            <a:prstDash val="solid"/>
          </a:ln>
        </p:spPr>
        <p:txBody>
          <a:bodyPr/>
          <a:lstStyle/>
          <a:p>
            <a:endParaRPr lang="en-US"/>
          </a:p>
        </p:txBody>
      </p:sp>
      <p:sp>
        <p:nvSpPr>
          <p:cNvPr id="10" name="Shape 8"/>
          <p:cNvSpPr/>
          <p:nvPr/>
        </p:nvSpPr>
        <p:spPr>
          <a:xfrm>
            <a:off x="2221992" y="4178808"/>
            <a:ext cx="502920" cy="301752"/>
          </a:xfrm>
          <a:prstGeom prst="rect">
            <a:avLst/>
          </a:prstGeom>
          <a:solidFill>
            <a:srgbClr val="C0392B"/>
          </a:solidFill>
          <a:ln w="12700">
            <a:solidFill>
              <a:srgbClr val="C0392B"/>
            </a:solidFill>
            <a:prstDash val="solid"/>
          </a:ln>
        </p:spPr>
        <p:txBody>
          <a:bodyPr/>
          <a:lstStyle/>
          <a:p>
            <a:endParaRPr lang="en-US"/>
          </a:p>
        </p:txBody>
      </p:sp>
      <p:sp>
        <p:nvSpPr>
          <p:cNvPr id="11" name="Text 9"/>
          <p:cNvSpPr/>
          <p:nvPr/>
        </p:nvSpPr>
        <p:spPr>
          <a:xfrm>
            <a:off x="1947672" y="3831336"/>
            <a:ext cx="1005840" cy="329184"/>
          </a:xfrm>
          <a:prstGeom prst="rect">
            <a:avLst/>
          </a:prstGeom>
          <a:noFill/>
          <a:ln/>
        </p:spPr>
        <p:txBody>
          <a:bodyPr wrap="square" rtlCol="0" anchor="ctr"/>
          <a:lstStyle/>
          <a:p>
            <a:pPr marL="0" indent="0" algn="ctr">
              <a:buNone/>
            </a:pPr>
            <a:r>
              <a:rPr lang="en-US" sz="1400" b="1" dirty="0">
                <a:solidFill>
                  <a:srgbClr val="C0392B"/>
                </a:solidFill>
                <a:latin typeface="Calibri" pitchFamily="34" charset="0"/>
                <a:ea typeface="Calibri" pitchFamily="34" charset="-122"/>
                <a:cs typeface="Calibri" pitchFamily="34" charset="-120"/>
              </a:rPr>
              <a:t>22</a:t>
            </a:r>
            <a:endParaRPr lang="en-US" sz="1400" dirty="0"/>
          </a:p>
        </p:txBody>
      </p:sp>
      <p:sp>
        <p:nvSpPr>
          <p:cNvPr id="12" name="Text 10"/>
          <p:cNvSpPr/>
          <p:nvPr/>
        </p:nvSpPr>
        <p:spPr>
          <a:xfrm>
            <a:off x="1947672" y="4535424"/>
            <a:ext cx="1005840" cy="475488"/>
          </a:xfrm>
          <a:prstGeom prst="rect">
            <a:avLst/>
          </a:prstGeom>
          <a:noFill/>
          <a:ln/>
        </p:spPr>
        <p:txBody>
          <a:bodyPr wrap="square" rtlCol="0" anchor="ctr"/>
          <a:lstStyle/>
          <a:p>
            <a:pPr marL="0" indent="0" algn="ctr">
              <a:buNone/>
            </a:pPr>
            <a:r>
              <a:rPr lang="en-US" sz="850" dirty="0">
                <a:solidFill>
                  <a:srgbClr val="BDC3C7"/>
                </a:solidFill>
                <a:latin typeface="Calibri" pitchFamily="34" charset="0"/>
                <a:ea typeface="Calibri" pitchFamily="34" charset="-122"/>
                <a:cs typeface="Calibri" pitchFamily="34" charset="-120"/>
              </a:rPr>
              <a:t>Brand Authority</a:t>
            </a:r>
            <a:endParaRPr lang="en-US" sz="850" dirty="0"/>
          </a:p>
        </p:txBody>
      </p:sp>
      <p:sp>
        <p:nvSpPr>
          <p:cNvPr id="13" name="Shape 11"/>
          <p:cNvSpPr/>
          <p:nvPr/>
        </p:nvSpPr>
        <p:spPr>
          <a:xfrm>
            <a:off x="3639312" y="3108960"/>
            <a:ext cx="502920" cy="1371600"/>
          </a:xfrm>
          <a:prstGeom prst="rect">
            <a:avLst/>
          </a:prstGeom>
          <a:solidFill>
            <a:srgbClr val="2A4060"/>
          </a:solidFill>
          <a:ln w="12700">
            <a:solidFill>
              <a:srgbClr val="2A4060"/>
            </a:solidFill>
            <a:prstDash val="solid"/>
          </a:ln>
        </p:spPr>
        <p:txBody>
          <a:bodyPr/>
          <a:lstStyle/>
          <a:p>
            <a:endParaRPr lang="en-US"/>
          </a:p>
        </p:txBody>
      </p:sp>
      <p:sp>
        <p:nvSpPr>
          <p:cNvPr id="14" name="Shape 12"/>
          <p:cNvSpPr/>
          <p:nvPr/>
        </p:nvSpPr>
        <p:spPr>
          <a:xfrm>
            <a:off x="3639312" y="4096512"/>
            <a:ext cx="502920" cy="384048"/>
          </a:xfrm>
          <a:prstGeom prst="rect">
            <a:avLst/>
          </a:prstGeom>
          <a:solidFill>
            <a:srgbClr val="C0392B"/>
          </a:solidFill>
          <a:ln w="12700">
            <a:solidFill>
              <a:srgbClr val="C0392B"/>
            </a:solidFill>
            <a:prstDash val="solid"/>
          </a:ln>
        </p:spPr>
        <p:txBody>
          <a:bodyPr/>
          <a:lstStyle/>
          <a:p>
            <a:endParaRPr lang="en-US"/>
          </a:p>
        </p:txBody>
      </p:sp>
      <p:sp>
        <p:nvSpPr>
          <p:cNvPr id="15" name="Text 13"/>
          <p:cNvSpPr/>
          <p:nvPr/>
        </p:nvSpPr>
        <p:spPr>
          <a:xfrm>
            <a:off x="3364992" y="3749040"/>
            <a:ext cx="1005840" cy="329184"/>
          </a:xfrm>
          <a:prstGeom prst="rect">
            <a:avLst/>
          </a:prstGeom>
          <a:noFill/>
          <a:ln/>
        </p:spPr>
        <p:txBody>
          <a:bodyPr wrap="square" rtlCol="0" anchor="ctr"/>
          <a:lstStyle/>
          <a:p>
            <a:pPr marL="0" indent="0" algn="ctr">
              <a:buNone/>
            </a:pPr>
            <a:r>
              <a:rPr lang="en-US" sz="1400" b="1" dirty="0">
                <a:solidFill>
                  <a:srgbClr val="C0392B"/>
                </a:solidFill>
                <a:latin typeface="Calibri" pitchFamily="34" charset="0"/>
                <a:ea typeface="Calibri" pitchFamily="34" charset="-122"/>
                <a:cs typeface="Calibri" pitchFamily="34" charset="-120"/>
              </a:rPr>
              <a:t>28</a:t>
            </a:r>
            <a:endParaRPr lang="en-US" sz="1400" dirty="0"/>
          </a:p>
        </p:txBody>
      </p:sp>
      <p:sp>
        <p:nvSpPr>
          <p:cNvPr id="16" name="Text 14"/>
          <p:cNvSpPr/>
          <p:nvPr/>
        </p:nvSpPr>
        <p:spPr>
          <a:xfrm>
            <a:off x="3364992" y="4535424"/>
            <a:ext cx="1005840" cy="475488"/>
          </a:xfrm>
          <a:prstGeom prst="rect">
            <a:avLst/>
          </a:prstGeom>
          <a:noFill/>
          <a:ln/>
        </p:spPr>
        <p:txBody>
          <a:bodyPr wrap="square" rtlCol="0" anchor="ctr"/>
          <a:lstStyle/>
          <a:p>
            <a:pPr marL="0" indent="0" algn="ctr">
              <a:buNone/>
            </a:pPr>
            <a:r>
              <a:rPr lang="en-US" sz="850" dirty="0">
                <a:solidFill>
                  <a:srgbClr val="BDC3C7"/>
                </a:solidFill>
                <a:latin typeface="Calibri" pitchFamily="34" charset="0"/>
                <a:ea typeface="Calibri" pitchFamily="34" charset="-122"/>
                <a:cs typeface="Calibri" pitchFamily="34" charset="-120"/>
              </a:rPr>
              <a:t>Content E-E-A-T</a:t>
            </a:r>
            <a:endParaRPr lang="en-US" sz="850" dirty="0"/>
          </a:p>
        </p:txBody>
      </p:sp>
      <p:sp>
        <p:nvSpPr>
          <p:cNvPr id="17" name="Shape 15"/>
          <p:cNvSpPr/>
          <p:nvPr/>
        </p:nvSpPr>
        <p:spPr>
          <a:xfrm>
            <a:off x="5056632" y="3108960"/>
            <a:ext cx="502920" cy="1371600"/>
          </a:xfrm>
          <a:prstGeom prst="rect">
            <a:avLst/>
          </a:prstGeom>
          <a:solidFill>
            <a:srgbClr val="2A4060"/>
          </a:solidFill>
          <a:ln w="12700">
            <a:solidFill>
              <a:srgbClr val="2A4060"/>
            </a:solidFill>
            <a:prstDash val="solid"/>
          </a:ln>
        </p:spPr>
        <p:txBody>
          <a:bodyPr/>
          <a:lstStyle/>
          <a:p>
            <a:endParaRPr lang="en-US"/>
          </a:p>
        </p:txBody>
      </p:sp>
      <p:sp>
        <p:nvSpPr>
          <p:cNvPr id="18" name="Shape 16"/>
          <p:cNvSpPr/>
          <p:nvPr/>
        </p:nvSpPr>
        <p:spPr>
          <a:xfrm>
            <a:off x="5056632" y="3904488"/>
            <a:ext cx="502920" cy="576072"/>
          </a:xfrm>
          <a:prstGeom prst="rect">
            <a:avLst/>
          </a:prstGeom>
          <a:solidFill>
            <a:srgbClr val="D4820A"/>
          </a:solidFill>
          <a:ln w="12700">
            <a:solidFill>
              <a:srgbClr val="D4820A"/>
            </a:solidFill>
            <a:prstDash val="solid"/>
          </a:ln>
        </p:spPr>
        <p:txBody>
          <a:bodyPr/>
          <a:lstStyle/>
          <a:p>
            <a:endParaRPr lang="en-US"/>
          </a:p>
        </p:txBody>
      </p:sp>
      <p:sp>
        <p:nvSpPr>
          <p:cNvPr id="19" name="Text 17"/>
          <p:cNvSpPr/>
          <p:nvPr/>
        </p:nvSpPr>
        <p:spPr>
          <a:xfrm>
            <a:off x="4782312" y="3557016"/>
            <a:ext cx="1005840" cy="329184"/>
          </a:xfrm>
          <a:prstGeom prst="rect">
            <a:avLst/>
          </a:prstGeom>
          <a:noFill/>
          <a:ln/>
        </p:spPr>
        <p:txBody>
          <a:bodyPr wrap="square" rtlCol="0" anchor="ctr"/>
          <a:lstStyle/>
          <a:p>
            <a:pPr marL="0" indent="0" algn="ctr">
              <a:buNone/>
            </a:pPr>
            <a:r>
              <a:rPr lang="en-US" sz="1400" b="1" dirty="0">
                <a:solidFill>
                  <a:srgbClr val="D4820A"/>
                </a:solidFill>
                <a:latin typeface="Calibri" pitchFamily="34" charset="0"/>
                <a:ea typeface="Calibri" pitchFamily="34" charset="-122"/>
                <a:cs typeface="Calibri" pitchFamily="34" charset="-120"/>
              </a:rPr>
              <a:t>42</a:t>
            </a:r>
            <a:endParaRPr lang="en-US" sz="1400" dirty="0"/>
          </a:p>
        </p:txBody>
      </p:sp>
      <p:sp>
        <p:nvSpPr>
          <p:cNvPr id="20" name="Text 18"/>
          <p:cNvSpPr/>
          <p:nvPr/>
        </p:nvSpPr>
        <p:spPr>
          <a:xfrm>
            <a:off x="4782312" y="4535424"/>
            <a:ext cx="1005840" cy="475488"/>
          </a:xfrm>
          <a:prstGeom prst="rect">
            <a:avLst/>
          </a:prstGeom>
          <a:noFill/>
          <a:ln/>
        </p:spPr>
        <p:txBody>
          <a:bodyPr wrap="square" rtlCol="0" anchor="ctr"/>
          <a:lstStyle/>
          <a:p>
            <a:pPr marL="0" indent="0" algn="ctr">
              <a:buNone/>
            </a:pPr>
            <a:r>
              <a:rPr lang="en-US" sz="850" dirty="0">
                <a:solidFill>
                  <a:srgbClr val="BDC3C7"/>
                </a:solidFill>
                <a:latin typeface="Calibri" pitchFamily="34" charset="0"/>
                <a:ea typeface="Calibri" pitchFamily="34" charset="-122"/>
                <a:cs typeface="Calibri" pitchFamily="34" charset="-120"/>
              </a:rPr>
              <a:t>Technical GEO</a:t>
            </a:r>
            <a:endParaRPr lang="en-US" sz="850" dirty="0"/>
          </a:p>
        </p:txBody>
      </p:sp>
      <p:sp>
        <p:nvSpPr>
          <p:cNvPr id="21" name="Shape 19"/>
          <p:cNvSpPr/>
          <p:nvPr/>
        </p:nvSpPr>
        <p:spPr>
          <a:xfrm>
            <a:off x="6473952" y="3108960"/>
            <a:ext cx="502920" cy="1371600"/>
          </a:xfrm>
          <a:prstGeom prst="rect">
            <a:avLst/>
          </a:prstGeom>
          <a:solidFill>
            <a:srgbClr val="2A4060"/>
          </a:solidFill>
          <a:ln w="12700">
            <a:solidFill>
              <a:srgbClr val="2A4060"/>
            </a:solidFill>
            <a:prstDash val="solid"/>
          </a:ln>
        </p:spPr>
        <p:txBody>
          <a:bodyPr/>
          <a:lstStyle/>
          <a:p>
            <a:endParaRPr lang="en-US"/>
          </a:p>
        </p:txBody>
      </p:sp>
      <p:sp>
        <p:nvSpPr>
          <p:cNvPr id="22" name="Shape 20"/>
          <p:cNvSpPr/>
          <p:nvPr/>
        </p:nvSpPr>
        <p:spPr>
          <a:xfrm>
            <a:off x="6473952" y="4425696"/>
            <a:ext cx="502920" cy="54864"/>
          </a:xfrm>
          <a:prstGeom prst="rect">
            <a:avLst/>
          </a:prstGeom>
          <a:solidFill>
            <a:srgbClr val="C0392B"/>
          </a:solidFill>
          <a:ln w="12700">
            <a:solidFill>
              <a:srgbClr val="C0392B"/>
            </a:solidFill>
            <a:prstDash val="solid"/>
          </a:ln>
        </p:spPr>
        <p:txBody>
          <a:bodyPr/>
          <a:lstStyle/>
          <a:p>
            <a:endParaRPr lang="en-US"/>
          </a:p>
        </p:txBody>
      </p:sp>
      <p:sp>
        <p:nvSpPr>
          <p:cNvPr id="23" name="Text 21"/>
          <p:cNvSpPr/>
          <p:nvPr/>
        </p:nvSpPr>
        <p:spPr>
          <a:xfrm>
            <a:off x="6199632" y="4078224"/>
            <a:ext cx="1005840" cy="329184"/>
          </a:xfrm>
          <a:prstGeom prst="rect">
            <a:avLst/>
          </a:prstGeom>
          <a:noFill/>
          <a:ln/>
        </p:spPr>
        <p:txBody>
          <a:bodyPr wrap="square" rtlCol="0" anchor="ctr"/>
          <a:lstStyle/>
          <a:p>
            <a:pPr marL="0" indent="0" algn="ctr">
              <a:buNone/>
            </a:pPr>
            <a:r>
              <a:rPr lang="en-US" sz="1400" b="1" dirty="0">
                <a:solidFill>
                  <a:srgbClr val="C0392B"/>
                </a:solidFill>
                <a:latin typeface="Calibri" pitchFamily="34" charset="0"/>
                <a:ea typeface="Calibri" pitchFamily="34" charset="-122"/>
                <a:cs typeface="Calibri" pitchFamily="34" charset="-120"/>
              </a:rPr>
              <a:t>2</a:t>
            </a:r>
            <a:endParaRPr lang="en-US" sz="1400" dirty="0"/>
          </a:p>
        </p:txBody>
      </p:sp>
      <p:sp>
        <p:nvSpPr>
          <p:cNvPr id="24" name="Text 22"/>
          <p:cNvSpPr/>
          <p:nvPr/>
        </p:nvSpPr>
        <p:spPr>
          <a:xfrm>
            <a:off x="6199632" y="4535424"/>
            <a:ext cx="1005840" cy="475488"/>
          </a:xfrm>
          <a:prstGeom prst="rect">
            <a:avLst/>
          </a:prstGeom>
          <a:noFill/>
          <a:ln/>
        </p:spPr>
        <p:txBody>
          <a:bodyPr wrap="square" rtlCol="0" anchor="ctr"/>
          <a:lstStyle/>
          <a:p>
            <a:pPr marL="0" indent="0" algn="ctr">
              <a:buNone/>
            </a:pPr>
            <a:r>
              <a:rPr lang="en-US" sz="850" dirty="0">
                <a:solidFill>
                  <a:srgbClr val="BDC3C7"/>
                </a:solidFill>
                <a:latin typeface="Calibri" pitchFamily="34" charset="0"/>
                <a:ea typeface="Calibri" pitchFamily="34" charset="-122"/>
                <a:cs typeface="Calibri" pitchFamily="34" charset="-120"/>
              </a:rPr>
              <a:t>Schema &amp; Structured Data</a:t>
            </a:r>
            <a:endParaRPr lang="en-US" sz="850" dirty="0"/>
          </a:p>
        </p:txBody>
      </p:sp>
      <p:sp>
        <p:nvSpPr>
          <p:cNvPr id="25" name="Shape 23"/>
          <p:cNvSpPr/>
          <p:nvPr/>
        </p:nvSpPr>
        <p:spPr>
          <a:xfrm>
            <a:off x="7891272" y="3108960"/>
            <a:ext cx="502920" cy="1371600"/>
          </a:xfrm>
          <a:prstGeom prst="rect">
            <a:avLst/>
          </a:prstGeom>
          <a:solidFill>
            <a:srgbClr val="2A4060"/>
          </a:solidFill>
          <a:ln w="12700">
            <a:solidFill>
              <a:srgbClr val="2A4060"/>
            </a:solidFill>
            <a:prstDash val="solid"/>
          </a:ln>
        </p:spPr>
        <p:txBody>
          <a:bodyPr/>
          <a:lstStyle/>
          <a:p>
            <a:endParaRPr lang="en-US"/>
          </a:p>
        </p:txBody>
      </p:sp>
      <p:sp>
        <p:nvSpPr>
          <p:cNvPr id="26" name="Shape 24"/>
          <p:cNvSpPr/>
          <p:nvPr/>
        </p:nvSpPr>
        <p:spPr>
          <a:xfrm>
            <a:off x="7891272" y="4274820"/>
            <a:ext cx="502920" cy="205740"/>
          </a:xfrm>
          <a:prstGeom prst="rect">
            <a:avLst/>
          </a:prstGeom>
          <a:solidFill>
            <a:srgbClr val="C0392B"/>
          </a:solidFill>
          <a:ln w="12700">
            <a:solidFill>
              <a:srgbClr val="C0392B"/>
            </a:solidFill>
            <a:prstDash val="solid"/>
          </a:ln>
        </p:spPr>
        <p:txBody>
          <a:bodyPr/>
          <a:lstStyle/>
          <a:p>
            <a:endParaRPr lang="en-US"/>
          </a:p>
        </p:txBody>
      </p:sp>
      <p:sp>
        <p:nvSpPr>
          <p:cNvPr id="27" name="Text 25"/>
          <p:cNvSpPr/>
          <p:nvPr/>
        </p:nvSpPr>
        <p:spPr>
          <a:xfrm>
            <a:off x="7616952" y="3927348"/>
            <a:ext cx="1005840" cy="329184"/>
          </a:xfrm>
          <a:prstGeom prst="rect">
            <a:avLst/>
          </a:prstGeom>
          <a:noFill/>
          <a:ln/>
        </p:spPr>
        <p:txBody>
          <a:bodyPr wrap="square" rtlCol="0" anchor="ctr"/>
          <a:lstStyle/>
          <a:p>
            <a:pPr marL="0" indent="0" algn="ctr">
              <a:buNone/>
            </a:pPr>
            <a:r>
              <a:rPr lang="en-US" sz="1400" b="1" dirty="0">
                <a:solidFill>
                  <a:srgbClr val="C0392B"/>
                </a:solidFill>
                <a:latin typeface="Calibri" pitchFamily="34" charset="0"/>
                <a:ea typeface="Calibri" pitchFamily="34" charset="-122"/>
                <a:cs typeface="Calibri" pitchFamily="34" charset="-120"/>
              </a:rPr>
              <a:t>15</a:t>
            </a:r>
            <a:endParaRPr lang="en-US" sz="1400" dirty="0"/>
          </a:p>
        </p:txBody>
      </p:sp>
      <p:sp>
        <p:nvSpPr>
          <p:cNvPr id="28" name="Text 26"/>
          <p:cNvSpPr/>
          <p:nvPr/>
        </p:nvSpPr>
        <p:spPr>
          <a:xfrm>
            <a:off x="7616952" y="4535424"/>
            <a:ext cx="1005840" cy="475488"/>
          </a:xfrm>
          <a:prstGeom prst="rect">
            <a:avLst/>
          </a:prstGeom>
          <a:noFill/>
          <a:ln/>
        </p:spPr>
        <p:txBody>
          <a:bodyPr wrap="square" rtlCol="0" anchor="ctr"/>
          <a:lstStyle/>
          <a:p>
            <a:pPr marL="0" indent="0" algn="ctr">
              <a:buNone/>
            </a:pPr>
            <a:r>
              <a:rPr lang="en-US" sz="850" dirty="0">
                <a:solidFill>
                  <a:srgbClr val="BDC3C7"/>
                </a:solidFill>
                <a:latin typeface="Calibri" pitchFamily="34" charset="0"/>
                <a:ea typeface="Calibri" pitchFamily="34" charset="-122"/>
                <a:cs typeface="Calibri" pitchFamily="34" charset="-120"/>
              </a:rPr>
              <a:t>Platform Optimization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2E4B"/>
          </a:solidFill>
          <a:ln w="12700">
            <a:solidFill>
              <a:srgbClr val="1B2E4B"/>
            </a:solidFill>
            <a:prstDash val="solid"/>
          </a:ln>
        </p:spPr>
        <p:txBody>
          <a:bodyPr/>
          <a:lstStyle/>
          <a:p>
            <a:endParaRPr lang="en-US"/>
          </a:p>
        </p:txBody>
      </p:sp>
      <p:sp>
        <p:nvSpPr>
          <p:cNvPr id="3" name="Shape 1"/>
          <p:cNvSpPr/>
          <p:nvPr/>
        </p:nvSpPr>
        <p:spPr>
          <a:xfrm>
            <a:off x="0" y="0"/>
            <a:ext cx="256032" cy="566928"/>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438912" y="0"/>
            <a:ext cx="8412480" cy="56692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AI Citability — 38/100</a:t>
            </a:r>
            <a:endParaRPr lang="en-US" sz="1800" dirty="0"/>
          </a:p>
        </p:txBody>
      </p:sp>
      <p:sp>
        <p:nvSpPr>
          <p:cNvPr id="5" name="Shape 3"/>
          <p:cNvSpPr/>
          <p:nvPr/>
        </p:nvSpPr>
        <p:spPr>
          <a:xfrm>
            <a:off x="7223760" y="914400"/>
            <a:ext cx="1325880" cy="1325880"/>
          </a:xfrm>
          <a:prstGeom prst="ellipse">
            <a:avLst/>
          </a:prstGeom>
          <a:solidFill>
            <a:srgbClr val="D4820A"/>
          </a:solidFill>
          <a:ln w="12700">
            <a:solidFill>
              <a:srgbClr val="D4820A"/>
            </a:solidFill>
            <a:prstDash val="solid"/>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7223760" y="1073506"/>
            <a:ext cx="1325880" cy="76901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38</a:t>
            </a:r>
            <a:endParaRPr lang="en-US" sz="3200" dirty="0"/>
          </a:p>
        </p:txBody>
      </p:sp>
      <p:sp>
        <p:nvSpPr>
          <p:cNvPr id="7" name="Text 5"/>
          <p:cNvSpPr/>
          <p:nvPr/>
        </p:nvSpPr>
        <p:spPr>
          <a:xfrm>
            <a:off x="7223760" y="1776222"/>
            <a:ext cx="1325880" cy="371246"/>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/100</a:t>
            </a:r>
            <a:endParaRPr lang="en-US" sz="1300" dirty="0"/>
          </a:p>
        </p:txBody>
      </p:sp>
      <p:sp>
        <p:nvSpPr>
          <p:cNvPr id="8" name="Text 6"/>
          <p:cNvSpPr/>
          <p:nvPr/>
        </p:nvSpPr>
        <p:spPr>
          <a:xfrm>
            <a:off x="292608" y="713232"/>
            <a:ext cx="6675120" cy="96012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The site has the right structural instincts — FAQ sections, step-by-step processes, definition blocks — but poor execution. The trade license page is the strongest asset, with specific fee data and 17 trade categories listed. Across all other pages, the dominant pattern is promotional language with imprecise timeframes and zero external source attribution.</a:t>
            </a:r>
            <a:endParaRPr lang="en-US" sz="1100" dirty="0"/>
          </a:p>
        </p:txBody>
      </p:sp>
      <p:sp>
        <p:nvSpPr>
          <p:cNvPr id="9" name="Text 7"/>
          <p:cNvSpPr/>
          <p:nvPr/>
        </p:nvSpPr>
        <p:spPr>
          <a:xfrm>
            <a:off x="292608" y="1755648"/>
            <a:ext cx="8558784" cy="320040"/>
          </a:xfrm>
          <a:prstGeom prst="rect">
            <a:avLst/>
          </a:prstGeom>
          <a:noFill/>
          <a:ln/>
        </p:spPr>
        <p:txBody>
          <a:bodyPr wrap="square" rtlCol="0" anchor="ctr"/>
          <a:lstStyle/>
          <a:p>
            <a:pPr marL="0" indent="0">
              <a:buNone/>
            </a:pPr>
            <a:r>
              <a:rPr lang="en-US" sz="1000" b="1" kern="0" spc="200" dirty="0">
                <a:solidFill>
                  <a:srgbClr val="1B2E4B"/>
                </a:solidFill>
                <a:latin typeface="Calibri" pitchFamily="34" charset="0"/>
                <a:ea typeface="Calibri" pitchFamily="34" charset="-122"/>
                <a:cs typeface="Calibri" pitchFamily="34" charset="-120"/>
              </a:rPr>
              <a:t>HIGHEST-VALUE PAGES FOR AI CITABILITY</a:t>
            </a:r>
            <a:endParaRPr lang="en-US" sz="1000" dirty="0"/>
          </a:p>
        </p:txBody>
      </p:sp>
      <p:sp>
        <p:nvSpPr>
          <p:cNvPr id="10" name="Shape 8"/>
          <p:cNvSpPr/>
          <p:nvPr/>
        </p:nvSpPr>
        <p:spPr>
          <a:xfrm>
            <a:off x="292608" y="2148840"/>
            <a:ext cx="8558784" cy="786384"/>
          </a:xfrm>
          <a:prstGeom prst="rect">
            <a:avLst/>
          </a:prstGeom>
          <a:solidFill>
            <a:srgbClr val="FFFFFF"/>
          </a:solidFill>
          <a:ln w="12700">
            <a:solidFill>
              <a:srgbClr val="DDE2E8"/>
            </a:solidFill>
            <a:prstDash val="solid"/>
          </a:ln>
        </p:spPr>
        <p:txBody>
          <a:bodyPr/>
          <a:lstStyle/>
          <a:p>
            <a:endParaRPr lang="en-US"/>
          </a:p>
        </p:txBody>
      </p:sp>
      <p:sp>
        <p:nvSpPr>
          <p:cNvPr id="11" name="Shape 9"/>
          <p:cNvSpPr/>
          <p:nvPr/>
        </p:nvSpPr>
        <p:spPr>
          <a:xfrm>
            <a:off x="292608" y="2148840"/>
            <a:ext cx="73152" cy="786384"/>
          </a:xfrm>
          <a:prstGeom prst="rect">
            <a:avLst/>
          </a:prstGeom>
          <a:solidFill>
            <a:srgbClr val="1E7B3A"/>
          </a:solidFill>
          <a:ln w="12700">
            <a:solidFill>
              <a:srgbClr val="1E7B3A"/>
            </a:solidFill>
            <a:prstDash val="solid"/>
          </a:ln>
        </p:spPr>
        <p:txBody>
          <a:bodyPr/>
          <a:lstStyle/>
          <a:p>
            <a:endParaRPr lang="en-US"/>
          </a:p>
        </p:txBody>
      </p:sp>
      <p:sp>
        <p:nvSpPr>
          <p:cNvPr id="12" name="Text 10"/>
          <p:cNvSpPr/>
          <p:nvPr/>
        </p:nvSpPr>
        <p:spPr>
          <a:xfrm>
            <a:off x="475488" y="2194560"/>
            <a:ext cx="3474720" cy="329184"/>
          </a:xfrm>
          <a:prstGeom prst="rect">
            <a:avLst/>
          </a:prstGeom>
          <a:noFill/>
          <a:ln/>
        </p:spPr>
        <p:txBody>
          <a:bodyPr wrap="square" rtlCol="0" anchor="ctr"/>
          <a:lstStyle/>
          <a:p>
            <a:pPr marL="0" indent="0">
              <a:buNone/>
            </a:pPr>
            <a:r>
              <a:rPr lang="en-US" sz="1200" b="1" dirty="0">
                <a:solidFill>
                  <a:srgbClr val="1B2E4B"/>
                </a:solidFill>
                <a:latin typeface="Calibri" pitchFamily="34" charset="0"/>
                <a:ea typeface="Calibri" pitchFamily="34" charset="-122"/>
                <a:cs typeface="Calibri" pitchFamily="34" charset="-120"/>
              </a:rPr>
              <a:t>/trade-license-sydney/</a:t>
            </a:r>
            <a:endParaRPr lang="en-US" sz="1200" dirty="0"/>
          </a:p>
        </p:txBody>
      </p:sp>
      <p:sp>
        <p:nvSpPr>
          <p:cNvPr id="13" name="Shape 11"/>
          <p:cNvSpPr/>
          <p:nvPr/>
        </p:nvSpPr>
        <p:spPr>
          <a:xfrm>
            <a:off x="4005072" y="2331720"/>
            <a:ext cx="640080" cy="237744"/>
          </a:xfrm>
          <a:prstGeom prst="rect">
            <a:avLst/>
          </a:prstGeom>
          <a:solidFill>
            <a:srgbClr val="1E7B3A"/>
          </a:solidFill>
          <a:ln w="12700">
            <a:solidFill>
              <a:srgbClr val="1E7B3A"/>
            </a:solidFill>
            <a:prstDash val="solid"/>
          </a:ln>
        </p:spPr>
        <p:txBody>
          <a:bodyPr/>
          <a:lstStyle/>
          <a:p>
            <a:endParaRPr lang="en-US"/>
          </a:p>
        </p:txBody>
      </p:sp>
      <p:sp>
        <p:nvSpPr>
          <p:cNvPr id="14" name="Text 12"/>
          <p:cNvSpPr/>
          <p:nvPr/>
        </p:nvSpPr>
        <p:spPr>
          <a:xfrm>
            <a:off x="4005072" y="2331720"/>
            <a:ext cx="640080"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BEST</a:t>
            </a:r>
            <a:endParaRPr lang="en-US" sz="800" dirty="0"/>
          </a:p>
        </p:txBody>
      </p:sp>
      <p:sp>
        <p:nvSpPr>
          <p:cNvPr id="15" name="Text 13"/>
          <p:cNvSpPr/>
          <p:nvPr/>
        </p:nvSpPr>
        <p:spPr>
          <a:xfrm>
            <a:off x="475488" y="2551176"/>
            <a:ext cx="8183880" cy="347472"/>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~3,500 words, specific fee data ($378/$755/$1,160 for 1/3/5-yr licences), 9 FAQ questions, 17 trade types. Best page on the site. Still needs government citations and FAQPage schema.</a:t>
            </a:r>
            <a:endParaRPr lang="en-US" sz="950" dirty="0"/>
          </a:p>
        </p:txBody>
      </p:sp>
      <p:sp>
        <p:nvSpPr>
          <p:cNvPr id="16" name="Shape 14"/>
          <p:cNvSpPr/>
          <p:nvPr/>
        </p:nvSpPr>
        <p:spPr>
          <a:xfrm>
            <a:off x="292608" y="3063240"/>
            <a:ext cx="8558784" cy="786384"/>
          </a:xfrm>
          <a:prstGeom prst="rect">
            <a:avLst/>
          </a:prstGeom>
          <a:solidFill>
            <a:srgbClr val="FFFFFF"/>
          </a:solidFill>
          <a:ln w="12700">
            <a:solidFill>
              <a:srgbClr val="DDE2E8"/>
            </a:solidFill>
            <a:prstDash val="solid"/>
          </a:ln>
        </p:spPr>
        <p:txBody>
          <a:bodyPr/>
          <a:lstStyle/>
          <a:p>
            <a:endParaRPr lang="en-US"/>
          </a:p>
        </p:txBody>
      </p:sp>
      <p:sp>
        <p:nvSpPr>
          <p:cNvPr id="17" name="Shape 15"/>
          <p:cNvSpPr/>
          <p:nvPr/>
        </p:nvSpPr>
        <p:spPr>
          <a:xfrm>
            <a:off x="292608" y="3063240"/>
            <a:ext cx="73152" cy="786384"/>
          </a:xfrm>
          <a:prstGeom prst="rect">
            <a:avLst/>
          </a:prstGeom>
          <a:solidFill>
            <a:srgbClr val="D4820A"/>
          </a:solidFill>
          <a:ln w="12700">
            <a:solidFill>
              <a:srgbClr val="D4820A"/>
            </a:solidFill>
            <a:prstDash val="solid"/>
          </a:ln>
        </p:spPr>
        <p:txBody>
          <a:bodyPr/>
          <a:lstStyle/>
          <a:p>
            <a:endParaRPr lang="en-US"/>
          </a:p>
        </p:txBody>
      </p:sp>
      <p:sp>
        <p:nvSpPr>
          <p:cNvPr id="18" name="Text 16"/>
          <p:cNvSpPr/>
          <p:nvPr/>
        </p:nvSpPr>
        <p:spPr>
          <a:xfrm>
            <a:off x="475488" y="3108960"/>
            <a:ext cx="3474720" cy="329184"/>
          </a:xfrm>
          <a:prstGeom prst="rect">
            <a:avLst/>
          </a:prstGeom>
          <a:noFill/>
          <a:ln/>
        </p:spPr>
        <p:txBody>
          <a:bodyPr wrap="square" rtlCol="0" anchor="ctr"/>
          <a:lstStyle/>
          <a:p>
            <a:pPr marL="0" indent="0">
              <a:buNone/>
            </a:pPr>
            <a:r>
              <a:rPr lang="en-US" sz="1200" b="1" dirty="0">
                <a:solidFill>
                  <a:srgbClr val="1B2E4B"/>
                </a:solidFill>
                <a:latin typeface="Calibri" pitchFamily="34" charset="0"/>
                <a:ea typeface="Calibri" pitchFamily="34" charset="-122"/>
                <a:cs typeface="Calibri" pitchFamily="34" charset="-120"/>
              </a:rPr>
              <a:t>/rpl-certification-in-nsw/</a:t>
            </a:r>
            <a:endParaRPr lang="en-US" sz="1200" dirty="0"/>
          </a:p>
        </p:txBody>
      </p:sp>
      <p:sp>
        <p:nvSpPr>
          <p:cNvPr id="19" name="Shape 17"/>
          <p:cNvSpPr/>
          <p:nvPr/>
        </p:nvSpPr>
        <p:spPr>
          <a:xfrm>
            <a:off x="4005072" y="3246120"/>
            <a:ext cx="640080" cy="237744"/>
          </a:xfrm>
          <a:prstGeom prst="rect">
            <a:avLst/>
          </a:prstGeom>
          <a:solidFill>
            <a:srgbClr val="D4820A"/>
          </a:solidFill>
          <a:ln w="12700">
            <a:solidFill>
              <a:srgbClr val="D4820A"/>
            </a:solidFill>
            <a:prstDash val="solid"/>
          </a:ln>
        </p:spPr>
        <p:txBody>
          <a:bodyPr/>
          <a:lstStyle/>
          <a:p>
            <a:endParaRPr lang="en-US"/>
          </a:p>
        </p:txBody>
      </p:sp>
      <p:sp>
        <p:nvSpPr>
          <p:cNvPr id="20" name="Text 18"/>
          <p:cNvSpPr/>
          <p:nvPr/>
        </p:nvSpPr>
        <p:spPr>
          <a:xfrm>
            <a:off x="4005072" y="3246120"/>
            <a:ext cx="640080"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GOOD</a:t>
            </a:r>
            <a:endParaRPr lang="en-US" sz="800" dirty="0"/>
          </a:p>
        </p:txBody>
      </p:sp>
      <p:sp>
        <p:nvSpPr>
          <p:cNvPr id="21" name="Text 19"/>
          <p:cNvSpPr/>
          <p:nvPr/>
        </p:nvSpPr>
        <p:spPr>
          <a:xfrm>
            <a:off x="475488" y="3465576"/>
            <a:ext cx="8183880" cy="347472"/>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Definition blocks, 10 FAQ questions. Needs expansion, FAQPage schema, and government citations pointing to ASQA.</a:t>
            </a:r>
            <a:endParaRPr lang="en-US" sz="950" dirty="0"/>
          </a:p>
        </p:txBody>
      </p:sp>
      <p:sp>
        <p:nvSpPr>
          <p:cNvPr id="22" name="Shape 20"/>
          <p:cNvSpPr/>
          <p:nvPr/>
        </p:nvSpPr>
        <p:spPr>
          <a:xfrm>
            <a:off x="292608" y="3977640"/>
            <a:ext cx="8558784" cy="786384"/>
          </a:xfrm>
          <a:prstGeom prst="rect">
            <a:avLst/>
          </a:prstGeom>
          <a:solidFill>
            <a:srgbClr val="FFFFFF"/>
          </a:solidFill>
          <a:ln w="12700">
            <a:solidFill>
              <a:srgbClr val="DDE2E8"/>
            </a:solidFill>
            <a:prstDash val="solid"/>
          </a:ln>
        </p:spPr>
        <p:txBody>
          <a:bodyPr/>
          <a:lstStyle/>
          <a:p>
            <a:endParaRPr lang="en-US"/>
          </a:p>
        </p:txBody>
      </p:sp>
      <p:sp>
        <p:nvSpPr>
          <p:cNvPr id="23" name="Shape 21"/>
          <p:cNvSpPr/>
          <p:nvPr/>
        </p:nvSpPr>
        <p:spPr>
          <a:xfrm>
            <a:off x="292608" y="3977640"/>
            <a:ext cx="73152" cy="786384"/>
          </a:xfrm>
          <a:prstGeom prst="rect">
            <a:avLst/>
          </a:prstGeom>
          <a:solidFill>
            <a:srgbClr val="D4820A"/>
          </a:solidFill>
          <a:ln w="12700">
            <a:solidFill>
              <a:srgbClr val="D4820A"/>
            </a:solidFill>
            <a:prstDash val="solid"/>
          </a:ln>
        </p:spPr>
        <p:txBody>
          <a:bodyPr/>
          <a:lstStyle/>
          <a:p>
            <a:endParaRPr lang="en-US"/>
          </a:p>
        </p:txBody>
      </p:sp>
      <p:sp>
        <p:nvSpPr>
          <p:cNvPr id="24" name="Text 22"/>
          <p:cNvSpPr/>
          <p:nvPr/>
        </p:nvSpPr>
        <p:spPr>
          <a:xfrm>
            <a:off x="475488" y="4023360"/>
            <a:ext cx="3474720" cy="329184"/>
          </a:xfrm>
          <a:prstGeom prst="rect">
            <a:avLst/>
          </a:prstGeom>
          <a:noFill/>
          <a:ln/>
        </p:spPr>
        <p:txBody>
          <a:bodyPr wrap="square" rtlCol="0" anchor="ctr"/>
          <a:lstStyle/>
          <a:p>
            <a:pPr marL="0" indent="0">
              <a:buNone/>
            </a:pPr>
            <a:r>
              <a:rPr lang="en-US" sz="1200" b="1" dirty="0">
                <a:solidFill>
                  <a:srgbClr val="1B2E4B"/>
                </a:solidFill>
                <a:latin typeface="Calibri" pitchFamily="34" charset="0"/>
                <a:ea typeface="Calibri" pitchFamily="34" charset="-122"/>
                <a:cs typeface="Calibri" pitchFamily="34" charset="-120"/>
              </a:rPr>
              <a:t>/student-visas/</a:t>
            </a:r>
            <a:endParaRPr lang="en-US" sz="1200" dirty="0"/>
          </a:p>
        </p:txBody>
      </p:sp>
      <p:sp>
        <p:nvSpPr>
          <p:cNvPr id="25" name="Shape 23"/>
          <p:cNvSpPr/>
          <p:nvPr/>
        </p:nvSpPr>
        <p:spPr>
          <a:xfrm>
            <a:off x="4005072" y="4160520"/>
            <a:ext cx="640080" cy="237744"/>
          </a:xfrm>
          <a:prstGeom prst="rect">
            <a:avLst/>
          </a:prstGeom>
          <a:solidFill>
            <a:srgbClr val="D4820A"/>
          </a:solidFill>
          <a:ln w="12700">
            <a:solidFill>
              <a:srgbClr val="D4820A"/>
            </a:solidFill>
            <a:prstDash val="solid"/>
          </a:ln>
        </p:spPr>
        <p:txBody>
          <a:bodyPr/>
          <a:lstStyle/>
          <a:p>
            <a:endParaRPr lang="en-US"/>
          </a:p>
        </p:txBody>
      </p:sp>
      <p:sp>
        <p:nvSpPr>
          <p:cNvPr id="26" name="Text 24"/>
          <p:cNvSpPr/>
          <p:nvPr/>
        </p:nvSpPr>
        <p:spPr>
          <a:xfrm>
            <a:off x="4005072" y="4160520"/>
            <a:ext cx="640080"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GOOD</a:t>
            </a:r>
            <a:endParaRPr lang="en-US" sz="800" dirty="0"/>
          </a:p>
        </p:txBody>
      </p:sp>
      <p:sp>
        <p:nvSpPr>
          <p:cNvPr id="27" name="Text 25"/>
          <p:cNvSpPr/>
          <p:nvPr/>
        </p:nvSpPr>
        <p:spPr>
          <a:xfrm>
            <a:off x="475488" y="4379976"/>
            <a:ext cx="8183880" cy="347472"/>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Specific visa subclass numbers (500, 590, 407, 485, 417, 462, 600), duration and work rights listed. Needs Home Affairs citations.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2E4B"/>
          </a:solidFill>
          <a:ln w="12700">
            <a:solidFill>
              <a:srgbClr val="1B2E4B"/>
            </a:solidFill>
            <a:prstDash val="solid"/>
          </a:ln>
        </p:spPr>
        <p:txBody>
          <a:bodyPr/>
          <a:lstStyle/>
          <a:p>
            <a:endParaRPr lang="en-US"/>
          </a:p>
        </p:txBody>
      </p:sp>
      <p:sp>
        <p:nvSpPr>
          <p:cNvPr id="3" name="Shape 1"/>
          <p:cNvSpPr/>
          <p:nvPr/>
        </p:nvSpPr>
        <p:spPr>
          <a:xfrm>
            <a:off x="0" y="0"/>
            <a:ext cx="256032" cy="566928"/>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438912" y="0"/>
            <a:ext cx="8412480" cy="56692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Brand Authority — 22/100</a:t>
            </a:r>
            <a:endParaRPr lang="en-US" sz="1800" dirty="0"/>
          </a:p>
        </p:txBody>
      </p:sp>
      <p:sp>
        <p:nvSpPr>
          <p:cNvPr id="5" name="Shape 3"/>
          <p:cNvSpPr/>
          <p:nvPr/>
        </p:nvSpPr>
        <p:spPr>
          <a:xfrm>
            <a:off x="7498080" y="640080"/>
            <a:ext cx="1188720" cy="1188720"/>
          </a:xfrm>
          <a:prstGeom prst="ellipse">
            <a:avLst/>
          </a:prstGeom>
          <a:solidFill>
            <a:srgbClr val="C0392B"/>
          </a:solidFill>
          <a:ln w="12700">
            <a:solidFill>
              <a:srgbClr val="C0392B"/>
            </a:solidFill>
            <a:prstDash val="solid"/>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7498080" y="782726"/>
            <a:ext cx="1188720" cy="689458"/>
          </a:xfrm>
          <a:prstGeom prst="rect">
            <a:avLst/>
          </a:prstGeom>
          <a:noFill/>
          <a:ln/>
        </p:spPr>
        <p:txBody>
          <a:bodyPr wrap="square" rtlCol="0" anchor="ctr"/>
          <a:lstStyle/>
          <a:p>
            <a:pPr marL="0" indent="0" algn="ctr">
              <a:buNone/>
            </a:pPr>
            <a:r>
              <a:rPr lang="en-US" sz="2900" b="1" dirty="0">
                <a:solidFill>
                  <a:srgbClr val="FFFFFF"/>
                </a:solidFill>
                <a:latin typeface="Calibri" pitchFamily="34" charset="0"/>
                <a:ea typeface="Calibri" pitchFamily="34" charset="-122"/>
                <a:cs typeface="Calibri" pitchFamily="34" charset="-120"/>
              </a:rPr>
              <a:t>22</a:t>
            </a:r>
            <a:endParaRPr lang="en-US" sz="2900" dirty="0"/>
          </a:p>
        </p:txBody>
      </p:sp>
      <p:sp>
        <p:nvSpPr>
          <p:cNvPr id="7" name="Text 5"/>
          <p:cNvSpPr/>
          <p:nvPr/>
        </p:nvSpPr>
        <p:spPr>
          <a:xfrm>
            <a:off x="7498080" y="1412748"/>
            <a:ext cx="1188720" cy="332842"/>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/100</a:t>
            </a:r>
            <a:endParaRPr lang="en-US" sz="1200" dirty="0"/>
          </a:p>
        </p:txBody>
      </p:sp>
      <p:sp>
        <p:nvSpPr>
          <p:cNvPr id="8" name="Text 6"/>
          <p:cNvSpPr/>
          <p:nvPr/>
        </p:nvSpPr>
        <p:spPr>
          <a:xfrm>
            <a:off x="292608" y="713232"/>
            <a:ext cx="6675120" cy="749808"/>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KMH's brand is essentially unrecognised by AI entity systems. The ABN is active (47 862 232 276, registered March 2023) and NAP is consistent across the site — but virtually every external signal AI systems use for entity recognition is absent.</a:t>
            </a:r>
            <a:endParaRPr lang="en-US" sz="1100" dirty="0"/>
          </a:p>
        </p:txBody>
      </p:sp>
      <p:sp>
        <p:nvSpPr>
          <p:cNvPr id="9" name="Text 7"/>
          <p:cNvSpPr/>
          <p:nvPr/>
        </p:nvSpPr>
        <p:spPr>
          <a:xfrm>
            <a:off x="292608" y="1554480"/>
            <a:ext cx="8558784" cy="310896"/>
          </a:xfrm>
          <a:prstGeom prst="rect">
            <a:avLst/>
          </a:prstGeom>
          <a:noFill/>
          <a:ln/>
        </p:spPr>
        <p:txBody>
          <a:bodyPr wrap="square" rtlCol="0" anchor="ctr"/>
          <a:lstStyle/>
          <a:p>
            <a:pPr marL="0" indent="0">
              <a:buNone/>
            </a:pPr>
            <a:r>
              <a:rPr lang="en-US" sz="1000" b="1" kern="0" spc="200" dirty="0">
                <a:solidFill>
                  <a:srgbClr val="1B2E4B"/>
                </a:solidFill>
                <a:latin typeface="Calibri" pitchFamily="34" charset="0"/>
                <a:ea typeface="Calibri" pitchFamily="34" charset="-122"/>
                <a:cs typeface="Calibri" pitchFamily="34" charset="-120"/>
              </a:rPr>
              <a:t>PLATFORM PRESENCE MAP</a:t>
            </a:r>
            <a:endParaRPr lang="en-US" sz="1000" dirty="0"/>
          </a:p>
        </p:txBody>
      </p:sp>
      <p:sp>
        <p:nvSpPr>
          <p:cNvPr id="10" name="Shape 8"/>
          <p:cNvSpPr/>
          <p:nvPr/>
        </p:nvSpPr>
        <p:spPr>
          <a:xfrm>
            <a:off x="292608" y="1956816"/>
            <a:ext cx="4206240" cy="438912"/>
          </a:xfrm>
          <a:prstGeom prst="rect">
            <a:avLst/>
          </a:prstGeom>
          <a:solidFill>
            <a:srgbClr val="FFFFFF"/>
          </a:solidFill>
          <a:ln w="12700">
            <a:solidFill>
              <a:srgbClr val="DDE2E8"/>
            </a:solidFill>
            <a:prstDash val="solid"/>
          </a:ln>
        </p:spPr>
        <p:txBody>
          <a:bodyPr/>
          <a:lstStyle/>
          <a:p>
            <a:endParaRPr lang="en-US"/>
          </a:p>
        </p:txBody>
      </p:sp>
      <p:sp>
        <p:nvSpPr>
          <p:cNvPr id="11" name="Text 9"/>
          <p:cNvSpPr/>
          <p:nvPr/>
        </p:nvSpPr>
        <p:spPr>
          <a:xfrm>
            <a:off x="457200" y="1956816"/>
            <a:ext cx="2743200" cy="438912"/>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Wikipedia</a:t>
            </a:r>
            <a:endParaRPr lang="en-US" sz="1100" dirty="0"/>
          </a:p>
        </p:txBody>
      </p:sp>
      <p:sp>
        <p:nvSpPr>
          <p:cNvPr id="12" name="Shape 10"/>
          <p:cNvSpPr/>
          <p:nvPr/>
        </p:nvSpPr>
        <p:spPr>
          <a:xfrm>
            <a:off x="3236976" y="2048256"/>
            <a:ext cx="1097280" cy="256032"/>
          </a:xfrm>
          <a:prstGeom prst="rect">
            <a:avLst/>
          </a:prstGeom>
          <a:solidFill>
            <a:srgbClr val="C0392B"/>
          </a:solidFill>
          <a:ln w="12700">
            <a:solidFill>
              <a:srgbClr val="C0392B"/>
            </a:solidFill>
            <a:prstDash val="solid"/>
          </a:ln>
        </p:spPr>
        <p:txBody>
          <a:bodyPr/>
          <a:lstStyle/>
          <a:p>
            <a:endParaRPr lang="en-US"/>
          </a:p>
        </p:txBody>
      </p:sp>
      <p:sp>
        <p:nvSpPr>
          <p:cNvPr id="13" name="Text 11"/>
          <p:cNvSpPr/>
          <p:nvPr/>
        </p:nvSpPr>
        <p:spPr>
          <a:xfrm>
            <a:off x="3236976" y="2048256"/>
            <a:ext cx="1097280" cy="25603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Absent</a:t>
            </a:r>
            <a:endParaRPr lang="en-US" sz="850" dirty="0"/>
          </a:p>
        </p:txBody>
      </p:sp>
      <p:sp>
        <p:nvSpPr>
          <p:cNvPr id="14" name="Shape 12"/>
          <p:cNvSpPr/>
          <p:nvPr/>
        </p:nvSpPr>
        <p:spPr>
          <a:xfrm>
            <a:off x="292608" y="2468880"/>
            <a:ext cx="4206240" cy="438912"/>
          </a:xfrm>
          <a:prstGeom prst="rect">
            <a:avLst/>
          </a:prstGeom>
          <a:solidFill>
            <a:srgbClr val="F5F7FA"/>
          </a:solidFill>
          <a:ln w="12700">
            <a:solidFill>
              <a:srgbClr val="DDE2E8"/>
            </a:solidFill>
            <a:prstDash val="solid"/>
          </a:ln>
        </p:spPr>
        <p:txBody>
          <a:bodyPr/>
          <a:lstStyle/>
          <a:p>
            <a:endParaRPr lang="en-US"/>
          </a:p>
        </p:txBody>
      </p:sp>
      <p:sp>
        <p:nvSpPr>
          <p:cNvPr id="15" name="Text 13"/>
          <p:cNvSpPr/>
          <p:nvPr/>
        </p:nvSpPr>
        <p:spPr>
          <a:xfrm>
            <a:off x="457200" y="2468880"/>
            <a:ext cx="2743200" cy="438912"/>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LinkedIn</a:t>
            </a:r>
            <a:endParaRPr lang="en-US" sz="1100" dirty="0"/>
          </a:p>
        </p:txBody>
      </p:sp>
      <p:sp>
        <p:nvSpPr>
          <p:cNvPr id="16" name="Shape 14"/>
          <p:cNvSpPr/>
          <p:nvPr/>
        </p:nvSpPr>
        <p:spPr>
          <a:xfrm>
            <a:off x="3236976" y="2560320"/>
            <a:ext cx="1097280" cy="256032"/>
          </a:xfrm>
          <a:prstGeom prst="rect">
            <a:avLst/>
          </a:prstGeom>
          <a:solidFill>
            <a:srgbClr val="C0392B"/>
          </a:solidFill>
          <a:ln w="12700">
            <a:solidFill>
              <a:srgbClr val="C0392B"/>
            </a:solidFill>
            <a:prstDash val="solid"/>
          </a:ln>
        </p:spPr>
        <p:txBody>
          <a:bodyPr/>
          <a:lstStyle/>
          <a:p>
            <a:endParaRPr lang="en-US"/>
          </a:p>
        </p:txBody>
      </p:sp>
      <p:sp>
        <p:nvSpPr>
          <p:cNvPr id="17" name="Text 15"/>
          <p:cNvSpPr/>
          <p:nvPr/>
        </p:nvSpPr>
        <p:spPr>
          <a:xfrm>
            <a:off x="3236976" y="2560320"/>
            <a:ext cx="1097280" cy="25603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Absent</a:t>
            </a:r>
            <a:endParaRPr lang="en-US" sz="850" dirty="0"/>
          </a:p>
        </p:txBody>
      </p:sp>
      <p:sp>
        <p:nvSpPr>
          <p:cNvPr id="18" name="Shape 16"/>
          <p:cNvSpPr/>
          <p:nvPr/>
        </p:nvSpPr>
        <p:spPr>
          <a:xfrm>
            <a:off x="292608" y="2980944"/>
            <a:ext cx="4206240" cy="438912"/>
          </a:xfrm>
          <a:prstGeom prst="rect">
            <a:avLst/>
          </a:prstGeom>
          <a:solidFill>
            <a:srgbClr val="FFFFFF"/>
          </a:solidFill>
          <a:ln w="12700">
            <a:solidFill>
              <a:srgbClr val="DDE2E8"/>
            </a:solidFill>
            <a:prstDash val="solid"/>
          </a:ln>
        </p:spPr>
        <p:txBody>
          <a:bodyPr/>
          <a:lstStyle/>
          <a:p>
            <a:endParaRPr lang="en-US"/>
          </a:p>
        </p:txBody>
      </p:sp>
      <p:sp>
        <p:nvSpPr>
          <p:cNvPr id="19" name="Text 17"/>
          <p:cNvSpPr/>
          <p:nvPr/>
        </p:nvSpPr>
        <p:spPr>
          <a:xfrm>
            <a:off x="457200" y="2980944"/>
            <a:ext cx="2743200" cy="438912"/>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Google Business Profile</a:t>
            </a:r>
            <a:endParaRPr lang="en-US" sz="1100" dirty="0"/>
          </a:p>
        </p:txBody>
      </p:sp>
      <p:sp>
        <p:nvSpPr>
          <p:cNvPr id="20" name="Shape 18"/>
          <p:cNvSpPr/>
          <p:nvPr/>
        </p:nvSpPr>
        <p:spPr>
          <a:xfrm>
            <a:off x="3236976" y="3072384"/>
            <a:ext cx="1097280" cy="256032"/>
          </a:xfrm>
          <a:prstGeom prst="rect">
            <a:avLst/>
          </a:prstGeom>
          <a:solidFill>
            <a:srgbClr val="D4820A"/>
          </a:solidFill>
          <a:ln w="12700">
            <a:solidFill>
              <a:srgbClr val="D4820A"/>
            </a:solidFill>
            <a:prstDash val="solid"/>
          </a:ln>
        </p:spPr>
        <p:txBody>
          <a:bodyPr/>
          <a:lstStyle/>
          <a:p>
            <a:endParaRPr lang="en-US"/>
          </a:p>
        </p:txBody>
      </p:sp>
      <p:sp>
        <p:nvSpPr>
          <p:cNvPr id="21" name="Text 19"/>
          <p:cNvSpPr/>
          <p:nvPr/>
        </p:nvSpPr>
        <p:spPr>
          <a:xfrm>
            <a:off x="3236976" y="3072384"/>
            <a:ext cx="1097280" cy="25603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Unverified</a:t>
            </a:r>
            <a:endParaRPr lang="en-US" sz="850" dirty="0"/>
          </a:p>
        </p:txBody>
      </p:sp>
      <p:sp>
        <p:nvSpPr>
          <p:cNvPr id="22" name="Shape 20"/>
          <p:cNvSpPr/>
          <p:nvPr/>
        </p:nvSpPr>
        <p:spPr>
          <a:xfrm>
            <a:off x="292608" y="3493008"/>
            <a:ext cx="4206240" cy="438912"/>
          </a:xfrm>
          <a:prstGeom prst="rect">
            <a:avLst/>
          </a:prstGeom>
          <a:solidFill>
            <a:srgbClr val="F5F7FA"/>
          </a:solidFill>
          <a:ln w="12700">
            <a:solidFill>
              <a:srgbClr val="DDE2E8"/>
            </a:solidFill>
            <a:prstDash val="solid"/>
          </a:ln>
        </p:spPr>
        <p:txBody>
          <a:bodyPr/>
          <a:lstStyle/>
          <a:p>
            <a:endParaRPr lang="en-US"/>
          </a:p>
        </p:txBody>
      </p:sp>
      <p:sp>
        <p:nvSpPr>
          <p:cNvPr id="23" name="Text 21"/>
          <p:cNvSpPr/>
          <p:nvPr/>
        </p:nvSpPr>
        <p:spPr>
          <a:xfrm>
            <a:off x="457200" y="3493008"/>
            <a:ext cx="2743200" cy="438912"/>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YouTube</a:t>
            </a:r>
            <a:endParaRPr lang="en-US" sz="1100" dirty="0"/>
          </a:p>
        </p:txBody>
      </p:sp>
      <p:sp>
        <p:nvSpPr>
          <p:cNvPr id="24" name="Shape 22"/>
          <p:cNvSpPr/>
          <p:nvPr/>
        </p:nvSpPr>
        <p:spPr>
          <a:xfrm>
            <a:off x="3236976" y="3584448"/>
            <a:ext cx="1097280" cy="256032"/>
          </a:xfrm>
          <a:prstGeom prst="rect">
            <a:avLst/>
          </a:prstGeom>
          <a:solidFill>
            <a:srgbClr val="C0392B"/>
          </a:solidFill>
          <a:ln w="12700">
            <a:solidFill>
              <a:srgbClr val="C0392B"/>
            </a:solidFill>
            <a:prstDash val="solid"/>
          </a:ln>
        </p:spPr>
        <p:txBody>
          <a:bodyPr/>
          <a:lstStyle/>
          <a:p>
            <a:endParaRPr lang="en-US"/>
          </a:p>
        </p:txBody>
      </p:sp>
      <p:sp>
        <p:nvSpPr>
          <p:cNvPr id="25" name="Text 23"/>
          <p:cNvSpPr/>
          <p:nvPr/>
        </p:nvSpPr>
        <p:spPr>
          <a:xfrm>
            <a:off x="3236976" y="3584448"/>
            <a:ext cx="1097280" cy="25603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Absent</a:t>
            </a:r>
            <a:endParaRPr lang="en-US" sz="850" dirty="0"/>
          </a:p>
        </p:txBody>
      </p:sp>
      <p:sp>
        <p:nvSpPr>
          <p:cNvPr id="26" name="Shape 24"/>
          <p:cNvSpPr/>
          <p:nvPr/>
        </p:nvSpPr>
        <p:spPr>
          <a:xfrm>
            <a:off x="292608" y="4005072"/>
            <a:ext cx="4206240" cy="438912"/>
          </a:xfrm>
          <a:prstGeom prst="rect">
            <a:avLst/>
          </a:prstGeom>
          <a:solidFill>
            <a:srgbClr val="FFFFFF"/>
          </a:solidFill>
          <a:ln w="12700">
            <a:solidFill>
              <a:srgbClr val="DDE2E8"/>
            </a:solidFill>
            <a:prstDash val="solid"/>
          </a:ln>
        </p:spPr>
        <p:txBody>
          <a:bodyPr/>
          <a:lstStyle/>
          <a:p>
            <a:endParaRPr lang="en-US"/>
          </a:p>
        </p:txBody>
      </p:sp>
      <p:sp>
        <p:nvSpPr>
          <p:cNvPr id="27" name="Text 25"/>
          <p:cNvSpPr/>
          <p:nvPr/>
        </p:nvSpPr>
        <p:spPr>
          <a:xfrm>
            <a:off x="457200" y="4005072"/>
            <a:ext cx="2743200" cy="438912"/>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ProductReview.com.au</a:t>
            </a:r>
            <a:endParaRPr lang="en-US" sz="1100" dirty="0"/>
          </a:p>
        </p:txBody>
      </p:sp>
      <p:sp>
        <p:nvSpPr>
          <p:cNvPr id="28" name="Shape 26"/>
          <p:cNvSpPr/>
          <p:nvPr/>
        </p:nvSpPr>
        <p:spPr>
          <a:xfrm>
            <a:off x="3236976" y="4096512"/>
            <a:ext cx="1097280" cy="256032"/>
          </a:xfrm>
          <a:prstGeom prst="rect">
            <a:avLst/>
          </a:prstGeom>
          <a:solidFill>
            <a:srgbClr val="C0392B"/>
          </a:solidFill>
          <a:ln w="12700">
            <a:solidFill>
              <a:srgbClr val="C0392B"/>
            </a:solidFill>
            <a:prstDash val="solid"/>
          </a:ln>
        </p:spPr>
        <p:txBody>
          <a:bodyPr/>
          <a:lstStyle/>
          <a:p>
            <a:endParaRPr lang="en-US"/>
          </a:p>
        </p:txBody>
      </p:sp>
      <p:sp>
        <p:nvSpPr>
          <p:cNvPr id="29" name="Text 27"/>
          <p:cNvSpPr/>
          <p:nvPr/>
        </p:nvSpPr>
        <p:spPr>
          <a:xfrm>
            <a:off x="3236976" y="4096512"/>
            <a:ext cx="1097280" cy="25603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Absent</a:t>
            </a:r>
            <a:endParaRPr lang="en-US" sz="850" dirty="0"/>
          </a:p>
        </p:txBody>
      </p:sp>
      <p:sp>
        <p:nvSpPr>
          <p:cNvPr id="30" name="Shape 28"/>
          <p:cNvSpPr/>
          <p:nvPr/>
        </p:nvSpPr>
        <p:spPr>
          <a:xfrm>
            <a:off x="4736592" y="1956816"/>
            <a:ext cx="4206240" cy="438912"/>
          </a:xfrm>
          <a:prstGeom prst="rect">
            <a:avLst/>
          </a:prstGeom>
          <a:solidFill>
            <a:srgbClr val="FFFFFF"/>
          </a:solidFill>
          <a:ln w="12700">
            <a:solidFill>
              <a:srgbClr val="DDE2E8"/>
            </a:solidFill>
            <a:prstDash val="solid"/>
          </a:ln>
        </p:spPr>
        <p:txBody>
          <a:bodyPr/>
          <a:lstStyle/>
          <a:p>
            <a:endParaRPr lang="en-US"/>
          </a:p>
        </p:txBody>
      </p:sp>
      <p:sp>
        <p:nvSpPr>
          <p:cNvPr id="31" name="Text 29"/>
          <p:cNvSpPr/>
          <p:nvPr/>
        </p:nvSpPr>
        <p:spPr>
          <a:xfrm>
            <a:off x="4901184" y="1956816"/>
            <a:ext cx="2743200" cy="438912"/>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Trustpilot</a:t>
            </a:r>
            <a:endParaRPr lang="en-US" sz="1100" dirty="0"/>
          </a:p>
        </p:txBody>
      </p:sp>
      <p:sp>
        <p:nvSpPr>
          <p:cNvPr id="32" name="Shape 30"/>
          <p:cNvSpPr/>
          <p:nvPr/>
        </p:nvSpPr>
        <p:spPr>
          <a:xfrm>
            <a:off x="7680960" y="2048256"/>
            <a:ext cx="1097280" cy="256032"/>
          </a:xfrm>
          <a:prstGeom prst="rect">
            <a:avLst/>
          </a:prstGeom>
          <a:solidFill>
            <a:srgbClr val="C0392B"/>
          </a:solidFill>
          <a:ln w="12700">
            <a:solidFill>
              <a:srgbClr val="C0392B"/>
            </a:solidFill>
            <a:prstDash val="solid"/>
          </a:ln>
        </p:spPr>
        <p:txBody>
          <a:bodyPr/>
          <a:lstStyle/>
          <a:p>
            <a:endParaRPr lang="en-US"/>
          </a:p>
        </p:txBody>
      </p:sp>
      <p:sp>
        <p:nvSpPr>
          <p:cNvPr id="33" name="Text 31"/>
          <p:cNvSpPr/>
          <p:nvPr/>
        </p:nvSpPr>
        <p:spPr>
          <a:xfrm>
            <a:off x="7680960" y="2048256"/>
            <a:ext cx="1097280" cy="25603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Absent</a:t>
            </a:r>
            <a:endParaRPr lang="en-US" sz="850" dirty="0"/>
          </a:p>
        </p:txBody>
      </p:sp>
      <p:sp>
        <p:nvSpPr>
          <p:cNvPr id="34" name="Shape 32"/>
          <p:cNvSpPr/>
          <p:nvPr/>
        </p:nvSpPr>
        <p:spPr>
          <a:xfrm>
            <a:off x="4736592" y="2468880"/>
            <a:ext cx="4206240" cy="438912"/>
          </a:xfrm>
          <a:prstGeom prst="rect">
            <a:avLst/>
          </a:prstGeom>
          <a:solidFill>
            <a:srgbClr val="F5F7FA"/>
          </a:solidFill>
          <a:ln w="12700">
            <a:solidFill>
              <a:srgbClr val="DDE2E8"/>
            </a:solidFill>
            <a:prstDash val="solid"/>
          </a:ln>
        </p:spPr>
        <p:txBody>
          <a:bodyPr/>
          <a:lstStyle/>
          <a:p>
            <a:endParaRPr lang="en-US"/>
          </a:p>
        </p:txBody>
      </p:sp>
      <p:sp>
        <p:nvSpPr>
          <p:cNvPr id="35" name="Text 33"/>
          <p:cNvSpPr/>
          <p:nvPr/>
        </p:nvSpPr>
        <p:spPr>
          <a:xfrm>
            <a:off x="4901184" y="2468880"/>
            <a:ext cx="2743200" cy="438912"/>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Facebook</a:t>
            </a:r>
            <a:endParaRPr lang="en-US" sz="1100" dirty="0"/>
          </a:p>
        </p:txBody>
      </p:sp>
      <p:sp>
        <p:nvSpPr>
          <p:cNvPr id="36" name="Shape 34"/>
          <p:cNvSpPr/>
          <p:nvPr/>
        </p:nvSpPr>
        <p:spPr>
          <a:xfrm>
            <a:off x="7680960" y="2560320"/>
            <a:ext cx="1097280" cy="256032"/>
          </a:xfrm>
          <a:prstGeom prst="rect">
            <a:avLst/>
          </a:prstGeom>
          <a:solidFill>
            <a:srgbClr val="D4820A"/>
          </a:solidFill>
          <a:ln w="12700">
            <a:solidFill>
              <a:srgbClr val="D4820A"/>
            </a:solidFill>
            <a:prstDash val="solid"/>
          </a:ln>
        </p:spPr>
        <p:txBody>
          <a:bodyPr/>
          <a:lstStyle/>
          <a:p>
            <a:endParaRPr lang="en-US"/>
          </a:p>
        </p:txBody>
      </p:sp>
      <p:sp>
        <p:nvSpPr>
          <p:cNvPr id="37" name="Text 35"/>
          <p:cNvSpPr/>
          <p:nvPr/>
        </p:nvSpPr>
        <p:spPr>
          <a:xfrm>
            <a:off x="7680960" y="2560320"/>
            <a:ext cx="1097280" cy="25603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Partial</a:t>
            </a:r>
            <a:endParaRPr lang="en-US" sz="850" dirty="0"/>
          </a:p>
        </p:txBody>
      </p:sp>
      <p:sp>
        <p:nvSpPr>
          <p:cNvPr id="38" name="Shape 36"/>
          <p:cNvSpPr/>
          <p:nvPr/>
        </p:nvSpPr>
        <p:spPr>
          <a:xfrm>
            <a:off x="4736592" y="2980944"/>
            <a:ext cx="4206240" cy="438912"/>
          </a:xfrm>
          <a:prstGeom prst="rect">
            <a:avLst/>
          </a:prstGeom>
          <a:solidFill>
            <a:srgbClr val="FFFFFF"/>
          </a:solidFill>
          <a:ln w="12700">
            <a:solidFill>
              <a:srgbClr val="DDE2E8"/>
            </a:solidFill>
            <a:prstDash val="solid"/>
          </a:ln>
        </p:spPr>
        <p:txBody>
          <a:bodyPr/>
          <a:lstStyle/>
          <a:p>
            <a:endParaRPr lang="en-US"/>
          </a:p>
        </p:txBody>
      </p:sp>
      <p:sp>
        <p:nvSpPr>
          <p:cNvPr id="39" name="Text 37"/>
          <p:cNvSpPr/>
          <p:nvPr/>
        </p:nvSpPr>
        <p:spPr>
          <a:xfrm>
            <a:off x="4901184" y="2980944"/>
            <a:ext cx="2743200" cy="438912"/>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Instagram</a:t>
            </a:r>
            <a:endParaRPr lang="en-US" sz="1100" dirty="0"/>
          </a:p>
        </p:txBody>
      </p:sp>
      <p:sp>
        <p:nvSpPr>
          <p:cNvPr id="40" name="Shape 38"/>
          <p:cNvSpPr/>
          <p:nvPr/>
        </p:nvSpPr>
        <p:spPr>
          <a:xfrm>
            <a:off x="7680960" y="3072384"/>
            <a:ext cx="1097280" cy="256032"/>
          </a:xfrm>
          <a:prstGeom prst="rect">
            <a:avLst/>
          </a:prstGeom>
          <a:solidFill>
            <a:srgbClr val="1E7B3A"/>
          </a:solidFill>
          <a:ln w="12700">
            <a:solidFill>
              <a:srgbClr val="1E7B3A"/>
            </a:solidFill>
            <a:prstDash val="solid"/>
          </a:ln>
        </p:spPr>
        <p:txBody>
          <a:bodyPr/>
          <a:lstStyle/>
          <a:p>
            <a:endParaRPr lang="en-US"/>
          </a:p>
        </p:txBody>
      </p:sp>
      <p:sp>
        <p:nvSpPr>
          <p:cNvPr id="41" name="Text 39"/>
          <p:cNvSpPr/>
          <p:nvPr/>
        </p:nvSpPr>
        <p:spPr>
          <a:xfrm>
            <a:off x="7680960" y="3072384"/>
            <a:ext cx="1097280" cy="25603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Active</a:t>
            </a:r>
            <a:endParaRPr lang="en-US" sz="850" dirty="0"/>
          </a:p>
        </p:txBody>
      </p:sp>
      <p:sp>
        <p:nvSpPr>
          <p:cNvPr id="42" name="Shape 40"/>
          <p:cNvSpPr/>
          <p:nvPr/>
        </p:nvSpPr>
        <p:spPr>
          <a:xfrm>
            <a:off x="4736592" y="3493008"/>
            <a:ext cx="4206240" cy="438912"/>
          </a:xfrm>
          <a:prstGeom prst="rect">
            <a:avLst/>
          </a:prstGeom>
          <a:solidFill>
            <a:srgbClr val="F5F7FA"/>
          </a:solidFill>
          <a:ln w="12700">
            <a:solidFill>
              <a:srgbClr val="DDE2E8"/>
            </a:solidFill>
            <a:prstDash val="solid"/>
          </a:ln>
        </p:spPr>
        <p:txBody>
          <a:bodyPr/>
          <a:lstStyle/>
          <a:p>
            <a:endParaRPr lang="en-US"/>
          </a:p>
        </p:txBody>
      </p:sp>
      <p:sp>
        <p:nvSpPr>
          <p:cNvPr id="43" name="Text 41"/>
          <p:cNvSpPr/>
          <p:nvPr/>
        </p:nvSpPr>
        <p:spPr>
          <a:xfrm>
            <a:off x="4901184" y="3493008"/>
            <a:ext cx="2743200" cy="438912"/>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ABR</a:t>
            </a:r>
            <a:endParaRPr lang="en-US" sz="1100" dirty="0"/>
          </a:p>
        </p:txBody>
      </p:sp>
      <p:sp>
        <p:nvSpPr>
          <p:cNvPr id="44" name="Shape 42"/>
          <p:cNvSpPr/>
          <p:nvPr/>
        </p:nvSpPr>
        <p:spPr>
          <a:xfrm>
            <a:off x="7680960" y="3584448"/>
            <a:ext cx="1097280" cy="256032"/>
          </a:xfrm>
          <a:prstGeom prst="rect">
            <a:avLst/>
          </a:prstGeom>
          <a:solidFill>
            <a:srgbClr val="1E7B3A"/>
          </a:solidFill>
          <a:ln w="12700">
            <a:solidFill>
              <a:srgbClr val="1E7B3A"/>
            </a:solidFill>
            <a:prstDash val="solid"/>
          </a:ln>
        </p:spPr>
        <p:txBody>
          <a:bodyPr/>
          <a:lstStyle/>
          <a:p>
            <a:endParaRPr lang="en-US"/>
          </a:p>
        </p:txBody>
      </p:sp>
      <p:sp>
        <p:nvSpPr>
          <p:cNvPr id="45" name="Text 43"/>
          <p:cNvSpPr/>
          <p:nvPr/>
        </p:nvSpPr>
        <p:spPr>
          <a:xfrm>
            <a:off x="7680960" y="3584448"/>
            <a:ext cx="1097280" cy="25603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Verified</a:t>
            </a:r>
            <a:endParaRPr lang="en-US" sz="850" dirty="0"/>
          </a:p>
        </p:txBody>
      </p:sp>
      <p:sp>
        <p:nvSpPr>
          <p:cNvPr id="46" name="Shape 44"/>
          <p:cNvSpPr/>
          <p:nvPr/>
        </p:nvSpPr>
        <p:spPr>
          <a:xfrm>
            <a:off x="0" y="4773168"/>
            <a:ext cx="9144000" cy="370332"/>
          </a:xfrm>
          <a:prstGeom prst="rect">
            <a:avLst/>
          </a:prstGeom>
          <a:solidFill>
            <a:srgbClr val="FDF8EC"/>
          </a:solidFill>
          <a:ln w="12700">
            <a:solidFill>
              <a:srgbClr val="D4820A"/>
            </a:solidFill>
            <a:prstDash val="solid"/>
          </a:ln>
        </p:spPr>
        <p:txBody>
          <a:bodyPr/>
          <a:lstStyle/>
          <a:p>
            <a:endParaRPr lang="en-US"/>
          </a:p>
        </p:txBody>
      </p:sp>
      <p:sp>
        <p:nvSpPr>
          <p:cNvPr id="47" name="Text 45"/>
          <p:cNvSpPr/>
          <p:nvPr/>
        </p:nvSpPr>
        <p:spPr>
          <a:xfrm>
            <a:off x="292608" y="4791456"/>
            <a:ext cx="8558784" cy="329184"/>
          </a:xfrm>
          <a:prstGeom prst="rect">
            <a:avLst/>
          </a:prstGeom>
          <a:noFill/>
          <a:ln/>
        </p:spPr>
        <p:txBody>
          <a:bodyPr wrap="square" rtlCol="0" anchor="ctr"/>
          <a:lstStyle/>
          <a:p>
            <a:pPr marL="0" indent="0" algn="ctr">
              <a:buNone/>
            </a:pPr>
            <a:r>
              <a:rPr lang="en-US" sz="950" dirty="0">
                <a:solidFill>
                  <a:srgbClr val="7D5A00"/>
                </a:solidFill>
                <a:latin typeface="Calibri" pitchFamily="34" charset="0"/>
                <a:ea typeface="Calibri" pitchFamily="34" charset="-122"/>
                <a:cs typeface="Calibri" pitchFamily="34" charset="-120"/>
              </a:rPr>
              <a:t>⚠  ABR entity note: registered as Individual/Sole Trader (AKAN, MERAL). For regulated professional services, an incorporated Pty Ltd structure would materially improve perceived institutional authority to AI systems.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2E4B"/>
          </a:solidFill>
          <a:ln w="12700">
            <a:solidFill>
              <a:srgbClr val="1B2E4B"/>
            </a:solidFill>
            <a:prstDash val="solid"/>
          </a:ln>
        </p:spPr>
        <p:txBody>
          <a:bodyPr/>
          <a:lstStyle/>
          <a:p>
            <a:endParaRPr lang="en-US"/>
          </a:p>
        </p:txBody>
      </p:sp>
      <p:sp>
        <p:nvSpPr>
          <p:cNvPr id="3" name="Shape 1"/>
          <p:cNvSpPr/>
          <p:nvPr/>
        </p:nvSpPr>
        <p:spPr>
          <a:xfrm>
            <a:off x="0" y="0"/>
            <a:ext cx="256032" cy="566928"/>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438912" y="0"/>
            <a:ext cx="8412480" cy="56692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Content E-E-A-T — 28/100</a:t>
            </a:r>
            <a:endParaRPr lang="en-US" sz="1800" dirty="0"/>
          </a:p>
        </p:txBody>
      </p:sp>
      <p:sp>
        <p:nvSpPr>
          <p:cNvPr id="5" name="Shape 3"/>
          <p:cNvSpPr/>
          <p:nvPr/>
        </p:nvSpPr>
        <p:spPr>
          <a:xfrm>
            <a:off x="7498080" y="640080"/>
            <a:ext cx="1188720" cy="1188720"/>
          </a:xfrm>
          <a:prstGeom prst="ellipse">
            <a:avLst/>
          </a:prstGeom>
          <a:solidFill>
            <a:srgbClr val="C0392B"/>
          </a:solidFill>
          <a:ln w="12700">
            <a:solidFill>
              <a:srgbClr val="C0392B"/>
            </a:solidFill>
            <a:prstDash val="solid"/>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7498080" y="782726"/>
            <a:ext cx="1188720" cy="689458"/>
          </a:xfrm>
          <a:prstGeom prst="rect">
            <a:avLst/>
          </a:prstGeom>
          <a:noFill/>
          <a:ln/>
        </p:spPr>
        <p:txBody>
          <a:bodyPr wrap="square" rtlCol="0" anchor="ctr"/>
          <a:lstStyle/>
          <a:p>
            <a:pPr marL="0" indent="0" algn="ctr">
              <a:buNone/>
            </a:pPr>
            <a:r>
              <a:rPr lang="en-US" sz="2900" b="1" dirty="0">
                <a:solidFill>
                  <a:srgbClr val="FFFFFF"/>
                </a:solidFill>
                <a:latin typeface="Calibri" pitchFamily="34" charset="0"/>
                <a:ea typeface="Calibri" pitchFamily="34" charset="-122"/>
                <a:cs typeface="Calibri" pitchFamily="34" charset="-120"/>
              </a:rPr>
              <a:t>28</a:t>
            </a:r>
            <a:endParaRPr lang="en-US" sz="2900" dirty="0"/>
          </a:p>
        </p:txBody>
      </p:sp>
      <p:sp>
        <p:nvSpPr>
          <p:cNvPr id="7" name="Text 5"/>
          <p:cNvSpPr/>
          <p:nvPr/>
        </p:nvSpPr>
        <p:spPr>
          <a:xfrm>
            <a:off x="7498080" y="1412748"/>
            <a:ext cx="1188720" cy="332842"/>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/100</a:t>
            </a:r>
            <a:endParaRPr lang="en-US" sz="1200" dirty="0"/>
          </a:p>
        </p:txBody>
      </p:sp>
      <p:sp>
        <p:nvSpPr>
          <p:cNvPr id="8" name="Text 6"/>
          <p:cNvSpPr/>
          <p:nvPr/>
        </p:nvSpPr>
        <p:spPr>
          <a:xfrm>
            <a:off x="292608" y="713232"/>
            <a:ext cx="6675120" cy="310896"/>
          </a:xfrm>
          <a:prstGeom prst="rect">
            <a:avLst/>
          </a:prstGeom>
          <a:noFill/>
          <a:ln/>
        </p:spPr>
        <p:txBody>
          <a:bodyPr wrap="square" rtlCol="0" anchor="ctr"/>
          <a:lstStyle/>
          <a:p>
            <a:pPr marL="0" indent="0">
              <a:buNone/>
            </a:pPr>
            <a:r>
              <a:rPr lang="en-US" sz="1000" b="1" kern="0" spc="200" dirty="0">
                <a:solidFill>
                  <a:srgbClr val="1B2E4B"/>
                </a:solidFill>
                <a:latin typeface="Calibri" pitchFamily="34" charset="0"/>
                <a:ea typeface="Calibri" pitchFamily="34" charset="-122"/>
                <a:cs typeface="Calibri" pitchFamily="34" charset="-120"/>
              </a:rPr>
              <a:t>E-E-A-T DIMENSION SCORES</a:t>
            </a:r>
            <a:endParaRPr lang="en-US" sz="1000" dirty="0"/>
          </a:p>
        </p:txBody>
      </p:sp>
      <p:sp>
        <p:nvSpPr>
          <p:cNvPr id="9" name="Text 7"/>
          <p:cNvSpPr/>
          <p:nvPr/>
        </p:nvSpPr>
        <p:spPr>
          <a:xfrm>
            <a:off x="292608" y="1115568"/>
            <a:ext cx="1920240" cy="384048"/>
          </a:xfrm>
          <a:prstGeom prst="rect">
            <a:avLst/>
          </a:prstGeom>
          <a:noFill/>
          <a:ln/>
        </p:spPr>
        <p:txBody>
          <a:bodyPr wrap="square" rtlCol="0" anchor="ctr"/>
          <a:lstStyle/>
          <a:p>
            <a:pPr marL="0" indent="0">
              <a:buNone/>
            </a:pPr>
            <a:r>
              <a:rPr lang="en-US" sz="1300" b="1" dirty="0">
                <a:solidFill>
                  <a:srgbClr val="1B2E4B"/>
                </a:solidFill>
                <a:latin typeface="Calibri" pitchFamily="34" charset="0"/>
                <a:ea typeface="Calibri" pitchFamily="34" charset="-122"/>
                <a:cs typeface="Calibri" pitchFamily="34" charset="-120"/>
              </a:rPr>
              <a:t>Experience</a:t>
            </a:r>
            <a:endParaRPr lang="en-US" sz="1300" dirty="0"/>
          </a:p>
        </p:txBody>
      </p:sp>
      <p:sp>
        <p:nvSpPr>
          <p:cNvPr id="10" name="Text 8"/>
          <p:cNvSpPr/>
          <p:nvPr/>
        </p:nvSpPr>
        <p:spPr>
          <a:xfrm>
            <a:off x="2249424" y="1115568"/>
            <a:ext cx="658368" cy="384048"/>
          </a:xfrm>
          <a:prstGeom prst="rect">
            <a:avLst/>
          </a:prstGeom>
          <a:noFill/>
          <a:ln/>
        </p:spPr>
        <p:txBody>
          <a:bodyPr wrap="square"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4/25</a:t>
            </a:r>
            <a:endParaRPr lang="en-US" sz="1300" dirty="0"/>
          </a:p>
        </p:txBody>
      </p:sp>
      <p:sp>
        <p:nvSpPr>
          <p:cNvPr id="11" name="Shape 9"/>
          <p:cNvSpPr/>
          <p:nvPr/>
        </p:nvSpPr>
        <p:spPr>
          <a:xfrm>
            <a:off x="292608" y="1536192"/>
            <a:ext cx="3931920" cy="219456"/>
          </a:xfrm>
          <a:prstGeom prst="rect">
            <a:avLst/>
          </a:prstGeom>
          <a:solidFill>
            <a:srgbClr val="E8EDF2"/>
          </a:solidFill>
          <a:ln w="12700">
            <a:solidFill>
              <a:srgbClr val="E8EDF2"/>
            </a:solidFill>
            <a:prstDash val="solid"/>
          </a:ln>
        </p:spPr>
        <p:txBody>
          <a:bodyPr/>
          <a:lstStyle/>
          <a:p>
            <a:endParaRPr lang="en-US"/>
          </a:p>
        </p:txBody>
      </p:sp>
      <p:sp>
        <p:nvSpPr>
          <p:cNvPr id="12" name="Shape 10"/>
          <p:cNvSpPr/>
          <p:nvPr/>
        </p:nvSpPr>
        <p:spPr>
          <a:xfrm>
            <a:off x="292608" y="1536192"/>
            <a:ext cx="629107" cy="219456"/>
          </a:xfrm>
          <a:prstGeom prst="rect">
            <a:avLst/>
          </a:prstGeom>
          <a:solidFill>
            <a:srgbClr val="C0392B"/>
          </a:solidFill>
          <a:ln w="12700">
            <a:solidFill>
              <a:srgbClr val="C0392B"/>
            </a:solidFill>
            <a:prstDash val="solid"/>
          </a:ln>
        </p:spPr>
        <p:txBody>
          <a:bodyPr/>
          <a:lstStyle/>
          <a:p>
            <a:endParaRPr lang="en-US"/>
          </a:p>
        </p:txBody>
      </p:sp>
      <p:sp>
        <p:nvSpPr>
          <p:cNvPr id="13" name="Text 11"/>
          <p:cNvSpPr/>
          <p:nvPr/>
        </p:nvSpPr>
        <p:spPr>
          <a:xfrm>
            <a:off x="4343400" y="1115568"/>
            <a:ext cx="2743200" cy="713232"/>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No case studies, client outcomes, or practitioner stories anywhere on the site.</a:t>
            </a:r>
            <a:endParaRPr lang="en-US" sz="1000" dirty="0"/>
          </a:p>
        </p:txBody>
      </p:sp>
      <p:sp>
        <p:nvSpPr>
          <p:cNvPr id="14" name="Text 12"/>
          <p:cNvSpPr/>
          <p:nvPr/>
        </p:nvSpPr>
        <p:spPr>
          <a:xfrm>
            <a:off x="292608" y="2029968"/>
            <a:ext cx="1920240" cy="384048"/>
          </a:xfrm>
          <a:prstGeom prst="rect">
            <a:avLst/>
          </a:prstGeom>
          <a:noFill/>
          <a:ln/>
        </p:spPr>
        <p:txBody>
          <a:bodyPr wrap="square" rtlCol="0" anchor="ctr"/>
          <a:lstStyle/>
          <a:p>
            <a:pPr marL="0" indent="0">
              <a:buNone/>
            </a:pPr>
            <a:r>
              <a:rPr lang="en-US" sz="1300" b="1" dirty="0">
                <a:solidFill>
                  <a:srgbClr val="1B2E4B"/>
                </a:solidFill>
                <a:latin typeface="Calibri" pitchFamily="34" charset="0"/>
                <a:ea typeface="Calibri" pitchFamily="34" charset="-122"/>
                <a:cs typeface="Calibri" pitchFamily="34" charset="-120"/>
              </a:rPr>
              <a:t>Expertise</a:t>
            </a:r>
            <a:endParaRPr lang="en-US" sz="1300" dirty="0"/>
          </a:p>
        </p:txBody>
      </p:sp>
      <p:sp>
        <p:nvSpPr>
          <p:cNvPr id="15" name="Text 13"/>
          <p:cNvSpPr/>
          <p:nvPr/>
        </p:nvSpPr>
        <p:spPr>
          <a:xfrm>
            <a:off x="2249424" y="2029968"/>
            <a:ext cx="658368" cy="384048"/>
          </a:xfrm>
          <a:prstGeom prst="rect">
            <a:avLst/>
          </a:prstGeom>
          <a:noFill/>
          <a:ln/>
        </p:spPr>
        <p:txBody>
          <a:bodyPr wrap="square" rtlCol="0" anchor="ctr"/>
          <a:lstStyle/>
          <a:p>
            <a:pPr marL="0" indent="0">
              <a:buNone/>
            </a:pPr>
            <a:r>
              <a:rPr lang="en-US" sz="1300" b="1" dirty="0">
                <a:solidFill>
                  <a:srgbClr val="D4820A"/>
                </a:solidFill>
                <a:latin typeface="Calibri" pitchFamily="34" charset="0"/>
                <a:ea typeface="Calibri" pitchFamily="34" charset="-122"/>
                <a:cs typeface="Calibri" pitchFamily="34" charset="-120"/>
              </a:rPr>
              <a:t>8/25</a:t>
            </a:r>
            <a:endParaRPr lang="en-US" sz="1300" dirty="0"/>
          </a:p>
        </p:txBody>
      </p:sp>
      <p:sp>
        <p:nvSpPr>
          <p:cNvPr id="16" name="Shape 14"/>
          <p:cNvSpPr/>
          <p:nvPr/>
        </p:nvSpPr>
        <p:spPr>
          <a:xfrm>
            <a:off x="292608" y="2450592"/>
            <a:ext cx="3931920" cy="219456"/>
          </a:xfrm>
          <a:prstGeom prst="rect">
            <a:avLst/>
          </a:prstGeom>
          <a:solidFill>
            <a:srgbClr val="E8EDF2"/>
          </a:solidFill>
          <a:ln w="12700">
            <a:solidFill>
              <a:srgbClr val="E8EDF2"/>
            </a:solidFill>
            <a:prstDash val="solid"/>
          </a:ln>
        </p:spPr>
        <p:txBody>
          <a:bodyPr/>
          <a:lstStyle/>
          <a:p>
            <a:endParaRPr lang="en-US"/>
          </a:p>
        </p:txBody>
      </p:sp>
      <p:sp>
        <p:nvSpPr>
          <p:cNvPr id="17" name="Shape 15"/>
          <p:cNvSpPr/>
          <p:nvPr/>
        </p:nvSpPr>
        <p:spPr>
          <a:xfrm>
            <a:off x="292608" y="2450592"/>
            <a:ext cx="1258214" cy="219456"/>
          </a:xfrm>
          <a:prstGeom prst="rect">
            <a:avLst/>
          </a:prstGeom>
          <a:solidFill>
            <a:srgbClr val="D4820A"/>
          </a:solidFill>
          <a:ln w="12700">
            <a:solidFill>
              <a:srgbClr val="D4820A"/>
            </a:solidFill>
            <a:prstDash val="solid"/>
          </a:ln>
        </p:spPr>
        <p:txBody>
          <a:bodyPr/>
          <a:lstStyle/>
          <a:p>
            <a:endParaRPr lang="en-US"/>
          </a:p>
        </p:txBody>
      </p:sp>
      <p:sp>
        <p:nvSpPr>
          <p:cNvPr id="18" name="Text 16"/>
          <p:cNvSpPr/>
          <p:nvPr/>
        </p:nvSpPr>
        <p:spPr>
          <a:xfrm>
            <a:off x="4343400" y="2029968"/>
            <a:ext cx="2743200" cy="713232"/>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ABN, disclaimer, address present — but no named staff or listed qualifications.</a:t>
            </a:r>
            <a:endParaRPr lang="en-US" sz="1000" dirty="0"/>
          </a:p>
        </p:txBody>
      </p:sp>
      <p:sp>
        <p:nvSpPr>
          <p:cNvPr id="19" name="Text 17"/>
          <p:cNvSpPr/>
          <p:nvPr/>
        </p:nvSpPr>
        <p:spPr>
          <a:xfrm>
            <a:off x="292608" y="2944368"/>
            <a:ext cx="1920240" cy="384048"/>
          </a:xfrm>
          <a:prstGeom prst="rect">
            <a:avLst/>
          </a:prstGeom>
          <a:noFill/>
          <a:ln/>
        </p:spPr>
        <p:txBody>
          <a:bodyPr wrap="square" rtlCol="0" anchor="ctr"/>
          <a:lstStyle/>
          <a:p>
            <a:pPr marL="0" indent="0">
              <a:buNone/>
            </a:pPr>
            <a:r>
              <a:rPr lang="en-US" sz="1300" b="1" dirty="0">
                <a:solidFill>
                  <a:srgbClr val="1B2E4B"/>
                </a:solidFill>
                <a:latin typeface="Calibri" pitchFamily="34" charset="0"/>
                <a:ea typeface="Calibri" pitchFamily="34" charset="-122"/>
                <a:cs typeface="Calibri" pitchFamily="34" charset="-120"/>
              </a:rPr>
              <a:t>Authoritativeness</a:t>
            </a:r>
            <a:endParaRPr lang="en-US" sz="1300" dirty="0"/>
          </a:p>
        </p:txBody>
      </p:sp>
      <p:sp>
        <p:nvSpPr>
          <p:cNvPr id="20" name="Text 18"/>
          <p:cNvSpPr/>
          <p:nvPr/>
        </p:nvSpPr>
        <p:spPr>
          <a:xfrm>
            <a:off x="2249424" y="2944368"/>
            <a:ext cx="658368" cy="384048"/>
          </a:xfrm>
          <a:prstGeom prst="rect">
            <a:avLst/>
          </a:prstGeom>
          <a:noFill/>
          <a:ln/>
        </p:spPr>
        <p:txBody>
          <a:bodyPr wrap="square" rtlCol="0" anchor="ctr"/>
          <a:lstStyle/>
          <a:p>
            <a:pPr marL="0" indent="0">
              <a:buNone/>
            </a:pPr>
            <a:r>
              <a:rPr lang="en-US" sz="1300" b="1" dirty="0">
                <a:solidFill>
                  <a:srgbClr val="D4820A"/>
                </a:solidFill>
                <a:latin typeface="Calibri" pitchFamily="34" charset="0"/>
                <a:ea typeface="Calibri" pitchFamily="34" charset="-122"/>
                <a:cs typeface="Calibri" pitchFamily="34" charset="-120"/>
              </a:rPr>
              <a:t>7/25</a:t>
            </a:r>
            <a:endParaRPr lang="en-US" sz="1300" dirty="0"/>
          </a:p>
        </p:txBody>
      </p:sp>
      <p:sp>
        <p:nvSpPr>
          <p:cNvPr id="21" name="Shape 19"/>
          <p:cNvSpPr/>
          <p:nvPr/>
        </p:nvSpPr>
        <p:spPr>
          <a:xfrm>
            <a:off x="292608" y="3364992"/>
            <a:ext cx="3931920" cy="219456"/>
          </a:xfrm>
          <a:prstGeom prst="rect">
            <a:avLst/>
          </a:prstGeom>
          <a:solidFill>
            <a:srgbClr val="E8EDF2"/>
          </a:solidFill>
          <a:ln w="12700">
            <a:solidFill>
              <a:srgbClr val="E8EDF2"/>
            </a:solidFill>
            <a:prstDash val="solid"/>
          </a:ln>
        </p:spPr>
        <p:txBody>
          <a:bodyPr/>
          <a:lstStyle/>
          <a:p>
            <a:endParaRPr lang="en-US"/>
          </a:p>
        </p:txBody>
      </p:sp>
      <p:sp>
        <p:nvSpPr>
          <p:cNvPr id="22" name="Shape 20"/>
          <p:cNvSpPr/>
          <p:nvPr/>
        </p:nvSpPr>
        <p:spPr>
          <a:xfrm>
            <a:off x="292608" y="3364992"/>
            <a:ext cx="1100938" cy="219456"/>
          </a:xfrm>
          <a:prstGeom prst="rect">
            <a:avLst/>
          </a:prstGeom>
          <a:solidFill>
            <a:srgbClr val="D4820A"/>
          </a:solidFill>
          <a:ln w="12700">
            <a:solidFill>
              <a:srgbClr val="D4820A"/>
            </a:solidFill>
            <a:prstDash val="solid"/>
          </a:ln>
        </p:spPr>
        <p:txBody>
          <a:bodyPr/>
          <a:lstStyle/>
          <a:p>
            <a:endParaRPr lang="en-US"/>
          </a:p>
        </p:txBody>
      </p:sp>
      <p:sp>
        <p:nvSpPr>
          <p:cNvPr id="23" name="Text 21"/>
          <p:cNvSpPr/>
          <p:nvPr/>
        </p:nvSpPr>
        <p:spPr>
          <a:xfrm>
            <a:off x="4343400" y="2944368"/>
            <a:ext cx="2743200" cy="713232"/>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No About Us page, no external citations, no industry body memberships.</a:t>
            </a:r>
            <a:endParaRPr lang="en-US" sz="1000" dirty="0"/>
          </a:p>
        </p:txBody>
      </p:sp>
      <p:sp>
        <p:nvSpPr>
          <p:cNvPr id="24" name="Text 22"/>
          <p:cNvSpPr/>
          <p:nvPr/>
        </p:nvSpPr>
        <p:spPr>
          <a:xfrm>
            <a:off x="292608" y="3858768"/>
            <a:ext cx="1920240" cy="384048"/>
          </a:xfrm>
          <a:prstGeom prst="rect">
            <a:avLst/>
          </a:prstGeom>
          <a:noFill/>
          <a:ln/>
        </p:spPr>
        <p:txBody>
          <a:bodyPr wrap="square" rtlCol="0" anchor="ctr"/>
          <a:lstStyle/>
          <a:p>
            <a:pPr marL="0" indent="0">
              <a:buNone/>
            </a:pPr>
            <a:r>
              <a:rPr lang="en-US" sz="1300" b="1" dirty="0">
                <a:solidFill>
                  <a:srgbClr val="1B2E4B"/>
                </a:solidFill>
                <a:latin typeface="Calibri" pitchFamily="34" charset="0"/>
                <a:ea typeface="Calibri" pitchFamily="34" charset="-122"/>
                <a:cs typeface="Calibri" pitchFamily="34" charset="-120"/>
              </a:rPr>
              <a:t>Trustworthiness</a:t>
            </a:r>
            <a:endParaRPr lang="en-US" sz="1300" dirty="0"/>
          </a:p>
        </p:txBody>
      </p:sp>
      <p:sp>
        <p:nvSpPr>
          <p:cNvPr id="25" name="Text 23"/>
          <p:cNvSpPr/>
          <p:nvPr/>
        </p:nvSpPr>
        <p:spPr>
          <a:xfrm>
            <a:off x="2249424" y="3858768"/>
            <a:ext cx="658368" cy="384048"/>
          </a:xfrm>
          <a:prstGeom prst="rect">
            <a:avLst/>
          </a:prstGeom>
          <a:noFill/>
          <a:ln/>
        </p:spPr>
        <p:txBody>
          <a:bodyPr wrap="square" rtlCol="0" anchor="ctr"/>
          <a:lstStyle/>
          <a:p>
            <a:pPr marL="0" indent="0">
              <a:buNone/>
            </a:pPr>
            <a:r>
              <a:rPr lang="en-US" sz="1300" b="1" dirty="0">
                <a:solidFill>
                  <a:srgbClr val="1E7B3A"/>
                </a:solidFill>
                <a:latin typeface="Calibri" pitchFamily="34" charset="0"/>
                <a:ea typeface="Calibri" pitchFamily="34" charset="-122"/>
                <a:cs typeface="Calibri" pitchFamily="34" charset="-120"/>
              </a:rPr>
              <a:t>9/25</a:t>
            </a:r>
            <a:endParaRPr lang="en-US" sz="1300" dirty="0"/>
          </a:p>
        </p:txBody>
      </p:sp>
      <p:sp>
        <p:nvSpPr>
          <p:cNvPr id="26" name="Shape 24"/>
          <p:cNvSpPr/>
          <p:nvPr/>
        </p:nvSpPr>
        <p:spPr>
          <a:xfrm>
            <a:off x="292608" y="4279392"/>
            <a:ext cx="3931920" cy="219456"/>
          </a:xfrm>
          <a:prstGeom prst="rect">
            <a:avLst/>
          </a:prstGeom>
          <a:solidFill>
            <a:srgbClr val="E8EDF2"/>
          </a:solidFill>
          <a:ln w="12700">
            <a:solidFill>
              <a:srgbClr val="E8EDF2"/>
            </a:solidFill>
            <a:prstDash val="solid"/>
          </a:ln>
        </p:spPr>
        <p:txBody>
          <a:bodyPr/>
          <a:lstStyle/>
          <a:p>
            <a:endParaRPr lang="en-US"/>
          </a:p>
        </p:txBody>
      </p:sp>
      <p:sp>
        <p:nvSpPr>
          <p:cNvPr id="27" name="Shape 25"/>
          <p:cNvSpPr/>
          <p:nvPr/>
        </p:nvSpPr>
        <p:spPr>
          <a:xfrm>
            <a:off x="292608" y="4279392"/>
            <a:ext cx="1415491" cy="219456"/>
          </a:xfrm>
          <a:prstGeom prst="rect">
            <a:avLst/>
          </a:prstGeom>
          <a:solidFill>
            <a:srgbClr val="1E7B3A"/>
          </a:solidFill>
          <a:ln w="12700">
            <a:solidFill>
              <a:srgbClr val="1E7B3A"/>
            </a:solidFill>
            <a:prstDash val="solid"/>
          </a:ln>
        </p:spPr>
        <p:txBody>
          <a:bodyPr/>
          <a:lstStyle/>
          <a:p>
            <a:endParaRPr lang="en-US"/>
          </a:p>
        </p:txBody>
      </p:sp>
      <p:sp>
        <p:nvSpPr>
          <p:cNvPr id="28" name="Text 26"/>
          <p:cNvSpPr/>
          <p:nvPr/>
        </p:nvSpPr>
        <p:spPr>
          <a:xfrm>
            <a:off x="4343400" y="3858768"/>
            <a:ext cx="2743200" cy="713232"/>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ABN displayed, address visible, reviews mentioned — but no author names or verifiable credentials.</a:t>
            </a:r>
            <a:endParaRPr lang="en-US" sz="1000" dirty="0"/>
          </a:p>
        </p:txBody>
      </p:sp>
      <p:sp>
        <p:nvSpPr>
          <p:cNvPr id="29" name="Shape 27"/>
          <p:cNvSpPr/>
          <p:nvPr/>
        </p:nvSpPr>
        <p:spPr>
          <a:xfrm>
            <a:off x="0" y="4754880"/>
            <a:ext cx="9144000" cy="388620"/>
          </a:xfrm>
          <a:prstGeom prst="rect">
            <a:avLst/>
          </a:prstGeom>
          <a:solidFill>
            <a:srgbClr val="FDF8EC"/>
          </a:solidFill>
          <a:ln w="12700">
            <a:solidFill>
              <a:srgbClr val="D4820A"/>
            </a:solidFill>
            <a:prstDash val="solid"/>
          </a:ln>
        </p:spPr>
        <p:txBody>
          <a:bodyPr/>
          <a:lstStyle/>
          <a:p>
            <a:endParaRPr lang="en-US"/>
          </a:p>
        </p:txBody>
      </p:sp>
      <p:sp>
        <p:nvSpPr>
          <p:cNvPr id="30" name="Text 28"/>
          <p:cNvSpPr/>
          <p:nvPr/>
        </p:nvSpPr>
        <p:spPr>
          <a:xfrm>
            <a:off x="292608" y="4773168"/>
            <a:ext cx="8558784" cy="329184"/>
          </a:xfrm>
          <a:prstGeom prst="rect">
            <a:avLst/>
          </a:prstGeom>
          <a:noFill/>
          <a:ln/>
        </p:spPr>
        <p:txBody>
          <a:bodyPr wrap="square" rtlCol="0" anchor="ctr"/>
          <a:lstStyle/>
          <a:p>
            <a:pPr marL="0" indent="0" algn="ctr">
              <a:buNone/>
            </a:pPr>
            <a:r>
              <a:rPr lang="en-US" sz="950" dirty="0">
                <a:solidFill>
                  <a:srgbClr val="7D5A00"/>
                </a:solidFill>
                <a:latin typeface="Calibri" pitchFamily="34" charset="0"/>
                <a:ea typeface="Calibri" pitchFamily="34" charset="-122"/>
                <a:cs typeface="Calibri" pitchFamily="34" charset="-120"/>
              </a:rPr>
              <a:t>⚠  The ELICOS post (~280 words) covers a regulated service and provides no substantive guidance. The trade license page (~3,500 words) shows topical depth — all other posts fall critically short.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2E4B"/>
          </a:solidFill>
          <a:ln w="12700">
            <a:solidFill>
              <a:srgbClr val="1B2E4B"/>
            </a:solidFill>
            <a:prstDash val="solid"/>
          </a:ln>
        </p:spPr>
        <p:txBody>
          <a:bodyPr/>
          <a:lstStyle/>
          <a:p>
            <a:endParaRPr lang="en-US"/>
          </a:p>
        </p:txBody>
      </p:sp>
      <p:sp>
        <p:nvSpPr>
          <p:cNvPr id="3" name="Shape 1"/>
          <p:cNvSpPr/>
          <p:nvPr/>
        </p:nvSpPr>
        <p:spPr>
          <a:xfrm>
            <a:off x="0" y="0"/>
            <a:ext cx="256032" cy="566928"/>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438912" y="0"/>
            <a:ext cx="8412480" cy="56692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Technical GEO (42/100) &amp; Schema &amp; Structured Data (2/100)</a:t>
            </a:r>
            <a:endParaRPr lang="en-US" sz="1800" dirty="0"/>
          </a:p>
        </p:txBody>
      </p:sp>
      <p:sp>
        <p:nvSpPr>
          <p:cNvPr id="5" name="Text 3"/>
          <p:cNvSpPr/>
          <p:nvPr/>
        </p:nvSpPr>
        <p:spPr>
          <a:xfrm>
            <a:off x="292608" y="676656"/>
            <a:ext cx="4114800" cy="329184"/>
          </a:xfrm>
          <a:prstGeom prst="rect">
            <a:avLst/>
          </a:prstGeom>
          <a:noFill/>
          <a:ln/>
        </p:spPr>
        <p:txBody>
          <a:bodyPr wrap="square" rtlCol="0" anchor="ctr"/>
          <a:lstStyle/>
          <a:p>
            <a:pPr marL="0" indent="0">
              <a:buNone/>
            </a:pPr>
            <a:r>
              <a:rPr lang="en-US" sz="1000" b="1" kern="0" spc="200" dirty="0">
                <a:solidFill>
                  <a:srgbClr val="1E7B3A"/>
                </a:solidFill>
                <a:latin typeface="Calibri" pitchFamily="34" charset="0"/>
                <a:ea typeface="Calibri" pitchFamily="34" charset="-122"/>
                <a:cs typeface="Calibri" pitchFamily="34" charset="-120"/>
              </a:rPr>
              <a:t>PASSING</a:t>
            </a:r>
            <a:endParaRPr lang="en-US" sz="1000" dirty="0"/>
          </a:p>
        </p:txBody>
      </p:sp>
      <p:sp>
        <p:nvSpPr>
          <p:cNvPr id="6" name="Shape 4"/>
          <p:cNvSpPr/>
          <p:nvPr/>
        </p:nvSpPr>
        <p:spPr>
          <a:xfrm>
            <a:off x="292608" y="1060704"/>
            <a:ext cx="4160520" cy="402336"/>
          </a:xfrm>
          <a:prstGeom prst="rect">
            <a:avLst/>
          </a:prstGeom>
          <a:solidFill>
            <a:srgbClr val="FFFFFF"/>
          </a:solidFill>
          <a:ln w="12700">
            <a:solidFill>
              <a:srgbClr val="C8E6C9"/>
            </a:solidFill>
            <a:prstDash val="solid"/>
          </a:ln>
        </p:spPr>
        <p:txBody>
          <a:bodyPr/>
          <a:lstStyle/>
          <a:p>
            <a:endParaRPr lang="en-US"/>
          </a:p>
        </p:txBody>
      </p:sp>
      <p:sp>
        <p:nvSpPr>
          <p:cNvPr id="7" name="Text 5"/>
          <p:cNvSpPr/>
          <p:nvPr/>
        </p:nvSpPr>
        <p:spPr>
          <a:xfrm>
            <a:off x="438912" y="1060704"/>
            <a:ext cx="3886200" cy="402336"/>
          </a:xfrm>
          <a:prstGeom prst="rect">
            <a:avLst/>
          </a:prstGeom>
          <a:noFill/>
          <a:ln/>
        </p:spPr>
        <p:txBody>
          <a:bodyPr wrap="square" rtlCol="0" anchor="ctr"/>
          <a:lstStyle/>
          <a:p>
            <a:pPr marL="0" indent="0">
              <a:buNone/>
            </a:pPr>
            <a:r>
              <a:rPr lang="en-US" sz="1050" dirty="0">
                <a:solidFill>
                  <a:srgbClr val="1E7B3A"/>
                </a:solidFill>
                <a:latin typeface="Calibri" pitchFamily="34" charset="0"/>
                <a:ea typeface="Calibri" pitchFamily="34" charset="-122"/>
                <a:cs typeface="Calibri" pitchFamily="34" charset="-120"/>
              </a:rPr>
              <a:t>✓  HTTPS enforced</a:t>
            </a:r>
            <a:endParaRPr lang="en-US" sz="1050" dirty="0"/>
          </a:p>
        </p:txBody>
      </p:sp>
      <p:sp>
        <p:nvSpPr>
          <p:cNvPr id="8" name="Shape 6"/>
          <p:cNvSpPr/>
          <p:nvPr/>
        </p:nvSpPr>
        <p:spPr>
          <a:xfrm>
            <a:off x="292608" y="1536192"/>
            <a:ext cx="4160520" cy="402336"/>
          </a:xfrm>
          <a:prstGeom prst="rect">
            <a:avLst/>
          </a:prstGeom>
          <a:solidFill>
            <a:srgbClr val="F5FBF7"/>
          </a:solidFill>
          <a:ln w="12700">
            <a:solidFill>
              <a:srgbClr val="C8E6C9"/>
            </a:solidFill>
            <a:prstDash val="solid"/>
          </a:ln>
        </p:spPr>
        <p:txBody>
          <a:bodyPr/>
          <a:lstStyle/>
          <a:p>
            <a:endParaRPr lang="en-US"/>
          </a:p>
        </p:txBody>
      </p:sp>
      <p:sp>
        <p:nvSpPr>
          <p:cNvPr id="9" name="Text 7"/>
          <p:cNvSpPr/>
          <p:nvPr/>
        </p:nvSpPr>
        <p:spPr>
          <a:xfrm>
            <a:off x="438912" y="1536192"/>
            <a:ext cx="3886200" cy="402336"/>
          </a:xfrm>
          <a:prstGeom prst="rect">
            <a:avLst/>
          </a:prstGeom>
          <a:noFill/>
          <a:ln/>
        </p:spPr>
        <p:txBody>
          <a:bodyPr wrap="square" rtlCol="0" anchor="ctr"/>
          <a:lstStyle/>
          <a:p>
            <a:pPr marL="0" indent="0">
              <a:buNone/>
            </a:pPr>
            <a:r>
              <a:rPr lang="en-US" sz="1050" dirty="0">
                <a:solidFill>
                  <a:srgbClr val="1E7B3A"/>
                </a:solidFill>
                <a:latin typeface="Calibri" pitchFamily="34" charset="0"/>
                <a:ea typeface="Calibri" pitchFamily="34" charset="-122"/>
                <a:cs typeface="Calibri" pitchFamily="34" charset="-120"/>
              </a:rPr>
              <a:t>✓  AI crawlers allowed (GPTBot, ClaudeBot, PerplexityBot)</a:t>
            </a:r>
            <a:endParaRPr lang="en-US" sz="1050" dirty="0"/>
          </a:p>
        </p:txBody>
      </p:sp>
      <p:sp>
        <p:nvSpPr>
          <p:cNvPr id="10" name="Shape 8"/>
          <p:cNvSpPr/>
          <p:nvPr/>
        </p:nvSpPr>
        <p:spPr>
          <a:xfrm>
            <a:off x="292608" y="2011680"/>
            <a:ext cx="4160520" cy="402336"/>
          </a:xfrm>
          <a:prstGeom prst="rect">
            <a:avLst/>
          </a:prstGeom>
          <a:solidFill>
            <a:srgbClr val="FFFFFF"/>
          </a:solidFill>
          <a:ln w="12700">
            <a:solidFill>
              <a:srgbClr val="C8E6C9"/>
            </a:solidFill>
            <a:prstDash val="solid"/>
          </a:ln>
        </p:spPr>
        <p:txBody>
          <a:bodyPr/>
          <a:lstStyle/>
          <a:p>
            <a:endParaRPr lang="en-US"/>
          </a:p>
        </p:txBody>
      </p:sp>
      <p:sp>
        <p:nvSpPr>
          <p:cNvPr id="11" name="Text 9"/>
          <p:cNvSpPr/>
          <p:nvPr/>
        </p:nvSpPr>
        <p:spPr>
          <a:xfrm>
            <a:off x="438912" y="2011680"/>
            <a:ext cx="3886200" cy="402336"/>
          </a:xfrm>
          <a:prstGeom prst="rect">
            <a:avLst/>
          </a:prstGeom>
          <a:noFill/>
          <a:ln/>
        </p:spPr>
        <p:txBody>
          <a:bodyPr wrap="square" rtlCol="0" anchor="ctr"/>
          <a:lstStyle/>
          <a:p>
            <a:pPr marL="0" indent="0">
              <a:buNone/>
            </a:pPr>
            <a:r>
              <a:rPr lang="en-US" sz="1050" dirty="0">
                <a:solidFill>
                  <a:srgbClr val="1E7B3A"/>
                </a:solidFill>
                <a:latin typeface="Calibri" pitchFamily="34" charset="0"/>
                <a:ea typeface="Calibri" pitchFamily="34" charset="-122"/>
                <a:cs typeface="Calibri" pitchFamily="34" charset="-120"/>
              </a:rPr>
              <a:t>✓  Server-side rendered — AI reads all content</a:t>
            </a:r>
            <a:endParaRPr lang="en-US" sz="1050" dirty="0"/>
          </a:p>
        </p:txBody>
      </p:sp>
      <p:sp>
        <p:nvSpPr>
          <p:cNvPr id="12" name="Shape 10"/>
          <p:cNvSpPr/>
          <p:nvPr/>
        </p:nvSpPr>
        <p:spPr>
          <a:xfrm>
            <a:off x="292608" y="2487168"/>
            <a:ext cx="4160520" cy="402336"/>
          </a:xfrm>
          <a:prstGeom prst="rect">
            <a:avLst/>
          </a:prstGeom>
          <a:solidFill>
            <a:srgbClr val="F5FBF7"/>
          </a:solidFill>
          <a:ln w="12700">
            <a:solidFill>
              <a:srgbClr val="C8E6C9"/>
            </a:solidFill>
            <a:prstDash val="solid"/>
          </a:ln>
        </p:spPr>
        <p:txBody>
          <a:bodyPr/>
          <a:lstStyle/>
          <a:p>
            <a:endParaRPr lang="en-US"/>
          </a:p>
        </p:txBody>
      </p:sp>
      <p:sp>
        <p:nvSpPr>
          <p:cNvPr id="13" name="Text 11"/>
          <p:cNvSpPr/>
          <p:nvPr/>
        </p:nvSpPr>
        <p:spPr>
          <a:xfrm>
            <a:off x="438912" y="2487168"/>
            <a:ext cx="3886200" cy="402336"/>
          </a:xfrm>
          <a:prstGeom prst="rect">
            <a:avLst/>
          </a:prstGeom>
          <a:noFill/>
          <a:ln/>
        </p:spPr>
        <p:txBody>
          <a:bodyPr wrap="square" rtlCol="0" anchor="ctr"/>
          <a:lstStyle/>
          <a:p>
            <a:pPr marL="0" indent="0">
              <a:buNone/>
            </a:pPr>
            <a:r>
              <a:rPr lang="en-US" sz="1050" dirty="0">
                <a:solidFill>
                  <a:srgbClr val="1E7B3A"/>
                </a:solidFill>
                <a:latin typeface="Calibri" pitchFamily="34" charset="0"/>
                <a:ea typeface="Calibri" pitchFamily="34" charset="-122"/>
                <a:cs typeface="Calibri" pitchFamily="34" charset="-120"/>
              </a:rPr>
              <a:t>✓  XML sitemap (freshly updated 2026-05-18)</a:t>
            </a:r>
            <a:endParaRPr lang="en-US" sz="1050" dirty="0"/>
          </a:p>
        </p:txBody>
      </p:sp>
      <p:sp>
        <p:nvSpPr>
          <p:cNvPr id="14" name="Shape 12"/>
          <p:cNvSpPr/>
          <p:nvPr/>
        </p:nvSpPr>
        <p:spPr>
          <a:xfrm>
            <a:off x="292608" y="2962656"/>
            <a:ext cx="4160520" cy="402336"/>
          </a:xfrm>
          <a:prstGeom prst="rect">
            <a:avLst/>
          </a:prstGeom>
          <a:solidFill>
            <a:srgbClr val="FFFFFF"/>
          </a:solidFill>
          <a:ln w="12700">
            <a:solidFill>
              <a:srgbClr val="C8E6C9"/>
            </a:solidFill>
            <a:prstDash val="solid"/>
          </a:ln>
        </p:spPr>
        <p:txBody>
          <a:bodyPr/>
          <a:lstStyle/>
          <a:p>
            <a:endParaRPr lang="en-US"/>
          </a:p>
        </p:txBody>
      </p:sp>
      <p:sp>
        <p:nvSpPr>
          <p:cNvPr id="15" name="Text 13"/>
          <p:cNvSpPr/>
          <p:nvPr/>
        </p:nvSpPr>
        <p:spPr>
          <a:xfrm>
            <a:off x="438912" y="2962656"/>
            <a:ext cx="3886200" cy="402336"/>
          </a:xfrm>
          <a:prstGeom prst="rect">
            <a:avLst/>
          </a:prstGeom>
          <a:noFill/>
          <a:ln/>
        </p:spPr>
        <p:txBody>
          <a:bodyPr wrap="square" rtlCol="0" anchor="ctr"/>
          <a:lstStyle/>
          <a:p>
            <a:pPr marL="0" indent="0">
              <a:buNone/>
            </a:pPr>
            <a:r>
              <a:rPr lang="en-US" sz="1050" dirty="0">
                <a:solidFill>
                  <a:srgbClr val="1E7B3A"/>
                </a:solidFill>
                <a:latin typeface="Calibri" pitchFamily="34" charset="0"/>
                <a:ea typeface="Calibri" pitchFamily="34" charset="-122"/>
                <a:cs typeface="Calibri" pitchFamily="34" charset="-120"/>
              </a:rPr>
              <a:t>✓  Sitemap referenced in robots.txt</a:t>
            </a:r>
            <a:endParaRPr lang="en-US" sz="1050" dirty="0"/>
          </a:p>
        </p:txBody>
      </p:sp>
      <p:sp>
        <p:nvSpPr>
          <p:cNvPr id="16" name="Shape 14"/>
          <p:cNvSpPr/>
          <p:nvPr/>
        </p:nvSpPr>
        <p:spPr>
          <a:xfrm>
            <a:off x="292608" y="3438144"/>
            <a:ext cx="4160520" cy="402336"/>
          </a:xfrm>
          <a:prstGeom prst="rect">
            <a:avLst/>
          </a:prstGeom>
          <a:solidFill>
            <a:srgbClr val="F5FBF7"/>
          </a:solidFill>
          <a:ln w="12700">
            <a:solidFill>
              <a:srgbClr val="C8E6C9"/>
            </a:solidFill>
            <a:prstDash val="solid"/>
          </a:ln>
        </p:spPr>
        <p:txBody>
          <a:bodyPr/>
          <a:lstStyle/>
          <a:p>
            <a:endParaRPr lang="en-US"/>
          </a:p>
        </p:txBody>
      </p:sp>
      <p:sp>
        <p:nvSpPr>
          <p:cNvPr id="17" name="Text 15"/>
          <p:cNvSpPr/>
          <p:nvPr/>
        </p:nvSpPr>
        <p:spPr>
          <a:xfrm>
            <a:off x="438912" y="3438144"/>
            <a:ext cx="3886200" cy="402336"/>
          </a:xfrm>
          <a:prstGeom prst="rect">
            <a:avLst/>
          </a:prstGeom>
          <a:noFill/>
          <a:ln/>
        </p:spPr>
        <p:txBody>
          <a:bodyPr wrap="square" rtlCol="0" anchor="ctr"/>
          <a:lstStyle/>
          <a:p>
            <a:pPr marL="0" indent="0">
              <a:buNone/>
            </a:pPr>
            <a:r>
              <a:rPr lang="en-US" sz="1050" dirty="0">
                <a:solidFill>
                  <a:srgbClr val="1E7B3A"/>
                </a:solidFill>
                <a:latin typeface="Calibri" pitchFamily="34" charset="0"/>
                <a:ea typeface="Calibri" pitchFamily="34" charset="-122"/>
                <a:cs typeface="Calibri" pitchFamily="34" charset="-120"/>
              </a:rPr>
              <a:t>✓  No noindex blocks detected</a:t>
            </a:r>
            <a:endParaRPr lang="en-US" sz="1050" dirty="0"/>
          </a:p>
        </p:txBody>
      </p:sp>
      <p:sp>
        <p:nvSpPr>
          <p:cNvPr id="18" name="Text 16"/>
          <p:cNvSpPr/>
          <p:nvPr/>
        </p:nvSpPr>
        <p:spPr>
          <a:xfrm>
            <a:off x="4754880" y="676656"/>
            <a:ext cx="4114800" cy="329184"/>
          </a:xfrm>
          <a:prstGeom prst="rect">
            <a:avLst/>
          </a:prstGeom>
          <a:noFill/>
          <a:ln/>
        </p:spPr>
        <p:txBody>
          <a:bodyPr wrap="square" rtlCol="0" anchor="ctr"/>
          <a:lstStyle/>
          <a:p>
            <a:pPr marL="0" indent="0">
              <a:buNone/>
            </a:pPr>
            <a:r>
              <a:rPr lang="en-US" sz="1000" b="1" kern="0" spc="200" dirty="0">
                <a:solidFill>
                  <a:srgbClr val="C0392B"/>
                </a:solidFill>
                <a:latin typeface="Calibri" pitchFamily="34" charset="0"/>
                <a:ea typeface="Calibri" pitchFamily="34" charset="-122"/>
                <a:cs typeface="Calibri" pitchFamily="34" charset="-120"/>
              </a:rPr>
              <a:t>CRITICAL GAPS</a:t>
            </a:r>
            <a:endParaRPr lang="en-US" sz="1000" dirty="0"/>
          </a:p>
        </p:txBody>
      </p:sp>
      <p:sp>
        <p:nvSpPr>
          <p:cNvPr id="19" name="Shape 17"/>
          <p:cNvSpPr/>
          <p:nvPr/>
        </p:nvSpPr>
        <p:spPr>
          <a:xfrm>
            <a:off x="4754880" y="1060704"/>
            <a:ext cx="4096512" cy="402336"/>
          </a:xfrm>
          <a:prstGeom prst="rect">
            <a:avLst/>
          </a:prstGeom>
          <a:solidFill>
            <a:srgbClr val="FFFFFF"/>
          </a:solidFill>
          <a:ln w="12700">
            <a:solidFill>
              <a:srgbClr val="F0D8D8"/>
            </a:solidFill>
            <a:prstDash val="solid"/>
          </a:ln>
        </p:spPr>
        <p:txBody>
          <a:bodyPr/>
          <a:lstStyle/>
          <a:p>
            <a:endParaRPr lang="en-US"/>
          </a:p>
        </p:txBody>
      </p:sp>
      <p:sp>
        <p:nvSpPr>
          <p:cNvPr id="20" name="Text 18"/>
          <p:cNvSpPr/>
          <p:nvPr/>
        </p:nvSpPr>
        <p:spPr>
          <a:xfrm>
            <a:off x="4901184" y="1060704"/>
            <a:ext cx="2834640" cy="402336"/>
          </a:xfrm>
          <a:prstGeom prst="rect">
            <a:avLst/>
          </a:prstGeom>
          <a:noFill/>
          <a:ln/>
        </p:spPr>
        <p:txBody>
          <a:bodyPr wrap="square" rtlCol="0" anchor="ctr"/>
          <a:lstStyle/>
          <a:p>
            <a:pPr marL="0" indent="0">
              <a:buNone/>
            </a:pPr>
            <a:r>
              <a:rPr lang="en-US" sz="1050" dirty="0">
                <a:solidFill>
                  <a:srgbClr val="2C3E50"/>
                </a:solidFill>
                <a:latin typeface="Calibri" pitchFamily="34" charset="0"/>
                <a:ea typeface="Calibri" pitchFamily="34" charset="-122"/>
                <a:cs typeface="Calibri" pitchFamily="34" charset="-120"/>
              </a:rPr>
              <a:t>✗  llms.txt</a:t>
            </a:r>
            <a:endParaRPr lang="en-US" sz="1050" dirty="0"/>
          </a:p>
        </p:txBody>
      </p:sp>
      <p:sp>
        <p:nvSpPr>
          <p:cNvPr id="21" name="Shape 19"/>
          <p:cNvSpPr/>
          <p:nvPr/>
        </p:nvSpPr>
        <p:spPr>
          <a:xfrm>
            <a:off x="7772400" y="1133856"/>
            <a:ext cx="914400" cy="256032"/>
          </a:xfrm>
          <a:prstGeom prst="rect">
            <a:avLst/>
          </a:prstGeom>
          <a:solidFill>
            <a:srgbClr val="C0392B"/>
          </a:solidFill>
          <a:ln w="12700">
            <a:solidFill>
              <a:srgbClr val="C0392B"/>
            </a:solidFill>
            <a:prstDash val="solid"/>
          </a:ln>
        </p:spPr>
        <p:txBody>
          <a:bodyPr/>
          <a:lstStyle/>
          <a:p>
            <a:endParaRPr lang="en-US"/>
          </a:p>
        </p:txBody>
      </p:sp>
      <p:sp>
        <p:nvSpPr>
          <p:cNvPr id="22" name="Text 20"/>
          <p:cNvSpPr/>
          <p:nvPr/>
        </p:nvSpPr>
        <p:spPr>
          <a:xfrm>
            <a:off x="7772400" y="1133856"/>
            <a:ext cx="914400" cy="256032"/>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CRITICAL</a:t>
            </a:r>
            <a:endParaRPr lang="en-US" sz="750" dirty="0"/>
          </a:p>
        </p:txBody>
      </p:sp>
      <p:sp>
        <p:nvSpPr>
          <p:cNvPr id="23" name="Shape 21"/>
          <p:cNvSpPr/>
          <p:nvPr/>
        </p:nvSpPr>
        <p:spPr>
          <a:xfrm>
            <a:off x="4754880" y="1536192"/>
            <a:ext cx="4096512" cy="402336"/>
          </a:xfrm>
          <a:prstGeom prst="rect">
            <a:avLst/>
          </a:prstGeom>
          <a:solidFill>
            <a:srgbClr val="FDF3F3"/>
          </a:solidFill>
          <a:ln w="12700">
            <a:solidFill>
              <a:srgbClr val="F0D8D8"/>
            </a:solidFill>
            <a:prstDash val="solid"/>
          </a:ln>
        </p:spPr>
        <p:txBody>
          <a:bodyPr/>
          <a:lstStyle/>
          <a:p>
            <a:endParaRPr lang="en-US"/>
          </a:p>
        </p:txBody>
      </p:sp>
      <p:sp>
        <p:nvSpPr>
          <p:cNvPr id="24" name="Text 22"/>
          <p:cNvSpPr/>
          <p:nvPr/>
        </p:nvSpPr>
        <p:spPr>
          <a:xfrm>
            <a:off x="4901184" y="1536192"/>
            <a:ext cx="2834640" cy="402336"/>
          </a:xfrm>
          <a:prstGeom prst="rect">
            <a:avLst/>
          </a:prstGeom>
          <a:noFill/>
          <a:ln/>
        </p:spPr>
        <p:txBody>
          <a:bodyPr wrap="square" rtlCol="0" anchor="ctr"/>
          <a:lstStyle/>
          <a:p>
            <a:pPr marL="0" indent="0">
              <a:buNone/>
            </a:pPr>
            <a:r>
              <a:rPr lang="en-US" sz="1050" dirty="0">
                <a:solidFill>
                  <a:srgbClr val="2C3E50"/>
                </a:solidFill>
                <a:latin typeface="Calibri" pitchFamily="34" charset="0"/>
                <a:ea typeface="Calibri" pitchFamily="34" charset="-122"/>
                <a:cs typeface="Calibri" pitchFamily="34" charset="-120"/>
              </a:rPr>
              <a:t>✗  JSON-LD schema (any kind)</a:t>
            </a:r>
            <a:endParaRPr lang="en-US" sz="1050" dirty="0"/>
          </a:p>
        </p:txBody>
      </p:sp>
      <p:sp>
        <p:nvSpPr>
          <p:cNvPr id="25" name="Shape 23"/>
          <p:cNvSpPr/>
          <p:nvPr/>
        </p:nvSpPr>
        <p:spPr>
          <a:xfrm>
            <a:off x="7772400" y="1609344"/>
            <a:ext cx="914400" cy="256032"/>
          </a:xfrm>
          <a:prstGeom prst="rect">
            <a:avLst/>
          </a:prstGeom>
          <a:solidFill>
            <a:srgbClr val="C0392B"/>
          </a:solidFill>
          <a:ln w="12700">
            <a:solidFill>
              <a:srgbClr val="C0392B"/>
            </a:solidFill>
            <a:prstDash val="solid"/>
          </a:ln>
        </p:spPr>
        <p:txBody>
          <a:bodyPr/>
          <a:lstStyle/>
          <a:p>
            <a:endParaRPr lang="en-US"/>
          </a:p>
        </p:txBody>
      </p:sp>
      <p:sp>
        <p:nvSpPr>
          <p:cNvPr id="26" name="Text 24"/>
          <p:cNvSpPr/>
          <p:nvPr/>
        </p:nvSpPr>
        <p:spPr>
          <a:xfrm>
            <a:off x="7772400" y="1609344"/>
            <a:ext cx="914400" cy="256032"/>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CRITICAL</a:t>
            </a:r>
            <a:endParaRPr lang="en-US" sz="750" dirty="0"/>
          </a:p>
        </p:txBody>
      </p:sp>
      <p:sp>
        <p:nvSpPr>
          <p:cNvPr id="27" name="Shape 25"/>
          <p:cNvSpPr/>
          <p:nvPr/>
        </p:nvSpPr>
        <p:spPr>
          <a:xfrm>
            <a:off x="4754880" y="2011680"/>
            <a:ext cx="4096512" cy="402336"/>
          </a:xfrm>
          <a:prstGeom prst="rect">
            <a:avLst/>
          </a:prstGeom>
          <a:solidFill>
            <a:srgbClr val="FFFFFF"/>
          </a:solidFill>
          <a:ln w="12700">
            <a:solidFill>
              <a:srgbClr val="F0D8D8"/>
            </a:solidFill>
            <a:prstDash val="solid"/>
          </a:ln>
        </p:spPr>
        <p:txBody>
          <a:bodyPr/>
          <a:lstStyle/>
          <a:p>
            <a:endParaRPr lang="en-US"/>
          </a:p>
        </p:txBody>
      </p:sp>
      <p:sp>
        <p:nvSpPr>
          <p:cNvPr id="28" name="Text 26"/>
          <p:cNvSpPr/>
          <p:nvPr/>
        </p:nvSpPr>
        <p:spPr>
          <a:xfrm>
            <a:off x="4901184" y="2011680"/>
            <a:ext cx="2834640" cy="402336"/>
          </a:xfrm>
          <a:prstGeom prst="rect">
            <a:avLst/>
          </a:prstGeom>
          <a:noFill/>
          <a:ln/>
        </p:spPr>
        <p:txBody>
          <a:bodyPr wrap="square" rtlCol="0" anchor="ctr"/>
          <a:lstStyle/>
          <a:p>
            <a:pPr marL="0" indent="0">
              <a:buNone/>
            </a:pPr>
            <a:r>
              <a:rPr lang="en-US" sz="1050" dirty="0">
                <a:solidFill>
                  <a:srgbClr val="2C3E50"/>
                </a:solidFill>
                <a:latin typeface="Calibri" pitchFamily="34" charset="0"/>
                <a:ea typeface="Calibri" pitchFamily="34" charset="-122"/>
                <a:cs typeface="Calibri" pitchFamily="34" charset="-120"/>
              </a:rPr>
              <a:t>✗  LocalBusiness/Organization</a:t>
            </a:r>
            <a:endParaRPr lang="en-US" sz="1050" dirty="0"/>
          </a:p>
        </p:txBody>
      </p:sp>
      <p:sp>
        <p:nvSpPr>
          <p:cNvPr id="29" name="Shape 27"/>
          <p:cNvSpPr/>
          <p:nvPr/>
        </p:nvSpPr>
        <p:spPr>
          <a:xfrm>
            <a:off x="7772400" y="2084832"/>
            <a:ext cx="914400" cy="256032"/>
          </a:xfrm>
          <a:prstGeom prst="rect">
            <a:avLst/>
          </a:prstGeom>
          <a:solidFill>
            <a:srgbClr val="C0392B"/>
          </a:solidFill>
          <a:ln w="12700">
            <a:solidFill>
              <a:srgbClr val="C0392B"/>
            </a:solidFill>
            <a:prstDash val="solid"/>
          </a:ln>
        </p:spPr>
        <p:txBody>
          <a:bodyPr/>
          <a:lstStyle/>
          <a:p>
            <a:endParaRPr lang="en-US"/>
          </a:p>
        </p:txBody>
      </p:sp>
      <p:sp>
        <p:nvSpPr>
          <p:cNvPr id="30" name="Text 28"/>
          <p:cNvSpPr/>
          <p:nvPr/>
        </p:nvSpPr>
        <p:spPr>
          <a:xfrm>
            <a:off x="7772400" y="2084832"/>
            <a:ext cx="914400" cy="256032"/>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CRITICAL</a:t>
            </a:r>
            <a:endParaRPr lang="en-US" sz="750" dirty="0"/>
          </a:p>
        </p:txBody>
      </p:sp>
      <p:sp>
        <p:nvSpPr>
          <p:cNvPr id="31" name="Shape 29"/>
          <p:cNvSpPr/>
          <p:nvPr/>
        </p:nvSpPr>
        <p:spPr>
          <a:xfrm>
            <a:off x="4754880" y="2487168"/>
            <a:ext cx="4096512" cy="402336"/>
          </a:xfrm>
          <a:prstGeom prst="rect">
            <a:avLst/>
          </a:prstGeom>
          <a:solidFill>
            <a:srgbClr val="FDF3F3"/>
          </a:solidFill>
          <a:ln w="12700">
            <a:solidFill>
              <a:srgbClr val="F0D8D8"/>
            </a:solidFill>
            <a:prstDash val="solid"/>
          </a:ln>
        </p:spPr>
        <p:txBody>
          <a:bodyPr/>
          <a:lstStyle/>
          <a:p>
            <a:endParaRPr lang="en-US"/>
          </a:p>
        </p:txBody>
      </p:sp>
      <p:sp>
        <p:nvSpPr>
          <p:cNvPr id="32" name="Text 30"/>
          <p:cNvSpPr/>
          <p:nvPr/>
        </p:nvSpPr>
        <p:spPr>
          <a:xfrm>
            <a:off x="4901184" y="2487168"/>
            <a:ext cx="2834640" cy="402336"/>
          </a:xfrm>
          <a:prstGeom prst="rect">
            <a:avLst/>
          </a:prstGeom>
          <a:noFill/>
          <a:ln/>
        </p:spPr>
        <p:txBody>
          <a:bodyPr wrap="square" rtlCol="0" anchor="ctr"/>
          <a:lstStyle/>
          <a:p>
            <a:pPr marL="0" indent="0">
              <a:buNone/>
            </a:pPr>
            <a:r>
              <a:rPr lang="en-US" sz="1050" dirty="0">
                <a:solidFill>
                  <a:srgbClr val="2C3E50"/>
                </a:solidFill>
                <a:latin typeface="Calibri" pitchFamily="34" charset="0"/>
                <a:ea typeface="Calibri" pitchFamily="34" charset="-122"/>
                <a:cs typeface="Calibri" pitchFamily="34" charset="-120"/>
              </a:rPr>
              <a:t>✗  FAQPage schema</a:t>
            </a:r>
            <a:endParaRPr lang="en-US" sz="1050" dirty="0"/>
          </a:p>
        </p:txBody>
      </p:sp>
      <p:sp>
        <p:nvSpPr>
          <p:cNvPr id="33" name="Shape 31"/>
          <p:cNvSpPr/>
          <p:nvPr/>
        </p:nvSpPr>
        <p:spPr>
          <a:xfrm>
            <a:off x="7772400" y="2560320"/>
            <a:ext cx="914400" cy="256032"/>
          </a:xfrm>
          <a:prstGeom prst="rect">
            <a:avLst/>
          </a:prstGeom>
          <a:solidFill>
            <a:srgbClr val="D4820A"/>
          </a:solidFill>
          <a:ln w="12700">
            <a:solidFill>
              <a:srgbClr val="D4820A"/>
            </a:solidFill>
            <a:prstDash val="solid"/>
          </a:ln>
        </p:spPr>
        <p:txBody>
          <a:bodyPr/>
          <a:lstStyle/>
          <a:p>
            <a:endParaRPr lang="en-US"/>
          </a:p>
        </p:txBody>
      </p:sp>
      <p:sp>
        <p:nvSpPr>
          <p:cNvPr id="34" name="Text 32"/>
          <p:cNvSpPr/>
          <p:nvPr/>
        </p:nvSpPr>
        <p:spPr>
          <a:xfrm>
            <a:off x="7772400" y="2560320"/>
            <a:ext cx="914400" cy="256032"/>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
        <p:nvSpPr>
          <p:cNvPr id="35" name="Shape 33"/>
          <p:cNvSpPr/>
          <p:nvPr/>
        </p:nvSpPr>
        <p:spPr>
          <a:xfrm>
            <a:off x="4754880" y="2962656"/>
            <a:ext cx="4096512" cy="402336"/>
          </a:xfrm>
          <a:prstGeom prst="rect">
            <a:avLst/>
          </a:prstGeom>
          <a:solidFill>
            <a:srgbClr val="FFFFFF"/>
          </a:solidFill>
          <a:ln w="12700">
            <a:solidFill>
              <a:srgbClr val="F0D8D8"/>
            </a:solidFill>
            <a:prstDash val="solid"/>
          </a:ln>
        </p:spPr>
        <p:txBody>
          <a:bodyPr/>
          <a:lstStyle/>
          <a:p>
            <a:endParaRPr lang="en-US"/>
          </a:p>
        </p:txBody>
      </p:sp>
      <p:sp>
        <p:nvSpPr>
          <p:cNvPr id="36" name="Text 34"/>
          <p:cNvSpPr/>
          <p:nvPr/>
        </p:nvSpPr>
        <p:spPr>
          <a:xfrm>
            <a:off x="4901184" y="2962656"/>
            <a:ext cx="2834640" cy="402336"/>
          </a:xfrm>
          <a:prstGeom prst="rect">
            <a:avLst/>
          </a:prstGeom>
          <a:noFill/>
          <a:ln/>
        </p:spPr>
        <p:txBody>
          <a:bodyPr wrap="square" rtlCol="0" anchor="ctr"/>
          <a:lstStyle/>
          <a:p>
            <a:pPr marL="0" indent="0">
              <a:buNone/>
            </a:pPr>
            <a:r>
              <a:rPr lang="en-US" sz="1050" dirty="0">
                <a:solidFill>
                  <a:srgbClr val="2C3E50"/>
                </a:solidFill>
                <a:latin typeface="Calibri" pitchFamily="34" charset="0"/>
                <a:ea typeface="Calibri" pitchFamily="34" charset="-122"/>
                <a:cs typeface="Calibri" pitchFamily="34" charset="-120"/>
              </a:rPr>
              <a:t>✗  Open Graph meta tags</a:t>
            </a:r>
            <a:endParaRPr lang="en-US" sz="1050" dirty="0"/>
          </a:p>
        </p:txBody>
      </p:sp>
      <p:sp>
        <p:nvSpPr>
          <p:cNvPr id="37" name="Shape 35"/>
          <p:cNvSpPr/>
          <p:nvPr/>
        </p:nvSpPr>
        <p:spPr>
          <a:xfrm>
            <a:off x="7772400" y="3035808"/>
            <a:ext cx="914400" cy="256032"/>
          </a:xfrm>
          <a:prstGeom prst="rect">
            <a:avLst/>
          </a:prstGeom>
          <a:solidFill>
            <a:srgbClr val="D4820A"/>
          </a:solidFill>
          <a:ln w="12700">
            <a:solidFill>
              <a:srgbClr val="D4820A"/>
            </a:solidFill>
            <a:prstDash val="solid"/>
          </a:ln>
        </p:spPr>
        <p:txBody>
          <a:bodyPr/>
          <a:lstStyle/>
          <a:p>
            <a:endParaRPr lang="en-US"/>
          </a:p>
        </p:txBody>
      </p:sp>
      <p:sp>
        <p:nvSpPr>
          <p:cNvPr id="38" name="Text 36"/>
          <p:cNvSpPr/>
          <p:nvPr/>
        </p:nvSpPr>
        <p:spPr>
          <a:xfrm>
            <a:off x="7772400" y="3035808"/>
            <a:ext cx="914400" cy="256032"/>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
        <p:nvSpPr>
          <p:cNvPr id="39" name="Shape 37"/>
          <p:cNvSpPr/>
          <p:nvPr/>
        </p:nvSpPr>
        <p:spPr>
          <a:xfrm>
            <a:off x="4754880" y="3438144"/>
            <a:ext cx="4096512" cy="402336"/>
          </a:xfrm>
          <a:prstGeom prst="rect">
            <a:avLst/>
          </a:prstGeom>
          <a:solidFill>
            <a:srgbClr val="FDF3F3"/>
          </a:solidFill>
          <a:ln w="12700">
            <a:solidFill>
              <a:srgbClr val="F0D8D8"/>
            </a:solidFill>
            <a:prstDash val="solid"/>
          </a:ln>
        </p:spPr>
        <p:txBody>
          <a:bodyPr/>
          <a:lstStyle/>
          <a:p>
            <a:endParaRPr lang="en-US"/>
          </a:p>
        </p:txBody>
      </p:sp>
      <p:sp>
        <p:nvSpPr>
          <p:cNvPr id="40" name="Text 38"/>
          <p:cNvSpPr/>
          <p:nvPr/>
        </p:nvSpPr>
        <p:spPr>
          <a:xfrm>
            <a:off x="4901184" y="3438144"/>
            <a:ext cx="2834640" cy="402336"/>
          </a:xfrm>
          <a:prstGeom prst="rect">
            <a:avLst/>
          </a:prstGeom>
          <a:noFill/>
          <a:ln/>
        </p:spPr>
        <p:txBody>
          <a:bodyPr wrap="square" rtlCol="0" anchor="ctr"/>
          <a:lstStyle/>
          <a:p>
            <a:pPr marL="0" indent="0">
              <a:buNone/>
            </a:pPr>
            <a:r>
              <a:rPr lang="en-US" sz="1050" dirty="0">
                <a:solidFill>
                  <a:srgbClr val="2C3E50"/>
                </a:solidFill>
                <a:latin typeface="Calibri" pitchFamily="34" charset="0"/>
                <a:ea typeface="Calibri" pitchFamily="34" charset="-122"/>
                <a:cs typeface="Calibri" pitchFamily="34" charset="-120"/>
              </a:rPr>
              <a:t>✗  Article/BlogPosting schema</a:t>
            </a:r>
            <a:endParaRPr lang="en-US" sz="1050" dirty="0"/>
          </a:p>
        </p:txBody>
      </p:sp>
      <p:sp>
        <p:nvSpPr>
          <p:cNvPr id="41" name="Shape 39"/>
          <p:cNvSpPr/>
          <p:nvPr/>
        </p:nvSpPr>
        <p:spPr>
          <a:xfrm>
            <a:off x="7772400" y="3511296"/>
            <a:ext cx="914400" cy="256032"/>
          </a:xfrm>
          <a:prstGeom prst="rect">
            <a:avLst/>
          </a:prstGeom>
          <a:solidFill>
            <a:srgbClr val="D4820A"/>
          </a:solidFill>
          <a:ln w="12700">
            <a:solidFill>
              <a:srgbClr val="D4820A"/>
            </a:solidFill>
            <a:prstDash val="solid"/>
          </a:ln>
        </p:spPr>
        <p:txBody>
          <a:bodyPr/>
          <a:lstStyle/>
          <a:p>
            <a:endParaRPr lang="en-US"/>
          </a:p>
        </p:txBody>
      </p:sp>
      <p:sp>
        <p:nvSpPr>
          <p:cNvPr id="42" name="Text 40"/>
          <p:cNvSpPr/>
          <p:nvPr/>
        </p:nvSpPr>
        <p:spPr>
          <a:xfrm>
            <a:off x="7772400" y="3511296"/>
            <a:ext cx="914400" cy="256032"/>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
        <p:nvSpPr>
          <p:cNvPr id="43" name="Shape 41"/>
          <p:cNvSpPr/>
          <p:nvPr/>
        </p:nvSpPr>
        <p:spPr>
          <a:xfrm>
            <a:off x="4754880" y="3913632"/>
            <a:ext cx="4096512" cy="402336"/>
          </a:xfrm>
          <a:prstGeom prst="rect">
            <a:avLst/>
          </a:prstGeom>
          <a:solidFill>
            <a:srgbClr val="FFFFFF"/>
          </a:solidFill>
          <a:ln w="12700">
            <a:solidFill>
              <a:srgbClr val="F0D8D8"/>
            </a:solidFill>
            <a:prstDash val="solid"/>
          </a:ln>
        </p:spPr>
        <p:txBody>
          <a:bodyPr/>
          <a:lstStyle/>
          <a:p>
            <a:endParaRPr lang="en-US"/>
          </a:p>
        </p:txBody>
      </p:sp>
      <p:sp>
        <p:nvSpPr>
          <p:cNvPr id="44" name="Text 42"/>
          <p:cNvSpPr/>
          <p:nvPr/>
        </p:nvSpPr>
        <p:spPr>
          <a:xfrm>
            <a:off x="4901184" y="3913632"/>
            <a:ext cx="2834640" cy="402336"/>
          </a:xfrm>
          <a:prstGeom prst="rect">
            <a:avLst/>
          </a:prstGeom>
          <a:noFill/>
          <a:ln/>
        </p:spPr>
        <p:txBody>
          <a:bodyPr wrap="square" rtlCol="0" anchor="ctr"/>
          <a:lstStyle/>
          <a:p>
            <a:pPr marL="0" indent="0">
              <a:buNone/>
            </a:pPr>
            <a:r>
              <a:rPr lang="en-US" sz="1050" dirty="0">
                <a:solidFill>
                  <a:srgbClr val="2C3E50"/>
                </a:solidFill>
                <a:latin typeface="Calibri" pitchFamily="34" charset="0"/>
                <a:ea typeface="Calibri" pitchFamily="34" charset="-122"/>
                <a:cs typeface="Calibri" pitchFamily="34" charset="-120"/>
              </a:rPr>
              <a:t>✗  Hreflang (Turkish pages)</a:t>
            </a:r>
            <a:endParaRPr lang="en-US" sz="1050" dirty="0"/>
          </a:p>
        </p:txBody>
      </p:sp>
      <p:sp>
        <p:nvSpPr>
          <p:cNvPr id="45" name="Shape 43"/>
          <p:cNvSpPr/>
          <p:nvPr/>
        </p:nvSpPr>
        <p:spPr>
          <a:xfrm>
            <a:off x="7772400" y="3986784"/>
            <a:ext cx="914400" cy="256032"/>
          </a:xfrm>
          <a:prstGeom prst="rect">
            <a:avLst/>
          </a:prstGeom>
          <a:solidFill>
            <a:srgbClr val="95A5A6"/>
          </a:solidFill>
          <a:ln w="12700">
            <a:solidFill>
              <a:srgbClr val="95A5A6"/>
            </a:solidFill>
            <a:prstDash val="solid"/>
          </a:ln>
        </p:spPr>
        <p:txBody>
          <a:bodyPr/>
          <a:lstStyle/>
          <a:p>
            <a:endParaRPr lang="en-US"/>
          </a:p>
        </p:txBody>
      </p:sp>
      <p:sp>
        <p:nvSpPr>
          <p:cNvPr id="46" name="Text 44"/>
          <p:cNvSpPr/>
          <p:nvPr/>
        </p:nvSpPr>
        <p:spPr>
          <a:xfrm>
            <a:off x="7772400" y="3986784"/>
            <a:ext cx="914400" cy="256032"/>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MEDIUM</a:t>
            </a:r>
            <a:endParaRPr lang="en-US" sz="750" dirty="0"/>
          </a:p>
        </p:txBody>
      </p:sp>
      <p:sp>
        <p:nvSpPr>
          <p:cNvPr id="47" name="Shape 45"/>
          <p:cNvSpPr/>
          <p:nvPr/>
        </p:nvSpPr>
        <p:spPr>
          <a:xfrm>
            <a:off x="4754880" y="4389120"/>
            <a:ext cx="4096512" cy="402336"/>
          </a:xfrm>
          <a:prstGeom prst="rect">
            <a:avLst/>
          </a:prstGeom>
          <a:solidFill>
            <a:srgbClr val="FDF3F3"/>
          </a:solidFill>
          <a:ln w="12700">
            <a:solidFill>
              <a:srgbClr val="F0D8D8"/>
            </a:solidFill>
            <a:prstDash val="solid"/>
          </a:ln>
        </p:spPr>
        <p:txBody>
          <a:bodyPr/>
          <a:lstStyle/>
          <a:p>
            <a:endParaRPr lang="en-US"/>
          </a:p>
        </p:txBody>
      </p:sp>
      <p:sp>
        <p:nvSpPr>
          <p:cNvPr id="48" name="Text 46"/>
          <p:cNvSpPr/>
          <p:nvPr/>
        </p:nvSpPr>
        <p:spPr>
          <a:xfrm>
            <a:off x="4901184" y="4389120"/>
            <a:ext cx="2834640" cy="402336"/>
          </a:xfrm>
          <a:prstGeom prst="rect">
            <a:avLst/>
          </a:prstGeom>
          <a:noFill/>
          <a:ln/>
        </p:spPr>
        <p:txBody>
          <a:bodyPr wrap="square" rtlCol="0" anchor="ctr"/>
          <a:lstStyle/>
          <a:p>
            <a:pPr marL="0" indent="0">
              <a:buNone/>
            </a:pPr>
            <a:r>
              <a:rPr lang="en-US" sz="1050" dirty="0">
                <a:solidFill>
                  <a:srgbClr val="2C3E50"/>
                </a:solidFill>
                <a:latin typeface="Calibri" pitchFamily="34" charset="0"/>
                <a:ea typeface="Calibri" pitchFamily="34" charset="-122"/>
                <a:cs typeface="Calibri" pitchFamily="34" charset="-120"/>
              </a:rPr>
              <a:t>✗  BreadcrumbList schema</a:t>
            </a:r>
            <a:endParaRPr lang="en-US" sz="1050" dirty="0"/>
          </a:p>
        </p:txBody>
      </p:sp>
      <p:sp>
        <p:nvSpPr>
          <p:cNvPr id="49" name="Shape 47"/>
          <p:cNvSpPr/>
          <p:nvPr/>
        </p:nvSpPr>
        <p:spPr>
          <a:xfrm>
            <a:off x="7772400" y="4462272"/>
            <a:ext cx="914400" cy="256032"/>
          </a:xfrm>
          <a:prstGeom prst="rect">
            <a:avLst/>
          </a:prstGeom>
          <a:solidFill>
            <a:srgbClr val="95A5A6"/>
          </a:solidFill>
          <a:ln w="12700">
            <a:solidFill>
              <a:srgbClr val="95A5A6"/>
            </a:solidFill>
            <a:prstDash val="solid"/>
          </a:ln>
        </p:spPr>
        <p:txBody>
          <a:bodyPr/>
          <a:lstStyle/>
          <a:p>
            <a:endParaRPr lang="en-US"/>
          </a:p>
        </p:txBody>
      </p:sp>
      <p:sp>
        <p:nvSpPr>
          <p:cNvPr id="50" name="Text 48"/>
          <p:cNvSpPr/>
          <p:nvPr/>
        </p:nvSpPr>
        <p:spPr>
          <a:xfrm>
            <a:off x="7772400" y="4462272"/>
            <a:ext cx="914400" cy="256032"/>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MEDIUM</a:t>
            </a:r>
            <a:endParaRPr lang="en-US" sz="750" dirty="0"/>
          </a:p>
        </p:txBody>
      </p:sp>
      <p:sp>
        <p:nvSpPr>
          <p:cNvPr id="51" name="Shape 49"/>
          <p:cNvSpPr/>
          <p:nvPr/>
        </p:nvSpPr>
        <p:spPr>
          <a:xfrm>
            <a:off x="0" y="4754880"/>
            <a:ext cx="9144000" cy="388620"/>
          </a:xfrm>
          <a:prstGeom prst="rect">
            <a:avLst/>
          </a:prstGeom>
          <a:solidFill>
            <a:srgbClr val="C0392B"/>
          </a:solidFill>
          <a:ln w="12700">
            <a:solidFill>
              <a:srgbClr val="C0392B"/>
            </a:solidFill>
            <a:prstDash val="solid"/>
          </a:ln>
        </p:spPr>
        <p:txBody>
          <a:bodyPr/>
          <a:lstStyle/>
          <a:p>
            <a:endParaRPr lang="en-US"/>
          </a:p>
        </p:txBody>
      </p:sp>
      <p:sp>
        <p:nvSpPr>
          <p:cNvPr id="52" name="Text 50"/>
          <p:cNvSpPr/>
          <p:nvPr/>
        </p:nvSpPr>
        <p:spPr>
          <a:xfrm>
            <a:off x="292608" y="4773168"/>
            <a:ext cx="8558784" cy="329184"/>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Schema Score: 2/100 — Rank Math is installed and ready. The infrastructure exists but has never been activated. One configuration session fixes this.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2E4B"/>
          </a:solidFill>
          <a:ln w="12700">
            <a:solidFill>
              <a:srgbClr val="1B2E4B"/>
            </a:solidFill>
            <a:prstDash val="solid"/>
          </a:ln>
        </p:spPr>
        <p:txBody>
          <a:bodyPr/>
          <a:lstStyle/>
          <a:p>
            <a:endParaRPr lang="en-US"/>
          </a:p>
        </p:txBody>
      </p:sp>
      <p:sp>
        <p:nvSpPr>
          <p:cNvPr id="3" name="Shape 1"/>
          <p:cNvSpPr/>
          <p:nvPr/>
        </p:nvSpPr>
        <p:spPr>
          <a:xfrm>
            <a:off x="0" y="0"/>
            <a:ext cx="256032" cy="566928"/>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438912" y="0"/>
            <a:ext cx="8412480" cy="56692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Quick Wins — Implement This Week (+15–22 Points)</a:t>
            </a:r>
            <a:endParaRPr lang="en-US" sz="1800" dirty="0"/>
          </a:p>
        </p:txBody>
      </p:sp>
      <p:sp>
        <p:nvSpPr>
          <p:cNvPr id="5" name="Text 3"/>
          <p:cNvSpPr/>
          <p:nvPr/>
        </p:nvSpPr>
        <p:spPr>
          <a:xfrm>
            <a:off x="292608" y="658368"/>
            <a:ext cx="8558784" cy="384048"/>
          </a:xfrm>
          <a:prstGeom prst="rect">
            <a:avLst/>
          </a:prstGeom>
          <a:noFill/>
          <a:ln/>
        </p:spPr>
        <p:txBody>
          <a:bodyPr wrap="square" rtlCol="0" anchor="ctr"/>
          <a:lstStyle/>
          <a:p>
            <a:pPr marL="0" indent="0">
              <a:buNone/>
            </a:pPr>
            <a:r>
              <a:rPr lang="en-US" sz="1200" dirty="0">
                <a:solidFill>
                  <a:srgbClr val="2C3E50"/>
                </a:solidFill>
                <a:latin typeface="Calibri" pitchFamily="34" charset="0"/>
                <a:ea typeface="Calibri" pitchFamily="34" charset="-122"/>
                <a:cs typeface="Calibri" pitchFamily="34" charset="-120"/>
              </a:rPr>
              <a:t>No new content required. Minimal technical skill. Completable in 1–2 business days.</a:t>
            </a:r>
            <a:endParaRPr lang="en-US" sz="1200" dirty="0"/>
          </a:p>
        </p:txBody>
      </p:sp>
      <p:sp>
        <p:nvSpPr>
          <p:cNvPr id="6" name="Shape 4"/>
          <p:cNvSpPr/>
          <p:nvPr/>
        </p:nvSpPr>
        <p:spPr>
          <a:xfrm>
            <a:off x="292608" y="1115568"/>
            <a:ext cx="8558784" cy="694944"/>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84048" y="1234440"/>
            <a:ext cx="457200" cy="457200"/>
          </a:xfrm>
          <a:prstGeom prst="ellipse">
            <a:avLst/>
          </a:prstGeom>
          <a:solidFill>
            <a:srgbClr val="1E7B3A"/>
          </a:solidFill>
          <a:ln w="12700">
            <a:solidFill>
              <a:srgbClr val="1E7B3A"/>
            </a:solidFill>
            <a:prstDash val="solid"/>
          </a:ln>
        </p:spPr>
        <p:txBody>
          <a:bodyPr/>
          <a:lstStyle/>
          <a:p>
            <a:endParaRPr lang="en-US"/>
          </a:p>
        </p:txBody>
      </p:sp>
      <p:sp>
        <p:nvSpPr>
          <p:cNvPr id="8" name="Text 6"/>
          <p:cNvSpPr/>
          <p:nvPr/>
        </p:nvSpPr>
        <p:spPr>
          <a:xfrm>
            <a:off x="384048" y="123444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7991856" y="1335024"/>
            <a:ext cx="731520" cy="256032"/>
          </a:xfrm>
          <a:prstGeom prst="rect">
            <a:avLst/>
          </a:prstGeom>
          <a:noFill/>
          <a:ln/>
        </p:spPr>
        <p:txBody>
          <a:bodyPr wrap="square" rtlCol="0" anchor="ctr"/>
          <a:lstStyle/>
          <a:p>
            <a:pPr marL="0" indent="0" algn="ctr">
              <a:buNone/>
            </a:pPr>
            <a:endParaRPr lang="en-US" sz="850" dirty="0"/>
          </a:p>
        </p:txBody>
      </p:sp>
      <p:sp>
        <p:nvSpPr>
          <p:cNvPr id="11" name="Text 9"/>
          <p:cNvSpPr/>
          <p:nvPr/>
        </p:nvSpPr>
        <p:spPr>
          <a:xfrm>
            <a:off x="960120" y="1170432"/>
            <a:ext cx="6903720" cy="329184"/>
          </a:xfrm>
          <a:prstGeom prst="rect">
            <a:avLst/>
          </a:prstGeom>
          <a:noFill/>
          <a:ln/>
        </p:spPr>
        <p:txBody>
          <a:bodyPr wrap="square" rtlCol="0" anchor="ctr"/>
          <a:lstStyle/>
          <a:p>
            <a:pPr marL="0" indent="0">
              <a:buNone/>
            </a:pPr>
            <a:r>
              <a:rPr lang="en-US" sz="1200" b="1" dirty="0">
                <a:solidFill>
                  <a:srgbClr val="1B2E4B"/>
                </a:solidFill>
                <a:latin typeface="Calibri" pitchFamily="34" charset="0"/>
                <a:ea typeface="Calibri" pitchFamily="34" charset="-122"/>
                <a:cs typeface="Calibri" pitchFamily="34" charset="-120"/>
              </a:rPr>
              <a:t>Configure Rank Math LocalBusiness Schema</a:t>
            </a:r>
            <a:endParaRPr lang="en-US" sz="1200" dirty="0"/>
          </a:p>
        </p:txBody>
      </p:sp>
      <p:sp>
        <p:nvSpPr>
          <p:cNvPr id="12" name="Text 10"/>
          <p:cNvSpPr/>
          <p:nvPr/>
        </p:nvSpPr>
        <p:spPr>
          <a:xfrm>
            <a:off x="960120" y="1499616"/>
            <a:ext cx="6903720" cy="292608"/>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Rank Math → Titles &amp; Meta → Global Settings → Local Business. Enter NAP data. Deploys Organization + LocalBusiness JSON-LD sitewide immediately.</a:t>
            </a:r>
            <a:endParaRPr lang="en-US" sz="950" dirty="0"/>
          </a:p>
        </p:txBody>
      </p:sp>
      <p:sp>
        <p:nvSpPr>
          <p:cNvPr id="13" name="Shape 11"/>
          <p:cNvSpPr/>
          <p:nvPr/>
        </p:nvSpPr>
        <p:spPr>
          <a:xfrm>
            <a:off x="292608" y="1883664"/>
            <a:ext cx="8558784" cy="694944"/>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12"/>
          <p:cNvSpPr/>
          <p:nvPr/>
        </p:nvSpPr>
        <p:spPr>
          <a:xfrm>
            <a:off x="384048" y="2002536"/>
            <a:ext cx="457200" cy="457200"/>
          </a:xfrm>
          <a:prstGeom prst="ellipse">
            <a:avLst/>
          </a:prstGeom>
          <a:solidFill>
            <a:srgbClr val="1E7B3A"/>
          </a:solidFill>
          <a:ln w="12700">
            <a:solidFill>
              <a:srgbClr val="1E7B3A"/>
            </a:solidFill>
            <a:prstDash val="solid"/>
          </a:ln>
        </p:spPr>
        <p:txBody>
          <a:bodyPr/>
          <a:lstStyle/>
          <a:p>
            <a:endParaRPr lang="en-US"/>
          </a:p>
        </p:txBody>
      </p:sp>
      <p:sp>
        <p:nvSpPr>
          <p:cNvPr id="15" name="Text 13"/>
          <p:cNvSpPr/>
          <p:nvPr/>
        </p:nvSpPr>
        <p:spPr>
          <a:xfrm>
            <a:off x="384048" y="2002536"/>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7991856" y="2103120"/>
            <a:ext cx="731520" cy="256032"/>
          </a:xfrm>
          <a:prstGeom prst="rect">
            <a:avLst/>
          </a:prstGeom>
          <a:noFill/>
          <a:ln/>
        </p:spPr>
        <p:txBody>
          <a:bodyPr wrap="square" rtlCol="0" anchor="ctr"/>
          <a:lstStyle/>
          <a:p>
            <a:pPr marL="0" indent="0" algn="ctr">
              <a:buNone/>
            </a:pPr>
            <a:endParaRPr lang="en-US" sz="850" dirty="0"/>
          </a:p>
        </p:txBody>
      </p:sp>
      <p:sp>
        <p:nvSpPr>
          <p:cNvPr id="18" name="Text 16"/>
          <p:cNvSpPr/>
          <p:nvPr/>
        </p:nvSpPr>
        <p:spPr>
          <a:xfrm>
            <a:off x="960120" y="1938528"/>
            <a:ext cx="6903720" cy="329184"/>
          </a:xfrm>
          <a:prstGeom prst="rect">
            <a:avLst/>
          </a:prstGeom>
          <a:noFill/>
          <a:ln/>
        </p:spPr>
        <p:txBody>
          <a:bodyPr wrap="square" rtlCol="0" anchor="ctr"/>
          <a:lstStyle/>
          <a:p>
            <a:pPr marL="0" indent="0">
              <a:buNone/>
            </a:pPr>
            <a:r>
              <a:rPr lang="en-US" sz="1200" b="1" dirty="0">
                <a:solidFill>
                  <a:srgbClr val="1B2E4B"/>
                </a:solidFill>
                <a:latin typeface="Calibri" pitchFamily="34" charset="0"/>
                <a:ea typeface="Calibri" pitchFamily="34" charset="-122"/>
                <a:cs typeface="Calibri" pitchFamily="34" charset="-120"/>
              </a:rPr>
              <a:t>Create &amp; Upload /llms.txt</a:t>
            </a:r>
            <a:endParaRPr lang="en-US" sz="1200" dirty="0"/>
          </a:p>
        </p:txBody>
      </p:sp>
      <p:sp>
        <p:nvSpPr>
          <p:cNvPr id="19" name="Text 17"/>
          <p:cNvSpPr/>
          <p:nvPr/>
        </p:nvSpPr>
        <p:spPr>
          <a:xfrm>
            <a:off x="960120" y="2267712"/>
            <a:ext cx="6903720" cy="292608"/>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Copy the ready-to-use template from the audit. Upload to domain root as a static text file — no CMS interaction required.</a:t>
            </a:r>
            <a:endParaRPr lang="en-US" sz="950" dirty="0"/>
          </a:p>
        </p:txBody>
      </p:sp>
      <p:sp>
        <p:nvSpPr>
          <p:cNvPr id="20" name="Shape 18"/>
          <p:cNvSpPr/>
          <p:nvPr/>
        </p:nvSpPr>
        <p:spPr>
          <a:xfrm>
            <a:off x="292608" y="2651760"/>
            <a:ext cx="8558784" cy="694944"/>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384048" y="2770632"/>
            <a:ext cx="457200" cy="457200"/>
          </a:xfrm>
          <a:prstGeom prst="ellipse">
            <a:avLst/>
          </a:prstGeom>
          <a:solidFill>
            <a:srgbClr val="1E7B3A"/>
          </a:solidFill>
          <a:ln w="12700">
            <a:solidFill>
              <a:srgbClr val="1E7B3A"/>
            </a:solidFill>
            <a:prstDash val="solid"/>
          </a:ln>
        </p:spPr>
        <p:txBody>
          <a:bodyPr/>
          <a:lstStyle/>
          <a:p>
            <a:endParaRPr lang="en-US"/>
          </a:p>
        </p:txBody>
      </p:sp>
      <p:sp>
        <p:nvSpPr>
          <p:cNvPr id="22" name="Text 20"/>
          <p:cNvSpPr/>
          <p:nvPr/>
        </p:nvSpPr>
        <p:spPr>
          <a:xfrm>
            <a:off x="384048" y="2770632"/>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4" name="Text 22"/>
          <p:cNvSpPr/>
          <p:nvPr/>
        </p:nvSpPr>
        <p:spPr>
          <a:xfrm>
            <a:off x="7991856" y="2871216"/>
            <a:ext cx="731520" cy="256032"/>
          </a:xfrm>
          <a:prstGeom prst="rect">
            <a:avLst/>
          </a:prstGeom>
          <a:noFill/>
          <a:ln/>
        </p:spPr>
        <p:txBody>
          <a:bodyPr wrap="square" rtlCol="0" anchor="ctr"/>
          <a:lstStyle/>
          <a:p>
            <a:pPr marL="0" indent="0" algn="ctr">
              <a:buNone/>
            </a:pPr>
            <a:endParaRPr lang="en-US" sz="850" dirty="0"/>
          </a:p>
        </p:txBody>
      </p:sp>
      <p:sp>
        <p:nvSpPr>
          <p:cNvPr id="25" name="Text 23"/>
          <p:cNvSpPr/>
          <p:nvPr/>
        </p:nvSpPr>
        <p:spPr>
          <a:xfrm>
            <a:off x="960120" y="2706624"/>
            <a:ext cx="6903720" cy="329184"/>
          </a:xfrm>
          <a:prstGeom prst="rect">
            <a:avLst/>
          </a:prstGeom>
          <a:noFill/>
          <a:ln/>
        </p:spPr>
        <p:txBody>
          <a:bodyPr wrap="square" rtlCol="0" anchor="ctr"/>
          <a:lstStyle/>
          <a:p>
            <a:pPr marL="0" indent="0">
              <a:buNone/>
            </a:pPr>
            <a:r>
              <a:rPr lang="en-US" sz="1200" b="1" dirty="0">
                <a:solidFill>
                  <a:srgbClr val="1B2E4B"/>
                </a:solidFill>
                <a:latin typeface="Calibri" pitchFamily="34" charset="0"/>
                <a:ea typeface="Calibri" pitchFamily="34" charset="-122"/>
                <a:cs typeface="Calibri" pitchFamily="34" charset="-120"/>
              </a:rPr>
              <a:t>Add FAQPage Schema to 3 Key Service Pages</a:t>
            </a:r>
            <a:endParaRPr lang="en-US" sz="1200" dirty="0"/>
          </a:p>
        </p:txBody>
      </p:sp>
      <p:sp>
        <p:nvSpPr>
          <p:cNvPr id="26" name="Text 24"/>
          <p:cNvSpPr/>
          <p:nvPr/>
        </p:nvSpPr>
        <p:spPr>
          <a:xfrm>
            <a:off x="960120" y="3035808"/>
            <a:ext cx="6903720" cy="292608"/>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Open the Rank Math schema block on /rpl-certification/, /trade-license-sydney/, and /student-visas/ — add FAQPage schema from existing FAQ content.</a:t>
            </a:r>
            <a:endParaRPr lang="en-US" sz="950" dirty="0"/>
          </a:p>
        </p:txBody>
      </p:sp>
      <p:sp>
        <p:nvSpPr>
          <p:cNvPr id="27" name="Shape 25"/>
          <p:cNvSpPr/>
          <p:nvPr/>
        </p:nvSpPr>
        <p:spPr>
          <a:xfrm>
            <a:off x="292608" y="3419856"/>
            <a:ext cx="8558784" cy="694944"/>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28" name="Shape 26"/>
          <p:cNvSpPr/>
          <p:nvPr/>
        </p:nvSpPr>
        <p:spPr>
          <a:xfrm>
            <a:off x="384048" y="3538728"/>
            <a:ext cx="457200" cy="457200"/>
          </a:xfrm>
          <a:prstGeom prst="ellipse">
            <a:avLst/>
          </a:prstGeom>
          <a:solidFill>
            <a:srgbClr val="1E7B3A"/>
          </a:solidFill>
          <a:ln w="12700">
            <a:solidFill>
              <a:srgbClr val="1E7B3A"/>
            </a:solidFill>
            <a:prstDash val="solid"/>
          </a:ln>
        </p:spPr>
        <p:txBody>
          <a:bodyPr/>
          <a:lstStyle/>
          <a:p>
            <a:endParaRPr lang="en-US"/>
          </a:p>
        </p:txBody>
      </p:sp>
      <p:sp>
        <p:nvSpPr>
          <p:cNvPr id="29" name="Text 27"/>
          <p:cNvSpPr/>
          <p:nvPr/>
        </p:nvSpPr>
        <p:spPr>
          <a:xfrm>
            <a:off x="384048" y="3538728"/>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 29"/>
          <p:cNvSpPr/>
          <p:nvPr/>
        </p:nvSpPr>
        <p:spPr>
          <a:xfrm>
            <a:off x="7991856" y="3639312"/>
            <a:ext cx="731520" cy="256032"/>
          </a:xfrm>
          <a:prstGeom prst="rect">
            <a:avLst/>
          </a:prstGeom>
          <a:noFill/>
          <a:ln/>
        </p:spPr>
        <p:txBody>
          <a:bodyPr wrap="square" rtlCol="0" anchor="ctr"/>
          <a:lstStyle/>
          <a:p>
            <a:pPr marL="0" indent="0" algn="ctr">
              <a:buNone/>
            </a:pPr>
            <a:endParaRPr lang="en-US" sz="850" dirty="0"/>
          </a:p>
        </p:txBody>
      </p:sp>
      <p:sp>
        <p:nvSpPr>
          <p:cNvPr id="32" name="Text 30"/>
          <p:cNvSpPr/>
          <p:nvPr/>
        </p:nvSpPr>
        <p:spPr>
          <a:xfrm>
            <a:off x="960120" y="3474720"/>
            <a:ext cx="6903720" cy="329184"/>
          </a:xfrm>
          <a:prstGeom prst="rect">
            <a:avLst/>
          </a:prstGeom>
          <a:noFill/>
          <a:ln/>
        </p:spPr>
        <p:txBody>
          <a:bodyPr wrap="square" rtlCol="0" anchor="ctr"/>
          <a:lstStyle/>
          <a:p>
            <a:pPr marL="0" indent="0">
              <a:buNone/>
            </a:pPr>
            <a:r>
              <a:rPr lang="en-US" sz="1200" b="1" dirty="0">
                <a:solidFill>
                  <a:srgbClr val="1B2E4B"/>
                </a:solidFill>
                <a:latin typeface="Calibri" pitchFamily="34" charset="0"/>
                <a:ea typeface="Calibri" pitchFamily="34" charset="-122"/>
                <a:cs typeface="Calibri" pitchFamily="34" charset="-120"/>
              </a:rPr>
              <a:t>Create &amp; Verify Google Business Profile</a:t>
            </a:r>
            <a:endParaRPr lang="en-US" sz="1200" dirty="0"/>
          </a:p>
        </p:txBody>
      </p:sp>
      <p:sp>
        <p:nvSpPr>
          <p:cNvPr id="33" name="Text 31"/>
          <p:cNvSpPr/>
          <p:nvPr/>
        </p:nvSpPr>
        <p:spPr>
          <a:xfrm>
            <a:off x="960120" y="3803904"/>
            <a:ext cx="6903720" cy="292608"/>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Go to business.google.com → create listing → request postcard verification. Single highest-impact brand authority action available.</a:t>
            </a:r>
            <a:endParaRPr lang="en-US" sz="950" dirty="0"/>
          </a:p>
        </p:txBody>
      </p:sp>
      <p:sp>
        <p:nvSpPr>
          <p:cNvPr id="34" name="Shape 32"/>
          <p:cNvSpPr/>
          <p:nvPr/>
        </p:nvSpPr>
        <p:spPr>
          <a:xfrm>
            <a:off x="292608" y="4187952"/>
            <a:ext cx="8558784" cy="694944"/>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35" name="Shape 33"/>
          <p:cNvSpPr/>
          <p:nvPr/>
        </p:nvSpPr>
        <p:spPr>
          <a:xfrm>
            <a:off x="384048" y="4306824"/>
            <a:ext cx="457200" cy="457200"/>
          </a:xfrm>
          <a:prstGeom prst="ellipse">
            <a:avLst/>
          </a:prstGeom>
          <a:solidFill>
            <a:srgbClr val="1E7B3A"/>
          </a:solidFill>
          <a:ln w="12700">
            <a:solidFill>
              <a:srgbClr val="1E7B3A"/>
            </a:solidFill>
            <a:prstDash val="solid"/>
          </a:ln>
        </p:spPr>
        <p:txBody>
          <a:bodyPr/>
          <a:lstStyle/>
          <a:p>
            <a:endParaRPr lang="en-US"/>
          </a:p>
        </p:txBody>
      </p:sp>
      <p:sp>
        <p:nvSpPr>
          <p:cNvPr id="36" name="Text 34"/>
          <p:cNvSpPr/>
          <p:nvPr/>
        </p:nvSpPr>
        <p:spPr>
          <a:xfrm>
            <a:off x="384048" y="4306824"/>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9" name="Text 37"/>
          <p:cNvSpPr/>
          <p:nvPr/>
        </p:nvSpPr>
        <p:spPr>
          <a:xfrm>
            <a:off x="960120" y="4242816"/>
            <a:ext cx="6903720" cy="329184"/>
          </a:xfrm>
          <a:prstGeom prst="rect">
            <a:avLst/>
          </a:prstGeom>
          <a:noFill/>
          <a:ln/>
        </p:spPr>
        <p:txBody>
          <a:bodyPr wrap="square" rtlCol="0" anchor="ctr"/>
          <a:lstStyle/>
          <a:p>
            <a:pPr marL="0" indent="0">
              <a:buNone/>
            </a:pPr>
            <a:r>
              <a:rPr lang="en-US" sz="1200" b="1" dirty="0">
                <a:solidFill>
                  <a:srgbClr val="1B2E4B"/>
                </a:solidFill>
                <a:latin typeface="Calibri" pitchFamily="34" charset="0"/>
                <a:ea typeface="Calibri" pitchFamily="34" charset="-122"/>
                <a:cs typeface="Calibri" pitchFamily="34" charset="-120"/>
              </a:rPr>
              <a:t>Enable Open Graph Tags in Rank Math</a:t>
            </a:r>
            <a:endParaRPr lang="en-US" sz="1200" dirty="0"/>
          </a:p>
        </p:txBody>
      </p:sp>
      <p:sp>
        <p:nvSpPr>
          <p:cNvPr id="40" name="Text 38"/>
          <p:cNvSpPr/>
          <p:nvPr/>
        </p:nvSpPr>
        <p:spPr>
          <a:xfrm>
            <a:off x="960120" y="4572000"/>
            <a:ext cx="6903720" cy="292608"/>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Rank Math → Titles &amp; Meta → enable social meta tags. Upload a 1200×630 social sharing image. All pages auto-generate og:title, og:description, og:image.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2E4B"/>
          </a:solidFill>
          <a:ln w="12700">
            <a:solidFill>
              <a:srgbClr val="1B2E4B"/>
            </a:solidFill>
            <a:prstDash val="solid"/>
          </a:ln>
        </p:spPr>
        <p:txBody>
          <a:bodyPr/>
          <a:lstStyle/>
          <a:p>
            <a:endParaRPr lang="en-US"/>
          </a:p>
        </p:txBody>
      </p:sp>
      <p:sp>
        <p:nvSpPr>
          <p:cNvPr id="3" name="Shape 1"/>
          <p:cNvSpPr/>
          <p:nvPr/>
        </p:nvSpPr>
        <p:spPr>
          <a:xfrm>
            <a:off x="0" y="0"/>
            <a:ext cx="256032" cy="566928"/>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438912" y="0"/>
            <a:ext cx="8412480" cy="56692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30-Day Action Plan</a:t>
            </a:r>
            <a:endParaRPr lang="en-US" sz="1800" dirty="0"/>
          </a:p>
        </p:txBody>
      </p:sp>
      <p:sp>
        <p:nvSpPr>
          <p:cNvPr id="5" name="Shape 3"/>
          <p:cNvSpPr/>
          <p:nvPr/>
        </p:nvSpPr>
        <p:spPr>
          <a:xfrm>
            <a:off x="256032" y="731520"/>
            <a:ext cx="4206240" cy="2048256"/>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256032" y="731520"/>
            <a:ext cx="4206240" cy="493776"/>
          </a:xfrm>
          <a:prstGeom prst="rect">
            <a:avLst/>
          </a:prstGeom>
          <a:solidFill>
            <a:srgbClr val="1B2E4B"/>
          </a:solidFill>
          <a:ln w="12700">
            <a:solidFill>
              <a:srgbClr val="1B2E4B"/>
            </a:solidFill>
            <a:prstDash val="solid"/>
          </a:ln>
        </p:spPr>
        <p:txBody>
          <a:bodyPr/>
          <a:lstStyle/>
          <a:p>
            <a:endParaRPr lang="en-US"/>
          </a:p>
        </p:txBody>
      </p:sp>
      <p:sp>
        <p:nvSpPr>
          <p:cNvPr id="7" name="Text 5"/>
          <p:cNvSpPr/>
          <p:nvPr/>
        </p:nvSpPr>
        <p:spPr>
          <a:xfrm>
            <a:off x="393192" y="758952"/>
            <a:ext cx="393192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Week 1: Technical Foundations</a:t>
            </a:r>
            <a:endParaRPr lang="en-US" sz="1100" dirty="0"/>
          </a:p>
        </p:txBody>
      </p:sp>
      <p:sp>
        <p:nvSpPr>
          <p:cNvPr id="8" name="Text 6"/>
          <p:cNvSpPr/>
          <p:nvPr/>
        </p:nvSpPr>
        <p:spPr>
          <a:xfrm>
            <a:off x="393192" y="1033272"/>
            <a:ext cx="3931920" cy="182880"/>
          </a:xfrm>
          <a:prstGeom prst="rect">
            <a:avLst/>
          </a:prstGeom>
          <a:noFill/>
          <a:ln/>
        </p:spPr>
        <p:txBody>
          <a:bodyPr wrap="square" lIns="0" tIns="0" rIns="0" bIns="0" rtlCol="0" anchor="ctr"/>
          <a:lstStyle/>
          <a:p>
            <a:pPr marL="0" indent="0">
              <a:buNone/>
            </a:pPr>
            <a:r>
              <a:rPr lang="en-US" sz="900" i="1" dirty="0">
                <a:solidFill>
                  <a:srgbClr val="BBCCBB"/>
                </a:solidFill>
                <a:latin typeface="Calibri" pitchFamily="34" charset="0"/>
                <a:ea typeface="Calibri" pitchFamily="34" charset="-122"/>
                <a:cs typeface="Calibri" pitchFamily="34" charset="-120"/>
              </a:rPr>
              <a:t>Zero content required</a:t>
            </a:r>
            <a:endParaRPr lang="en-US" sz="900" dirty="0"/>
          </a:p>
        </p:txBody>
      </p:sp>
      <p:sp>
        <p:nvSpPr>
          <p:cNvPr id="9" name="Text 7"/>
          <p:cNvSpPr/>
          <p:nvPr/>
        </p:nvSpPr>
        <p:spPr>
          <a:xfrm>
            <a:off x="393192" y="1298448"/>
            <a:ext cx="3913632" cy="256032"/>
          </a:xfrm>
          <a:prstGeom prst="rect">
            <a:avLst/>
          </a:prstGeom>
          <a:noFill/>
          <a:ln/>
        </p:spPr>
        <p:txBody>
          <a:bodyPr wrap="square" rtlCol="0" anchor="ctr"/>
          <a:lstStyle/>
          <a:p>
            <a:pPr marL="0" indent="0">
              <a:buNone/>
            </a:pPr>
            <a:r>
              <a:rPr lang="en-US" sz="950" b="1" dirty="0">
                <a:solidFill>
                  <a:srgbClr val="1B2E4B"/>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Configure Rank Math LocalBusiness schema (30 min)</a:t>
            </a:r>
            <a:endParaRPr lang="en-US" sz="950" dirty="0"/>
          </a:p>
        </p:txBody>
      </p:sp>
      <p:sp>
        <p:nvSpPr>
          <p:cNvPr id="10" name="Text 8"/>
          <p:cNvSpPr/>
          <p:nvPr/>
        </p:nvSpPr>
        <p:spPr>
          <a:xfrm>
            <a:off x="393192" y="1572768"/>
            <a:ext cx="3913632" cy="256032"/>
          </a:xfrm>
          <a:prstGeom prst="rect">
            <a:avLst/>
          </a:prstGeom>
          <a:noFill/>
          <a:ln/>
        </p:spPr>
        <p:txBody>
          <a:bodyPr wrap="square" rtlCol="0" anchor="ctr"/>
          <a:lstStyle/>
          <a:p>
            <a:pPr marL="0" indent="0">
              <a:buNone/>
            </a:pPr>
            <a:r>
              <a:rPr lang="en-US" sz="950" b="1" dirty="0">
                <a:solidFill>
                  <a:srgbClr val="1B2E4B"/>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Create &amp; upload /llms.txt (30 min)</a:t>
            </a:r>
            <a:endParaRPr lang="en-US" sz="950" dirty="0"/>
          </a:p>
        </p:txBody>
      </p:sp>
      <p:sp>
        <p:nvSpPr>
          <p:cNvPr id="11" name="Text 9"/>
          <p:cNvSpPr/>
          <p:nvPr/>
        </p:nvSpPr>
        <p:spPr>
          <a:xfrm>
            <a:off x="393192" y="1847088"/>
            <a:ext cx="3913632" cy="256032"/>
          </a:xfrm>
          <a:prstGeom prst="rect">
            <a:avLst/>
          </a:prstGeom>
          <a:noFill/>
          <a:ln/>
        </p:spPr>
        <p:txBody>
          <a:bodyPr wrap="square" rtlCol="0" anchor="ctr"/>
          <a:lstStyle/>
          <a:p>
            <a:pPr marL="0" indent="0">
              <a:buNone/>
            </a:pPr>
            <a:r>
              <a:rPr lang="en-US" sz="950" b="1" dirty="0">
                <a:solidFill>
                  <a:srgbClr val="1B2E4B"/>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FAQPage schema on 3 key pages via Rank Math (2 hrs)</a:t>
            </a:r>
            <a:endParaRPr lang="en-US" sz="950" dirty="0"/>
          </a:p>
        </p:txBody>
      </p:sp>
      <p:sp>
        <p:nvSpPr>
          <p:cNvPr id="12" name="Text 10"/>
          <p:cNvSpPr/>
          <p:nvPr/>
        </p:nvSpPr>
        <p:spPr>
          <a:xfrm>
            <a:off x="393192" y="2121408"/>
            <a:ext cx="3913632" cy="256032"/>
          </a:xfrm>
          <a:prstGeom prst="rect">
            <a:avLst/>
          </a:prstGeom>
          <a:noFill/>
          <a:ln/>
        </p:spPr>
        <p:txBody>
          <a:bodyPr wrap="square" rtlCol="0" anchor="ctr"/>
          <a:lstStyle/>
          <a:p>
            <a:pPr marL="0" indent="0">
              <a:buNone/>
            </a:pPr>
            <a:r>
              <a:rPr lang="en-US" sz="950" b="1" dirty="0">
                <a:solidFill>
                  <a:srgbClr val="1B2E4B"/>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Enable Open Graph + Twitter Card meta tags (15 min)</a:t>
            </a:r>
            <a:endParaRPr lang="en-US" sz="950" dirty="0"/>
          </a:p>
        </p:txBody>
      </p:sp>
      <p:sp>
        <p:nvSpPr>
          <p:cNvPr id="13" name="Text 11"/>
          <p:cNvSpPr/>
          <p:nvPr/>
        </p:nvSpPr>
        <p:spPr>
          <a:xfrm>
            <a:off x="393192" y="2395728"/>
            <a:ext cx="3913632" cy="256032"/>
          </a:xfrm>
          <a:prstGeom prst="rect">
            <a:avLst/>
          </a:prstGeom>
          <a:noFill/>
          <a:ln/>
        </p:spPr>
        <p:txBody>
          <a:bodyPr wrap="square" rtlCol="0" anchor="ctr"/>
          <a:lstStyle/>
          <a:p>
            <a:pPr marL="0" indent="0">
              <a:buNone/>
            </a:pPr>
            <a:r>
              <a:rPr lang="en-US" sz="950" b="1" dirty="0">
                <a:solidFill>
                  <a:srgbClr val="1B2E4B"/>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BreadcrumbList schema on nested RPL pages (1 hr)</a:t>
            </a:r>
            <a:endParaRPr lang="en-US" sz="950" dirty="0"/>
          </a:p>
        </p:txBody>
      </p:sp>
      <p:sp>
        <p:nvSpPr>
          <p:cNvPr id="14" name="Text 12"/>
          <p:cNvSpPr/>
          <p:nvPr/>
        </p:nvSpPr>
        <p:spPr>
          <a:xfrm>
            <a:off x="393192" y="2670048"/>
            <a:ext cx="3913632" cy="256032"/>
          </a:xfrm>
          <a:prstGeom prst="rect">
            <a:avLst/>
          </a:prstGeom>
          <a:noFill/>
          <a:ln/>
        </p:spPr>
        <p:txBody>
          <a:bodyPr wrap="square" rtlCol="0" anchor="ctr"/>
          <a:lstStyle/>
          <a:p>
            <a:pPr marL="0" indent="0">
              <a:buNone/>
            </a:pPr>
            <a:r>
              <a:rPr lang="en-US" sz="950" b="1" dirty="0">
                <a:solidFill>
                  <a:srgbClr val="1B2E4B"/>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 Article schema on all 7 blog posts, AI bot directives, hreflang</a:t>
            </a:r>
            <a:endParaRPr lang="en-US" sz="950" dirty="0"/>
          </a:p>
        </p:txBody>
      </p:sp>
      <p:sp>
        <p:nvSpPr>
          <p:cNvPr id="15" name="Shape 13"/>
          <p:cNvSpPr/>
          <p:nvPr/>
        </p:nvSpPr>
        <p:spPr>
          <a:xfrm>
            <a:off x="4700016" y="731520"/>
            <a:ext cx="4206240" cy="2048256"/>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4700016" y="731520"/>
            <a:ext cx="4206240" cy="493776"/>
          </a:xfrm>
          <a:prstGeom prst="rect">
            <a:avLst/>
          </a:prstGeom>
          <a:solidFill>
            <a:srgbClr val="1A6B5A"/>
          </a:solidFill>
          <a:ln w="12700">
            <a:solidFill>
              <a:srgbClr val="1A6B5A"/>
            </a:solidFill>
            <a:prstDash val="solid"/>
          </a:ln>
        </p:spPr>
        <p:txBody>
          <a:bodyPr/>
          <a:lstStyle/>
          <a:p>
            <a:endParaRPr lang="en-US"/>
          </a:p>
        </p:txBody>
      </p:sp>
      <p:sp>
        <p:nvSpPr>
          <p:cNvPr id="17" name="Text 15"/>
          <p:cNvSpPr/>
          <p:nvPr/>
        </p:nvSpPr>
        <p:spPr>
          <a:xfrm>
            <a:off x="4837176" y="758952"/>
            <a:ext cx="393192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Week 2: Brand Entity Building</a:t>
            </a:r>
            <a:endParaRPr lang="en-US" sz="1100" dirty="0"/>
          </a:p>
        </p:txBody>
      </p:sp>
      <p:sp>
        <p:nvSpPr>
          <p:cNvPr id="18" name="Text 16"/>
          <p:cNvSpPr/>
          <p:nvPr/>
        </p:nvSpPr>
        <p:spPr>
          <a:xfrm>
            <a:off x="4837176" y="1033272"/>
            <a:ext cx="3931920" cy="182880"/>
          </a:xfrm>
          <a:prstGeom prst="rect">
            <a:avLst/>
          </a:prstGeom>
          <a:noFill/>
          <a:ln/>
        </p:spPr>
        <p:txBody>
          <a:bodyPr wrap="square" lIns="0" tIns="0" rIns="0" bIns="0" rtlCol="0" anchor="ctr"/>
          <a:lstStyle/>
          <a:p>
            <a:pPr marL="0" indent="0">
              <a:buNone/>
            </a:pPr>
            <a:r>
              <a:rPr lang="en-US" sz="900" i="1" dirty="0">
                <a:solidFill>
                  <a:srgbClr val="BBCCBB"/>
                </a:solidFill>
                <a:latin typeface="Calibri" pitchFamily="34" charset="0"/>
                <a:ea typeface="Calibri" pitchFamily="34" charset="-122"/>
                <a:cs typeface="Calibri" pitchFamily="34" charset="-120"/>
              </a:rPr>
              <a:t>Platform presence</a:t>
            </a:r>
            <a:endParaRPr lang="en-US" sz="900" dirty="0"/>
          </a:p>
        </p:txBody>
      </p:sp>
      <p:sp>
        <p:nvSpPr>
          <p:cNvPr id="19" name="Text 17"/>
          <p:cNvSpPr/>
          <p:nvPr/>
        </p:nvSpPr>
        <p:spPr>
          <a:xfrm>
            <a:off x="4837176" y="1298448"/>
            <a:ext cx="3913632" cy="256032"/>
          </a:xfrm>
          <a:prstGeom prst="rect">
            <a:avLst/>
          </a:prstGeom>
          <a:noFill/>
          <a:ln/>
        </p:spPr>
        <p:txBody>
          <a:bodyPr wrap="square" rtlCol="0" anchor="ctr"/>
          <a:lstStyle/>
          <a:p>
            <a:pPr marL="0" indent="0">
              <a:buNone/>
            </a:pPr>
            <a:r>
              <a:rPr lang="en-US" sz="950" b="1" dirty="0">
                <a:solidFill>
                  <a:srgbClr val="1A6B5A"/>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Create &amp; verify Google Business Profile (Carlton NSW)</a:t>
            </a:r>
            <a:endParaRPr lang="en-US" sz="950" dirty="0"/>
          </a:p>
        </p:txBody>
      </p:sp>
      <p:sp>
        <p:nvSpPr>
          <p:cNvPr id="20" name="Text 18"/>
          <p:cNvSpPr/>
          <p:nvPr/>
        </p:nvSpPr>
        <p:spPr>
          <a:xfrm>
            <a:off x="4837176" y="1572768"/>
            <a:ext cx="3913632" cy="256032"/>
          </a:xfrm>
          <a:prstGeom prst="rect">
            <a:avLst/>
          </a:prstGeom>
          <a:noFill/>
          <a:ln/>
        </p:spPr>
        <p:txBody>
          <a:bodyPr wrap="square" rtlCol="0" anchor="ctr"/>
          <a:lstStyle/>
          <a:p>
            <a:pPr marL="0" indent="0">
              <a:buNone/>
            </a:pPr>
            <a:r>
              <a:rPr lang="en-US" sz="950" b="1" dirty="0">
                <a:solidFill>
                  <a:srgbClr val="1A6B5A"/>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Create LinkedIn company page — full profile + services</a:t>
            </a:r>
            <a:endParaRPr lang="en-US" sz="950" dirty="0"/>
          </a:p>
        </p:txBody>
      </p:sp>
      <p:sp>
        <p:nvSpPr>
          <p:cNvPr id="21" name="Text 19"/>
          <p:cNvSpPr/>
          <p:nvPr/>
        </p:nvSpPr>
        <p:spPr>
          <a:xfrm>
            <a:off x="4837176" y="1847088"/>
            <a:ext cx="3913632" cy="256032"/>
          </a:xfrm>
          <a:prstGeom prst="rect">
            <a:avLst/>
          </a:prstGeom>
          <a:noFill/>
          <a:ln/>
        </p:spPr>
        <p:txBody>
          <a:bodyPr wrap="square" rtlCol="0" anchor="ctr"/>
          <a:lstStyle/>
          <a:p>
            <a:pPr marL="0" indent="0">
              <a:buNone/>
            </a:pPr>
            <a:r>
              <a:rPr lang="en-US" sz="950" b="1" dirty="0">
                <a:solidFill>
                  <a:srgbClr val="1A6B5A"/>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Publish /about-us/ with team names, credentials, schema</a:t>
            </a:r>
            <a:endParaRPr lang="en-US" sz="950" dirty="0"/>
          </a:p>
        </p:txBody>
      </p:sp>
      <p:sp>
        <p:nvSpPr>
          <p:cNvPr id="22" name="Text 20"/>
          <p:cNvSpPr/>
          <p:nvPr/>
        </p:nvSpPr>
        <p:spPr>
          <a:xfrm>
            <a:off x="4837176" y="2121408"/>
            <a:ext cx="3913632" cy="256032"/>
          </a:xfrm>
          <a:prstGeom prst="rect">
            <a:avLst/>
          </a:prstGeom>
          <a:noFill/>
          <a:ln/>
        </p:spPr>
        <p:txBody>
          <a:bodyPr wrap="square" rtlCol="0" anchor="ctr"/>
          <a:lstStyle/>
          <a:p>
            <a:pPr marL="0" indent="0">
              <a:buNone/>
            </a:pPr>
            <a:r>
              <a:rPr lang="en-US" sz="950" b="1" dirty="0">
                <a:solidFill>
                  <a:srgbClr val="1A6B5A"/>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Create ProductReview.com.au business listing</a:t>
            </a:r>
            <a:endParaRPr lang="en-US" sz="950" dirty="0"/>
          </a:p>
        </p:txBody>
      </p:sp>
      <p:sp>
        <p:nvSpPr>
          <p:cNvPr id="23" name="Text 21"/>
          <p:cNvSpPr/>
          <p:nvPr/>
        </p:nvSpPr>
        <p:spPr>
          <a:xfrm>
            <a:off x="4837176" y="2395728"/>
            <a:ext cx="3913632" cy="256032"/>
          </a:xfrm>
          <a:prstGeom prst="rect">
            <a:avLst/>
          </a:prstGeom>
          <a:noFill/>
          <a:ln/>
        </p:spPr>
        <p:txBody>
          <a:bodyPr wrap="square" rtlCol="0" anchor="ctr"/>
          <a:lstStyle/>
          <a:p>
            <a:pPr marL="0" indent="0">
              <a:buNone/>
            </a:pPr>
            <a:r>
              <a:rPr lang="en-US" sz="950" b="1" dirty="0">
                <a:solidFill>
                  <a:srgbClr val="1A6B5A"/>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Ask named reviewers to post to GBP + ProductReview</a:t>
            </a:r>
            <a:endParaRPr lang="en-US" sz="950" dirty="0"/>
          </a:p>
        </p:txBody>
      </p:sp>
      <p:sp>
        <p:nvSpPr>
          <p:cNvPr id="24" name="Shape 22"/>
          <p:cNvSpPr/>
          <p:nvPr/>
        </p:nvSpPr>
        <p:spPr>
          <a:xfrm>
            <a:off x="256032" y="2907792"/>
            <a:ext cx="4206240" cy="2048256"/>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25" name="Shape 23"/>
          <p:cNvSpPr/>
          <p:nvPr/>
        </p:nvSpPr>
        <p:spPr>
          <a:xfrm>
            <a:off x="256032" y="2907792"/>
            <a:ext cx="4206240" cy="493776"/>
          </a:xfrm>
          <a:prstGeom prst="rect">
            <a:avLst/>
          </a:prstGeom>
          <a:solidFill>
            <a:srgbClr val="8B4A0A"/>
          </a:solidFill>
          <a:ln w="12700">
            <a:solidFill>
              <a:srgbClr val="8B4A0A"/>
            </a:solidFill>
            <a:prstDash val="solid"/>
          </a:ln>
        </p:spPr>
        <p:txBody>
          <a:bodyPr/>
          <a:lstStyle/>
          <a:p>
            <a:endParaRPr lang="en-US"/>
          </a:p>
        </p:txBody>
      </p:sp>
      <p:sp>
        <p:nvSpPr>
          <p:cNvPr id="26" name="Text 24"/>
          <p:cNvSpPr/>
          <p:nvPr/>
        </p:nvSpPr>
        <p:spPr>
          <a:xfrm>
            <a:off x="393192" y="2935224"/>
            <a:ext cx="393192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Week 3: Content Quality</a:t>
            </a:r>
            <a:endParaRPr lang="en-US" sz="1100" dirty="0"/>
          </a:p>
        </p:txBody>
      </p:sp>
      <p:sp>
        <p:nvSpPr>
          <p:cNvPr id="27" name="Text 25"/>
          <p:cNvSpPr/>
          <p:nvPr/>
        </p:nvSpPr>
        <p:spPr>
          <a:xfrm>
            <a:off x="393192" y="3209544"/>
            <a:ext cx="3931920" cy="182880"/>
          </a:xfrm>
          <a:prstGeom prst="rect">
            <a:avLst/>
          </a:prstGeom>
          <a:noFill/>
          <a:ln/>
        </p:spPr>
        <p:txBody>
          <a:bodyPr wrap="square" lIns="0" tIns="0" rIns="0" bIns="0" rtlCol="0" anchor="ctr"/>
          <a:lstStyle/>
          <a:p>
            <a:pPr marL="0" indent="0">
              <a:buNone/>
            </a:pPr>
            <a:r>
              <a:rPr lang="en-US" sz="900" i="1" dirty="0">
                <a:solidFill>
                  <a:srgbClr val="BBCCBB"/>
                </a:solidFill>
                <a:latin typeface="Calibri" pitchFamily="34" charset="0"/>
                <a:ea typeface="Calibri" pitchFamily="34" charset="-122"/>
                <a:cs typeface="Calibri" pitchFamily="34" charset="-120"/>
              </a:rPr>
              <a:t>Author bios + citations</a:t>
            </a:r>
            <a:endParaRPr lang="en-US" sz="900" dirty="0"/>
          </a:p>
        </p:txBody>
      </p:sp>
      <p:sp>
        <p:nvSpPr>
          <p:cNvPr id="28" name="Text 26"/>
          <p:cNvSpPr/>
          <p:nvPr/>
        </p:nvSpPr>
        <p:spPr>
          <a:xfrm>
            <a:off x="393192" y="3474720"/>
            <a:ext cx="3913632" cy="256032"/>
          </a:xfrm>
          <a:prstGeom prst="rect">
            <a:avLst/>
          </a:prstGeom>
          <a:noFill/>
          <a:ln/>
        </p:spPr>
        <p:txBody>
          <a:bodyPr wrap="square" rtlCol="0" anchor="ctr"/>
          <a:lstStyle/>
          <a:p>
            <a:pPr marL="0" indent="0">
              <a:buNone/>
            </a:pPr>
            <a:r>
              <a:rPr lang="en-US" sz="950" b="1" dirty="0">
                <a:solidFill>
                  <a:srgbClr val="8B4A0A"/>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Add named author byline + bio to all 7 blog posts</a:t>
            </a:r>
            <a:endParaRPr lang="en-US" sz="950" dirty="0"/>
          </a:p>
        </p:txBody>
      </p:sp>
      <p:sp>
        <p:nvSpPr>
          <p:cNvPr id="29" name="Text 27"/>
          <p:cNvSpPr/>
          <p:nvPr/>
        </p:nvSpPr>
        <p:spPr>
          <a:xfrm>
            <a:off x="393192" y="3749040"/>
            <a:ext cx="3913632" cy="256032"/>
          </a:xfrm>
          <a:prstGeom prst="rect">
            <a:avLst/>
          </a:prstGeom>
          <a:noFill/>
          <a:ln/>
        </p:spPr>
        <p:txBody>
          <a:bodyPr wrap="square" rtlCol="0" anchor="ctr"/>
          <a:lstStyle/>
          <a:p>
            <a:pPr marL="0" indent="0">
              <a:buNone/>
            </a:pPr>
            <a:r>
              <a:rPr lang="en-US" sz="950" b="1" dirty="0">
                <a:solidFill>
                  <a:srgbClr val="8B4A0A"/>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Add one government source citation per content page</a:t>
            </a:r>
            <a:endParaRPr lang="en-US" sz="950" dirty="0"/>
          </a:p>
        </p:txBody>
      </p:sp>
      <p:sp>
        <p:nvSpPr>
          <p:cNvPr id="30" name="Text 28"/>
          <p:cNvSpPr/>
          <p:nvPr/>
        </p:nvSpPr>
        <p:spPr>
          <a:xfrm>
            <a:off x="393192" y="4023360"/>
            <a:ext cx="3913632" cy="256032"/>
          </a:xfrm>
          <a:prstGeom prst="rect">
            <a:avLst/>
          </a:prstGeom>
          <a:noFill/>
          <a:ln/>
        </p:spPr>
        <p:txBody>
          <a:bodyPr wrap="square" rtlCol="0" anchor="ctr"/>
          <a:lstStyle/>
          <a:p>
            <a:pPr marL="0" indent="0">
              <a:buNone/>
            </a:pPr>
            <a:r>
              <a:rPr lang="en-US" sz="950" b="1" dirty="0">
                <a:solidFill>
                  <a:srgbClr val="8B4A0A"/>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Rewrite /what-is-rpl/ from 350 to 1,500+ words</a:t>
            </a:r>
            <a:endParaRPr lang="en-US" sz="950" dirty="0"/>
          </a:p>
        </p:txBody>
      </p:sp>
      <p:sp>
        <p:nvSpPr>
          <p:cNvPr id="31" name="Text 29"/>
          <p:cNvSpPr/>
          <p:nvPr/>
        </p:nvSpPr>
        <p:spPr>
          <a:xfrm>
            <a:off x="393192" y="4297680"/>
            <a:ext cx="3913632" cy="256032"/>
          </a:xfrm>
          <a:prstGeom prst="rect">
            <a:avLst/>
          </a:prstGeom>
          <a:noFill/>
          <a:ln/>
        </p:spPr>
        <p:txBody>
          <a:bodyPr wrap="square" rtlCol="0" anchor="ctr"/>
          <a:lstStyle/>
          <a:p>
            <a:pPr marL="0" indent="0">
              <a:buNone/>
            </a:pPr>
            <a:r>
              <a:rPr lang="en-US" sz="950" b="1" dirty="0">
                <a:solidFill>
                  <a:srgbClr val="8B4A0A"/>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Expand ELICOS post from 280 to 1,200+ words</a:t>
            </a:r>
            <a:endParaRPr lang="en-US" sz="950" dirty="0"/>
          </a:p>
        </p:txBody>
      </p:sp>
      <p:sp>
        <p:nvSpPr>
          <p:cNvPr id="32" name="Text 30"/>
          <p:cNvSpPr/>
          <p:nvPr/>
        </p:nvSpPr>
        <p:spPr>
          <a:xfrm>
            <a:off x="393192" y="4572000"/>
            <a:ext cx="3913632" cy="256032"/>
          </a:xfrm>
          <a:prstGeom prst="rect">
            <a:avLst/>
          </a:prstGeom>
          <a:noFill/>
          <a:ln/>
        </p:spPr>
        <p:txBody>
          <a:bodyPr wrap="square" rtlCol="0" anchor="ctr"/>
          <a:lstStyle/>
          <a:p>
            <a:pPr marL="0" indent="0">
              <a:buNone/>
            </a:pPr>
            <a:r>
              <a:rPr lang="en-US" sz="950" b="1" dirty="0">
                <a:solidFill>
                  <a:srgbClr val="8B4A0A"/>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Add 'Last Updated' dates + rewrite H2s to question phrasing</a:t>
            </a:r>
            <a:endParaRPr lang="en-US" sz="950" dirty="0"/>
          </a:p>
        </p:txBody>
      </p:sp>
      <p:sp>
        <p:nvSpPr>
          <p:cNvPr id="33" name="Shape 31"/>
          <p:cNvSpPr/>
          <p:nvPr/>
        </p:nvSpPr>
        <p:spPr>
          <a:xfrm>
            <a:off x="4700016" y="2907792"/>
            <a:ext cx="4206240" cy="2048256"/>
          </a:xfrm>
          <a:prstGeom prst="rect">
            <a:avLst/>
          </a:prstGeom>
          <a:solidFill>
            <a:srgbClr val="FFFFFF"/>
          </a:solidFill>
          <a:ln w="12700">
            <a:solidFill>
              <a:srgbClr val="DDE2E8"/>
            </a:solidFill>
            <a:prstDash val="solid"/>
          </a:ln>
          <a:effectLst>
            <a:outerShdw blurRad="101600" dist="38100" dir="8100000" algn="bl" rotWithShape="0">
              <a:srgbClr val="000000">
                <a:alpha val="12000"/>
              </a:srgbClr>
            </a:outerShdw>
          </a:effectLst>
        </p:spPr>
        <p:txBody>
          <a:bodyPr/>
          <a:lstStyle/>
          <a:p>
            <a:endParaRPr lang="en-US"/>
          </a:p>
        </p:txBody>
      </p:sp>
      <p:sp>
        <p:nvSpPr>
          <p:cNvPr id="34" name="Shape 32"/>
          <p:cNvSpPr/>
          <p:nvPr/>
        </p:nvSpPr>
        <p:spPr>
          <a:xfrm>
            <a:off x="4700016" y="2907792"/>
            <a:ext cx="4206240" cy="493776"/>
          </a:xfrm>
          <a:prstGeom prst="rect">
            <a:avLst/>
          </a:prstGeom>
          <a:solidFill>
            <a:srgbClr val="4A2780"/>
          </a:solidFill>
          <a:ln w="12700">
            <a:solidFill>
              <a:srgbClr val="4A2780"/>
            </a:solidFill>
            <a:prstDash val="solid"/>
          </a:ln>
        </p:spPr>
        <p:txBody>
          <a:bodyPr/>
          <a:lstStyle/>
          <a:p>
            <a:endParaRPr lang="en-US"/>
          </a:p>
        </p:txBody>
      </p:sp>
      <p:sp>
        <p:nvSpPr>
          <p:cNvPr id="35" name="Text 33"/>
          <p:cNvSpPr/>
          <p:nvPr/>
        </p:nvSpPr>
        <p:spPr>
          <a:xfrm>
            <a:off x="4837176" y="2935224"/>
            <a:ext cx="393192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Week 4: Content Depth</a:t>
            </a:r>
            <a:endParaRPr lang="en-US" sz="1100" dirty="0"/>
          </a:p>
        </p:txBody>
      </p:sp>
      <p:sp>
        <p:nvSpPr>
          <p:cNvPr id="36" name="Text 34"/>
          <p:cNvSpPr/>
          <p:nvPr/>
        </p:nvSpPr>
        <p:spPr>
          <a:xfrm>
            <a:off x="4837176" y="3209544"/>
            <a:ext cx="3931920" cy="182880"/>
          </a:xfrm>
          <a:prstGeom prst="rect">
            <a:avLst/>
          </a:prstGeom>
          <a:noFill/>
          <a:ln/>
        </p:spPr>
        <p:txBody>
          <a:bodyPr wrap="square" lIns="0" tIns="0" rIns="0" bIns="0" rtlCol="0" anchor="ctr"/>
          <a:lstStyle/>
          <a:p>
            <a:pPr marL="0" indent="0">
              <a:buNone/>
            </a:pPr>
            <a:r>
              <a:rPr lang="en-US" sz="900" i="1" dirty="0">
                <a:solidFill>
                  <a:srgbClr val="BBCCBB"/>
                </a:solidFill>
                <a:latin typeface="Calibri" pitchFamily="34" charset="0"/>
                <a:ea typeface="Calibri" pitchFamily="34" charset="-122"/>
                <a:cs typeface="Calibri" pitchFamily="34" charset="-120"/>
              </a:rPr>
              <a:t>Authority building</a:t>
            </a:r>
            <a:endParaRPr lang="en-US" sz="900" dirty="0"/>
          </a:p>
        </p:txBody>
      </p:sp>
      <p:sp>
        <p:nvSpPr>
          <p:cNvPr id="37" name="Text 35"/>
          <p:cNvSpPr/>
          <p:nvPr/>
        </p:nvSpPr>
        <p:spPr>
          <a:xfrm>
            <a:off x="4837176" y="3474720"/>
            <a:ext cx="3913632" cy="256032"/>
          </a:xfrm>
          <a:prstGeom prst="rect">
            <a:avLst/>
          </a:prstGeom>
          <a:noFill/>
          <a:ln/>
        </p:spPr>
        <p:txBody>
          <a:bodyPr wrap="square" rtlCol="0" anchor="ctr"/>
          <a:lstStyle/>
          <a:p>
            <a:pPr marL="0" indent="0">
              <a:buNone/>
            </a:pPr>
            <a:r>
              <a:rPr lang="en-US" sz="950" b="1" dirty="0">
                <a:solidFill>
                  <a:srgbClr val="4A2780"/>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Rewrite /trade-license-nsw/ (650 → 2,500+ words)</a:t>
            </a:r>
            <a:endParaRPr lang="en-US" sz="950" dirty="0"/>
          </a:p>
        </p:txBody>
      </p:sp>
      <p:sp>
        <p:nvSpPr>
          <p:cNvPr id="38" name="Text 36"/>
          <p:cNvSpPr/>
          <p:nvPr/>
        </p:nvSpPr>
        <p:spPr>
          <a:xfrm>
            <a:off x="4837176" y="3749040"/>
            <a:ext cx="3913632" cy="256032"/>
          </a:xfrm>
          <a:prstGeom prst="rect">
            <a:avLst/>
          </a:prstGeom>
          <a:noFill/>
          <a:ln/>
        </p:spPr>
        <p:txBody>
          <a:bodyPr wrap="square" rtlCol="0" anchor="ctr"/>
          <a:lstStyle/>
          <a:p>
            <a:pPr marL="0" indent="0">
              <a:buNone/>
            </a:pPr>
            <a:r>
              <a:rPr lang="en-US" sz="950" b="1" dirty="0">
                <a:solidFill>
                  <a:srgbClr val="4A2780"/>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Rewrite /builder-license-nsw/ to comprehensive guide</a:t>
            </a:r>
            <a:endParaRPr lang="en-US" sz="950" dirty="0"/>
          </a:p>
        </p:txBody>
      </p:sp>
      <p:sp>
        <p:nvSpPr>
          <p:cNvPr id="39" name="Text 37"/>
          <p:cNvSpPr/>
          <p:nvPr/>
        </p:nvSpPr>
        <p:spPr>
          <a:xfrm>
            <a:off x="4837176" y="4023360"/>
            <a:ext cx="3913632" cy="256032"/>
          </a:xfrm>
          <a:prstGeom prst="rect">
            <a:avLst/>
          </a:prstGeom>
          <a:noFill/>
          <a:ln/>
        </p:spPr>
        <p:txBody>
          <a:bodyPr wrap="square" rtlCol="0" anchor="ctr"/>
          <a:lstStyle/>
          <a:p>
            <a:pPr marL="0" indent="0">
              <a:buNone/>
            </a:pPr>
            <a:r>
              <a:rPr lang="en-US" sz="950" b="1" dirty="0">
                <a:solidFill>
                  <a:srgbClr val="4A2780"/>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Publish new article: 'RPL Certification Australia 2026' (sourced data)</a:t>
            </a:r>
            <a:endParaRPr lang="en-US" sz="950" dirty="0"/>
          </a:p>
        </p:txBody>
      </p:sp>
      <p:sp>
        <p:nvSpPr>
          <p:cNvPr id="40" name="Text 38"/>
          <p:cNvSpPr/>
          <p:nvPr/>
        </p:nvSpPr>
        <p:spPr>
          <a:xfrm>
            <a:off x="4837176" y="4297680"/>
            <a:ext cx="3913632" cy="256032"/>
          </a:xfrm>
          <a:prstGeom prst="rect">
            <a:avLst/>
          </a:prstGeom>
          <a:noFill/>
          <a:ln/>
        </p:spPr>
        <p:txBody>
          <a:bodyPr wrap="square" rtlCol="0" anchor="ctr"/>
          <a:lstStyle/>
          <a:p>
            <a:pPr marL="0" indent="0">
              <a:buNone/>
            </a:pPr>
            <a:r>
              <a:rPr lang="en-US" sz="950" b="1" dirty="0">
                <a:solidFill>
                  <a:srgbClr val="4A2780"/>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Set up YouTube + publish RPL explainer video</a:t>
            </a:r>
            <a:endParaRPr lang="en-US" sz="950" dirty="0"/>
          </a:p>
        </p:txBody>
      </p:sp>
      <p:sp>
        <p:nvSpPr>
          <p:cNvPr id="41" name="Text 39"/>
          <p:cNvSpPr/>
          <p:nvPr/>
        </p:nvSpPr>
        <p:spPr>
          <a:xfrm>
            <a:off x="4837176" y="4572000"/>
            <a:ext cx="3913632" cy="256032"/>
          </a:xfrm>
          <a:prstGeom prst="rect">
            <a:avLst/>
          </a:prstGeom>
          <a:noFill/>
          <a:ln/>
        </p:spPr>
        <p:txBody>
          <a:bodyPr wrap="square" rtlCol="0" anchor="ctr"/>
          <a:lstStyle/>
          <a:p>
            <a:pPr marL="0" indent="0">
              <a:buNone/>
            </a:pPr>
            <a:r>
              <a:rPr lang="en-US" sz="950" b="1" dirty="0">
                <a:solidFill>
                  <a:srgbClr val="4A2780"/>
                </a:solidFill>
                <a:latin typeface="Calibri" pitchFamily="34" charset="0"/>
                <a:ea typeface="Calibri" pitchFamily="34" charset="-122"/>
                <a:cs typeface="Calibri" pitchFamily="34" charset="-120"/>
              </a:rPr>
              <a:t>▸  </a:t>
            </a:r>
            <a:r>
              <a:rPr lang="en-US" sz="950" dirty="0">
                <a:solidFill>
                  <a:srgbClr val="2C3E50"/>
                </a:solidFill>
                <a:latin typeface="Calibri" pitchFamily="34" charset="0"/>
                <a:ea typeface="Calibri" pitchFamily="34" charset="-122"/>
                <a:cs typeface="Calibri" pitchFamily="34" charset="-120"/>
              </a:rPr>
              <a:t>Begin Wikipedia notability groundwork (media pitches)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E4B"/>
        </a:solidFill>
        <a:effectLst/>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0"/>
            <a:ext cx="256032" cy="5143500"/>
          </a:xfrm>
          <a:prstGeom prst="rect">
            <a:avLst/>
          </a:prstGeom>
          <a:solidFill>
            <a:srgbClr val="1E7B3A"/>
          </a:solidFill>
          <a:ln w="12700">
            <a:solidFill>
              <a:srgbClr val="1E7B3A"/>
            </a:solidFill>
            <a:prstDash val="solid"/>
          </a:ln>
        </p:spPr>
        <p:txBody>
          <a:bodyPr/>
          <a:lstStyle/>
          <a:p>
            <a:endParaRPr lang="en-US"/>
          </a:p>
        </p:txBody>
      </p:sp>
      <p:sp>
        <p:nvSpPr>
          <p:cNvPr id="4" name="Text 2"/>
          <p:cNvSpPr/>
          <p:nvPr/>
        </p:nvSpPr>
        <p:spPr>
          <a:xfrm>
            <a:off x="530352" y="658368"/>
            <a:ext cx="8046720" cy="411480"/>
          </a:xfrm>
          <a:prstGeom prst="rect">
            <a:avLst/>
          </a:prstGeom>
          <a:noFill/>
          <a:ln/>
        </p:spPr>
        <p:txBody>
          <a:bodyPr wrap="square" lIns="0" tIns="0" rIns="0" bIns="0" rtlCol="0" anchor="ctr"/>
          <a:lstStyle/>
          <a:p>
            <a:pPr marL="0" indent="0">
              <a:buNone/>
            </a:pPr>
            <a:r>
              <a:rPr lang="en-US" sz="1200" b="1" kern="0" spc="400" dirty="0">
                <a:solidFill>
                  <a:srgbClr val="BDC3C7"/>
                </a:solidFill>
                <a:latin typeface="Calibri" pitchFamily="34" charset="0"/>
                <a:ea typeface="Calibri" pitchFamily="34" charset="-122"/>
                <a:cs typeface="Calibri" pitchFamily="34" charset="-120"/>
              </a:rPr>
              <a:t>SUMMARY</a:t>
            </a:r>
            <a:endParaRPr lang="en-US" sz="1200" dirty="0"/>
          </a:p>
        </p:txBody>
      </p:sp>
      <p:sp>
        <p:nvSpPr>
          <p:cNvPr id="5" name="Text 3"/>
          <p:cNvSpPr/>
          <p:nvPr/>
        </p:nvSpPr>
        <p:spPr>
          <a:xfrm>
            <a:off x="530352" y="1078992"/>
            <a:ext cx="8046720" cy="13716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gap is fixable.</a:t>
            </a:r>
            <a:endParaRPr lang="en-US" sz="4400" dirty="0"/>
          </a:p>
          <a:p>
            <a:pPr marL="0" indent="0">
              <a:buNone/>
            </a:pPr>
            <a:r>
              <a:rPr lang="en-US" sz="4400" b="1" dirty="0">
                <a:solidFill>
                  <a:srgbClr val="FFFFFF"/>
                </a:solidFill>
                <a:latin typeface="Calibri" pitchFamily="34" charset="0"/>
                <a:ea typeface="Calibri" pitchFamily="34" charset="-122"/>
                <a:cs typeface="Calibri" pitchFamily="34" charset="-120"/>
              </a:rPr>
              <a:t>And fast.</a:t>
            </a:r>
            <a:endParaRPr lang="en-US" sz="4400" dirty="0"/>
          </a:p>
        </p:txBody>
      </p:sp>
      <p:sp>
        <p:nvSpPr>
          <p:cNvPr id="6" name="Shape 4"/>
          <p:cNvSpPr/>
          <p:nvPr/>
        </p:nvSpPr>
        <p:spPr>
          <a:xfrm>
            <a:off x="530352" y="2606040"/>
            <a:ext cx="8046720" cy="548640"/>
          </a:xfrm>
          <a:prstGeom prst="rect">
            <a:avLst/>
          </a:prstGeom>
          <a:solidFill>
            <a:srgbClr val="243A56"/>
          </a:solidFill>
          <a:ln w="12700">
            <a:solidFill>
              <a:srgbClr val="3D5A80"/>
            </a:solidFill>
            <a:prstDash val="solid"/>
          </a:ln>
        </p:spPr>
        <p:txBody>
          <a:bodyPr/>
          <a:lstStyle/>
          <a:p>
            <a:endParaRPr lang="en-US"/>
          </a:p>
        </p:txBody>
      </p:sp>
      <p:sp>
        <p:nvSpPr>
          <p:cNvPr id="7" name="Text 5"/>
          <p:cNvSpPr/>
          <p:nvPr/>
        </p:nvSpPr>
        <p:spPr>
          <a:xfrm>
            <a:off x="713232" y="2606040"/>
            <a:ext cx="5303520" cy="548640"/>
          </a:xfrm>
          <a:prstGeom prst="rect">
            <a:avLst/>
          </a:prstGeom>
          <a:noFill/>
          <a:ln/>
        </p:spPr>
        <p:txBody>
          <a:bodyPr wrap="square" rtlCol="0" anchor="ctr"/>
          <a:lstStyle/>
          <a:p>
            <a:pPr marL="0" indent="0">
              <a:buNone/>
            </a:pPr>
            <a:r>
              <a:rPr lang="en-US" sz="1300" dirty="0">
                <a:solidFill>
                  <a:srgbClr val="BDC3C7"/>
                </a:solidFill>
                <a:latin typeface="Calibri" pitchFamily="34" charset="0"/>
                <a:ea typeface="Calibri" pitchFamily="34" charset="-122"/>
                <a:cs typeface="Calibri" pitchFamily="34" charset="-120"/>
              </a:rPr>
              <a:t>Current GEO score</a:t>
            </a:r>
            <a:endParaRPr lang="en-US" sz="1300" dirty="0"/>
          </a:p>
        </p:txBody>
      </p:sp>
      <p:sp>
        <p:nvSpPr>
          <p:cNvPr id="8" name="Text 6"/>
          <p:cNvSpPr/>
          <p:nvPr/>
        </p:nvSpPr>
        <p:spPr>
          <a:xfrm>
            <a:off x="6035040" y="2606040"/>
            <a:ext cx="2377440" cy="548640"/>
          </a:xfrm>
          <a:prstGeom prst="rect">
            <a:avLst/>
          </a:prstGeom>
          <a:noFill/>
          <a:ln/>
        </p:spPr>
        <p:txBody>
          <a:bodyPr wrap="square" rtlCol="0" anchor="ctr"/>
          <a:lstStyle/>
          <a:p>
            <a:pPr marL="0" indent="0" algn="r">
              <a:buNone/>
            </a:pPr>
            <a:r>
              <a:rPr lang="en-US" sz="1500" b="1" dirty="0">
                <a:solidFill>
                  <a:srgbClr val="C0392B"/>
                </a:solidFill>
                <a:latin typeface="Calibri" pitchFamily="34" charset="0"/>
                <a:ea typeface="Calibri" pitchFamily="34" charset="-122"/>
                <a:cs typeface="Calibri" pitchFamily="34" charset="-120"/>
              </a:rPr>
              <a:t>28 / 100</a:t>
            </a:r>
            <a:endParaRPr lang="en-US" sz="1500" dirty="0"/>
          </a:p>
        </p:txBody>
      </p:sp>
      <p:sp>
        <p:nvSpPr>
          <p:cNvPr id="9" name="Shape 7"/>
          <p:cNvSpPr/>
          <p:nvPr/>
        </p:nvSpPr>
        <p:spPr>
          <a:xfrm>
            <a:off x="530352" y="3264408"/>
            <a:ext cx="8046720" cy="548640"/>
          </a:xfrm>
          <a:prstGeom prst="rect">
            <a:avLst/>
          </a:prstGeom>
          <a:solidFill>
            <a:srgbClr val="243A56"/>
          </a:solidFill>
          <a:ln w="12700">
            <a:solidFill>
              <a:srgbClr val="3D5A80"/>
            </a:solidFill>
            <a:prstDash val="solid"/>
          </a:ln>
        </p:spPr>
        <p:txBody>
          <a:bodyPr/>
          <a:lstStyle/>
          <a:p>
            <a:endParaRPr lang="en-US"/>
          </a:p>
        </p:txBody>
      </p:sp>
      <p:sp>
        <p:nvSpPr>
          <p:cNvPr id="10" name="Text 8"/>
          <p:cNvSpPr/>
          <p:nvPr/>
        </p:nvSpPr>
        <p:spPr>
          <a:xfrm>
            <a:off x="713232" y="3264408"/>
            <a:ext cx="5303520" cy="548640"/>
          </a:xfrm>
          <a:prstGeom prst="rect">
            <a:avLst/>
          </a:prstGeom>
          <a:noFill/>
          <a:ln/>
        </p:spPr>
        <p:txBody>
          <a:bodyPr wrap="square" rtlCol="0" anchor="ctr"/>
          <a:lstStyle/>
          <a:p>
            <a:pPr marL="0" indent="0">
              <a:buNone/>
            </a:pPr>
            <a:r>
              <a:rPr lang="en-US" sz="1300" dirty="0">
                <a:solidFill>
                  <a:srgbClr val="BDC3C7"/>
                </a:solidFill>
                <a:latin typeface="Calibri" pitchFamily="34" charset="0"/>
                <a:ea typeface="Calibri" pitchFamily="34" charset="-122"/>
                <a:cs typeface="Calibri" pitchFamily="34" charset="-120"/>
              </a:rPr>
              <a:t>Estimated score after Week 1–2 actions</a:t>
            </a:r>
            <a:endParaRPr lang="en-US" sz="1300" dirty="0"/>
          </a:p>
        </p:txBody>
      </p:sp>
      <p:sp>
        <p:nvSpPr>
          <p:cNvPr id="11" name="Text 9"/>
          <p:cNvSpPr/>
          <p:nvPr/>
        </p:nvSpPr>
        <p:spPr>
          <a:xfrm>
            <a:off x="6035040" y="3264408"/>
            <a:ext cx="2377440" cy="548640"/>
          </a:xfrm>
          <a:prstGeom prst="rect">
            <a:avLst/>
          </a:prstGeom>
          <a:noFill/>
          <a:ln/>
        </p:spPr>
        <p:txBody>
          <a:bodyPr wrap="square" rtlCol="0" anchor="ctr"/>
          <a:lstStyle/>
          <a:p>
            <a:pPr marL="0" indent="0" algn="r">
              <a:buNone/>
            </a:pPr>
            <a:r>
              <a:rPr lang="en-US" sz="1500" b="1" dirty="0">
                <a:solidFill>
                  <a:srgbClr val="D4820A"/>
                </a:solidFill>
                <a:latin typeface="Calibri" pitchFamily="34" charset="0"/>
                <a:ea typeface="Calibri" pitchFamily="34" charset="-122"/>
                <a:cs typeface="Calibri" pitchFamily="34" charset="-120"/>
              </a:rPr>
              <a:t>43–50 / 100</a:t>
            </a:r>
            <a:endParaRPr lang="en-US" sz="1500" dirty="0"/>
          </a:p>
        </p:txBody>
      </p:sp>
      <p:sp>
        <p:nvSpPr>
          <p:cNvPr id="12" name="Shape 10"/>
          <p:cNvSpPr/>
          <p:nvPr/>
        </p:nvSpPr>
        <p:spPr>
          <a:xfrm>
            <a:off x="530352" y="3922776"/>
            <a:ext cx="8046720" cy="548640"/>
          </a:xfrm>
          <a:prstGeom prst="rect">
            <a:avLst/>
          </a:prstGeom>
          <a:solidFill>
            <a:srgbClr val="243A56"/>
          </a:solidFill>
          <a:ln w="12700">
            <a:solidFill>
              <a:srgbClr val="3D5A80"/>
            </a:solidFill>
            <a:prstDash val="solid"/>
          </a:ln>
        </p:spPr>
        <p:txBody>
          <a:bodyPr/>
          <a:lstStyle/>
          <a:p>
            <a:endParaRPr lang="en-US"/>
          </a:p>
        </p:txBody>
      </p:sp>
      <p:sp>
        <p:nvSpPr>
          <p:cNvPr id="13" name="Text 11"/>
          <p:cNvSpPr/>
          <p:nvPr/>
        </p:nvSpPr>
        <p:spPr>
          <a:xfrm>
            <a:off x="713232" y="3922776"/>
            <a:ext cx="5303520" cy="548640"/>
          </a:xfrm>
          <a:prstGeom prst="rect">
            <a:avLst/>
          </a:prstGeom>
          <a:noFill/>
          <a:ln/>
        </p:spPr>
        <p:txBody>
          <a:bodyPr wrap="square" rtlCol="0" anchor="ctr"/>
          <a:lstStyle/>
          <a:p>
            <a:pPr marL="0" indent="0">
              <a:buNone/>
            </a:pPr>
            <a:r>
              <a:rPr lang="en-US" sz="1300" dirty="0">
                <a:solidFill>
                  <a:srgbClr val="BDC3C7"/>
                </a:solidFill>
                <a:latin typeface="Calibri" pitchFamily="34" charset="0"/>
                <a:ea typeface="Calibri" pitchFamily="34" charset="-122"/>
                <a:cs typeface="Calibri" pitchFamily="34" charset="-120"/>
              </a:rPr>
              <a:t>Potential score (full implementation)</a:t>
            </a:r>
            <a:endParaRPr lang="en-US" sz="1300" dirty="0"/>
          </a:p>
        </p:txBody>
      </p:sp>
      <p:sp>
        <p:nvSpPr>
          <p:cNvPr id="14" name="Text 12"/>
          <p:cNvSpPr/>
          <p:nvPr/>
        </p:nvSpPr>
        <p:spPr>
          <a:xfrm>
            <a:off x="6035040" y="3922776"/>
            <a:ext cx="2377440" cy="548640"/>
          </a:xfrm>
          <a:prstGeom prst="rect">
            <a:avLst/>
          </a:prstGeom>
          <a:noFill/>
          <a:ln/>
        </p:spPr>
        <p:txBody>
          <a:bodyPr wrap="square" rtlCol="0" anchor="ctr"/>
          <a:lstStyle/>
          <a:p>
            <a:pPr marL="0" indent="0" algn="r">
              <a:buNone/>
            </a:pPr>
            <a:r>
              <a:rPr lang="en-US" sz="1500" b="1" dirty="0">
                <a:solidFill>
                  <a:srgbClr val="1E7B3A"/>
                </a:solidFill>
                <a:latin typeface="Calibri" pitchFamily="34" charset="0"/>
                <a:ea typeface="Calibri" pitchFamily="34" charset="-122"/>
                <a:cs typeface="Calibri" pitchFamily="34" charset="-120"/>
              </a:rPr>
              <a:t>70–80 / 100</a:t>
            </a:r>
            <a:endParaRPr lang="en-US" sz="1500" dirty="0"/>
          </a:p>
        </p:txBody>
      </p:sp>
      <p:sp>
        <p:nvSpPr>
          <p:cNvPr id="15" name="Shape 13"/>
          <p:cNvSpPr/>
          <p:nvPr/>
        </p:nvSpPr>
        <p:spPr>
          <a:xfrm>
            <a:off x="530352" y="4663440"/>
            <a:ext cx="8046720" cy="0"/>
          </a:xfrm>
          <a:prstGeom prst="line">
            <a:avLst/>
          </a:prstGeom>
          <a:noFill/>
          <a:ln w="12700">
            <a:solidFill>
              <a:srgbClr val="3D5A80"/>
            </a:solidFill>
            <a:prstDash val="solid"/>
          </a:ln>
        </p:spPr>
        <p:txBody>
          <a:bodyPr/>
          <a:lstStyle/>
          <a:p>
            <a:endParaRPr lang="en-US"/>
          </a:p>
        </p:txBody>
      </p:sp>
      <p:sp>
        <p:nvSpPr>
          <p:cNvPr id="16" name="Text 14"/>
          <p:cNvSpPr/>
          <p:nvPr/>
        </p:nvSpPr>
        <p:spPr>
          <a:xfrm>
            <a:off x="530352" y="4727448"/>
            <a:ext cx="8046720" cy="320040"/>
          </a:xfrm>
          <a:prstGeom prst="rect">
            <a:avLst/>
          </a:prstGeom>
          <a:noFill/>
          <a:ln/>
        </p:spPr>
        <p:txBody>
          <a:bodyPr wrap="square" rtlCol="0" anchor="ctr"/>
          <a:lstStyle/>
          <a:p>
            <a:pPr marL="0" indent="0" algn="ctr">
              <a:buNone/>
            </a:pPr>
            <a:r>
              <a:rPr lang="en-US" sz="950" dirty="0">
                <a:solidFill>
                  <a:srgbClr val="95A5A6"/>
                </a:solidFill>
                <a:latin typeface="Calibri" pitchFamily="34" charset="0"/>
                <a:ea typeface="Calibri" pitchFamily="34" charset="-122"/>
                <a:cs typeface="Calibri" pitchFamily="34" charset="-120"/>
              </a:rPr>
              <a:t>Re-audit recommended after completing Week 1–2 actions  |  Audit Date: 19 May 2026  |  kmhconsultancy.com.au</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1769</Words>
  <Application>Microsoft Macintosh PowerPoint</Application>
  <PresentationFormat>On-screen Show (16:9)</PresentationFormat>
  <Paragraphs>261</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 Audit Report: KMH Training &amp; Consultancy Australia</dc:title>
  <dc:subject>PptxGenJS Presentation</dc:subject>
  <dc:creator>PptxGenJS</dc:creator>
  <cp:lastModifiedBy>Harry Simpson</cp:lastModifiedBy>
  <cp:revision>2</cp:revision>
  <dcterms:created xsi:type="dcterms:W3CDTF">2026-05-19T08:53:31Z</dcterms:created>
  <dcterms:modified xsi:type="dcterms:W3CDTF">2026-05-19T10:01:24Z</dcterms:modified>
</cp:coreProperties>
</file>