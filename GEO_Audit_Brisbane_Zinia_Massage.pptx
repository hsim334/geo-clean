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731520"/>
            <a:ext cx="3200400" cy="3200400"/>
          </a:xfrm>
          <a:prstGeom prst="ellipse">
            <a:avLst/>
          </a:prstGeom>
          <a:solidFill>
            <a:srgbClr val="0A3D52">
              <a:alpha val="60000"/>
            </a:srgbClr>
          </a:solidFill>
          <a:ln w="12700">
            <a:solidFill>
              <a:srgbClr val="0A3D52">
                <a:alpha val="6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-182880"/>
            <a:ext cx="1828800" cy="1828800"/>
          </a:xfrm>
          <a:prstGeom prst="ellipse">
            <a:avLst/>
          </a:prstGeom>
          <a:solidFill>
            <a:srgbClr val="0D9488">
              <a:alpha val="40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914400"/>
            <a:ext cx="1828800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9144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</a:rPr>
              <a:t>GEO AUDIT REPORT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98448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Brisbane Zinia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Massage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BEC9"/>
                </a:solidFill>
              </a:rPr>
              <a:t>Comprehensive AI Visibility &amp; GEO Optimisation Audit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493008"/>
            <a:ext cx="457200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6118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0BEC9"/>
                </a:solidFill>
              </a:rPr>
              <a:t>Audit Date: </a:t>
            </a:r>
            <a:pPr indent="0" marL="0">
              <a:buNone/>
            </a:pPr>
            <a:r>
              <a:rPr lang="en-US" sz="1100" dirty="0">
                <a:solidFill>
                  <a:srgbClr val="A0BEC9"/>
                </a:solidFill>
              </a:rPr>
              <a:t>18 May 2026    </a:t>
            </a:r>
            <a:pPr indent="0" marL="0">
              <a:buNone/>
            </a:pPr>
            <a:r>
              <a:rPr lang="en-US" sz="1100" b="1" dirty="0">
                <a:solidFill>
                  <a:srgbClr val="A0BEC9"/>
                </a:solidFill>
              </a:rPr>
              <a:t>URL: </a:t>
            </a:r>
            <a:pPr indent="0" marL="0">
              <a:buNone/>
            </a:pPr>
            <a:r>
              <a:rPr lang="en-US" sz="1100" dirty="0">
                <a:solidFill>
                  <a:srgbClr val="A0BEC9"/>
                </a:solidFill>
              </a:rPr>
              <a:t>brisbaneziniamassage.com    </a:t>
            </a:r>
            <a:pPr indent="0" marL="0">
              <a:buNone/>
            </a:pPr>
            <a:r>
              <a:rPr lang="en-US" sz="1100" b="1" dirty="0">
                <a:solidFill>
                  <a:srgbClr val="A0BEC9"/>
                </a:solidFill>
              </a:rPr>
              <a:t>Pages: </a:t>
            </a:r>
            <a:pPr indent="0" marL="0">
              <a:buNone/>
            </a:pPr>
            <a:r>
              <a:rPr lang="en-US" sz="1100" dirty="0">
                <a:solidFill>
                  <a:srgbClr val="A0BEC9"/>
                </a:solidFill>
              </a:rPr>
              <a:t>16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766560" y="3154680"/>
            <a:ext cx="1828800" cy="18288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336499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23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676656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/100  CRITICAL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Executive Summary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743200" cy="3931920"/>
          </a:xfrm>
          <a:prstGeom prst="rect">
            <a:avLst/>
          </a:prstGeom>
          <a:solidFill>
            <a:srgbClr val="0F2D40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9601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A0BEC9"/>
                </a:solidFill>
              </a:rPr>
              <a:t>OVERALL GEO SCORE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1353312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DC2626"/>
                </a:solidFill>
              </a:rPr>
              <a:t>23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4688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0BEC9"/>
                </a:solidFill>
              </a:rPr>
              <a:t>/ 100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68680" y="2944368"/>
            <a:ext cx="155448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443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CRITICAL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3429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BEC9"/>
                </a:solidFill>
              </a:rPr>
              <a:t>Potential with quick wins: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004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Score 55–65 in 30 days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2286000" cy="109728"/>
          </a:xfrm>
          <a:prstGeom prst="rect">
            <a:avLst/>
          </a:prstGeom>
          <a:solidFill>
            <a:srgbClr val="1A4A5E"/>
          </a:solidFill>
          <a:ln w="12700">
            <a:solidFill>
              <a:srgbClr val="1A4A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4023360"/>
            <a:ext cx="1371600" cy="1097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0BEC9"/>
                </a:solidFill>
              </a:rPr>
              <a:t>Current: 23  →  Target: 60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91840" y="7498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Key Findings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91840" y="1115568"/>
            <a:ext cx="5532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91840" y="1115568"/>
            <a:ext cx="54864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9584" y="117043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Zero schema markup across all 16 pages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29584" y="144475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No structured identity in any AI knowledge layer — AI engines cannot extract business data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91840" y="1847088"/>
            <a:ext cx="5532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1847088"/>
            <a:ext cx="54864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9584" y="190195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No llms.txt file (returns 404)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529584" y="217627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AI crawlers (PerplexityBot, GPTBot, ClaudeBot) have no machine-readable site summary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91840" y="2578608"/>
            <a:ext cx="5532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91840" y="2578608"/>
            <a:ext cx="54864" cy="6400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29584" y="263347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No therapist credentials published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29584" y="290779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All clinical claims are unverifiable — critical E-E-A-T gap for a health-adjacent service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91840" y="3310128"/>
            <a:ext cx="5532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91840" y="3310128"/>
            <a:ext cx="54864" cy="6400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29584" y="336499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Critically thin content on key pages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529584" y="363931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Homepage ~125 words, key blog post ~150 words — both below AI citation threshold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91840" y="4041648"/>
            <a:ext cx="5532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91840" y="4041648"/>
            <a:ext cx="54864" cy="6400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29584" y="409651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Only 6 reviews at 3.7 stars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529584" y="437083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Below AI recommendation threshold; no confirmed Google Business Profile reviews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Score Breakdown by Category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Category Scores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AI Citability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Weight: 25%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017520" y="1115568"/>
            <a:ext cx="3474720" cy="1280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1115568"/>
            <a:ext cx="764438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02412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22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95160" y="102412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/100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Brand Authority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856232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Weight: 20%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17520" y="1691640"/>
            <a:ext cx="3474720" cy="1280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17520" y="1691640"/>
            <a:ext cx="938174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60020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</a:rPr>
              <a:t>27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95160" y="160020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/100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1762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Content E-E-A-T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2432304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Weight: 20%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017520" y="2267712"/>
            <a:ext cx="3474720" cy="1280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17520" y="2267712"/>
            <a:ext cx="972922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17627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</a:rPr>
              <a:t>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95160" y="217627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/100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275234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Technical GEO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008376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Weight: 15%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017520" y="2843784"/>
            <a:ext cx="3474720" cy="1280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17520" y="2843784"/>
            <a:ext cx="972922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275234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</a:rPr>
              <a:t>28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5160" y="275234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/100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33284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Schema &amp; Structured Data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" y="358444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Weight: 10%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017520" y="3419856"/>
            <a:ext cx="3474720" cy="1280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37960" y="332841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95160" y="332841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/100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65760" y="390448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Platform Optimization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65760" y="4160520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Weight: 10%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017520" y="3995928"/>
            <a:ext cx="3474720" cy="1280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17520" y="3995928"/>
            <a:ext cx="62545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37960" y="39044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18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995160" y="39044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/100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452360" y="749808"/>
            <a:ext cx="1508760" cy="3520440"/>
          </a:xfrm>
          <a:prstGeom prst="rect">
            <a:avLst/>
          </a:prstGeom>
          <a:solidFill>
            <a:srgbClr val="0F2D40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452360" y="86868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A0BEC9"/>
                </a:solidFill>
              </a:rPr>
              <a:t>WEIGHTED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spc="50" kern="0" dirty="0">
                <a:solidFill>
                  <a:srgbClr val="A0BEC9"/>
                </a:solidFill>
              </a:rPr>
              <a:t>TOTAL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452360" y="1444752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DC2626"/>
                </a:solidFill>
              </a:rPr>
              <a:t>23</a:t>
            </a:r>
            <a:endParaRPr lang="en-US" sz="6200" dirty="0"/>
          </a:p>
        </p:txBody>
      </p:sp>
      <p:sp>
        <p:nvSpPr>
          <p:cNvPr id="43" name="Text 41"/>
          <p:cNvSpPr/>
          <p:nvPr/>
        </p:nvSpPr>
        <p:spPr>
          <a:xfrm>
            <a:off x="7452360" y="23042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0BEC9"/>
                </a:solidFill>
              </a:rPr>
              <a:t>/100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635240" y="2651760"/>
            <a:ext cx="1143000" cy="0"/>
          </a:xfrm>
          <a:prstGeom prst="line">
            <a:avLst/>
          </a:prstGeom>
          <a:noFill/>
          <a:ln w="12700">
            <a:solidFill>
              <a:srgbClr val="1A4A5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16368" y="27614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BEC9"/>
                </a:solidFill>
              </a:rPr>
              <a:t>AI Citability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321040" y="2761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5.5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516368" y="29900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BEC9"/>
                </a:solidFill>
              </a:rPr>
              <a:t>Brand Auth.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321040" y="29900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5.4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516368" y="32186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BEC9"/>
                </a:solidFill>
              </a:rPr>
              <a:t>E-E-A-T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321040" y="32186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5.6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516368" y="34472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BEC9"/>
                </a:solidFill>
              </a:rPr>
              <a:t>Technical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321040" y="34472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4.2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516368" y="36758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BEC9"/>
                </a:solidFill>
              </a:rPr>
              <a:t>Schema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321040" y="36758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0.0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7516368" y="39044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BEC9"/>
                </a:solidFill>
              </a:rPr>
              <a:t>Platform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321040" y="3904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1.8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65760" y="440740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AI citation threshold: 70+ score required    |    GEO Research benchmarks: Georgia Tech / Princeton / IIT Delhi 2024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Critical Issues — Fix Immediately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92608" y="749808"/>
            <a:ext cx="416052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92608" y="749808"/>
            <a:ext cx="54864" cy="19385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859536"/>
            <a:ext cx="402336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5953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C1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50976" y="85953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Zero Schema Markup Sitewide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2070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No JSON-LD, microdata, or RDFa on any of 16 pages. Yoast operating at near-default. AI engines cannot extract structured business data.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048256"/>
            <a:ext cx="3822192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03120"/>
            <a:ext cx="347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FIX: 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" y="210312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Add LocalBusiness + MassageTherapist JSON-LD to homepage. Add FAQPage schema to each service page.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45152" y="749808"/>
            <a:ext cx="416052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45152" y="749808"/>
            <a:ext cx="54864" cy="19385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9744" y="859536"/>
            <a:ext cx="402336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85953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C2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03520" y="85953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No llms.txt File (404)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9744" y="12070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Primary AI crawler signal absent. PerplexityBot, GPTBot, and ClaudeBot must guess site scope from raw HTML alone — typically resulting in no citation.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09744" y="2048256"/>
            <a:ext cx="3822192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9744" y="2103120"/>
            <a:ext cx="347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FIX: 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157216" y="210312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Upload llms.txt to WordPress root. A complete draft is ready. ~15 min implementation with maximum GEO ROI.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92608" y="2834640"/>
            <a:ext cx="416052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92608" y="2834640"/>
            <a:ext cx="54864" cy="19385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2944368"/>
            <a:ext cx="402336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294436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C3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0976" y="29443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No Canonical Tags + Duplicate Pages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No canonical tags on any page. Near-duplicate variants (-2/ -3/) and 4 numeric-slug pages (/16-2/, /100-2/, /126-2/, /131-2/) all indexed.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4133088"/>
            <a:ext cx="3822192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187952"/>
            <a:ext cx="347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FIX: 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" y="41879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Set canonical URLs in Yoast. Noindex numeric-slug pages. Redirect -2/ and -3/ variants to primary canonical.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45152" y="2834640"/>
            <a:ext cx="416052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45152" y="2834640"/>
            <a:ext cx="54864" cy="19385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09744" y="2944368"/>
            <a:ext cx="402336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9744" y="294436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C4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03520" y="29443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No Therapist Credentials Published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809744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No qualifications, no ATMS/AAMT membership, no insurance details for any practitioner. Therapist 'Mary' mentioned on homepage — no surname, no credentials.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09744" y="4133088"/>
            <a:ext cx="3822192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9744" y="4187952"/>
            <a:ext cx="347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FIX: 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157216" y="41879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Publish full About page: therapist full name, qualifications (HLT42015/HLT52021), association memberships, professional headshot.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High Priority Issues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92608" y="749808"/>
            <a:ext cx="41605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92608" y="749808"/>
            <a:ext cx="54864" cy="9692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859536"/>
            <a:ext cx="402336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5953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50976" y="84124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Meta Descriptions Absent Sitewide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25272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Write unique 120–155 char meta descriptions for all 16 pages via Yoast SEO.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2608" y="1828800"/>
            <a:ext cx="41605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2608" y="1828800"/>
            <a:ext cx="54864" cy="9692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938528"/>
            <a:ext cx="402336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93852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50976" y="19202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No Open Graph or Twitter Card Tags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3172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Enable OG + Twitter Card in Yoast SEO Social tabs. Add representative images.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92608" y="2907792"/>
            <a:ext cx="41605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2608" y="2907792"/>
            <a:ext cx="54864" cy="9692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17520"/>
            <a:ext cx="402336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017520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50976" y="299923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No FAQ Structure on Any Page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41071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Add 5–8 FAQ items to homepage + each service page. Apply FAQPage JSON-LD schema.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92608" y="3986784"/>
            <a:ext cx="41605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92608" y="3986784"/>
            <a:ext cx="54864" cy="9692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096512"/>
            <a:ext cx="402336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096512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50976" y="4078224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Only 6 Reviews (3.7 stars across all platforms)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48970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Claim Google Business Profile. Launch review request campaign — target 30+ within 90 days.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45152" y="749808"/>
            <a:ext cx="41605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45152" y="749808"/>
            <a:ext cx="54864" cy="9692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9744" y="859536"/>
            <a:ext cx="402336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9744" y="85953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03520" y="84124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Duplicate Facebook Presence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09744" y="125272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Merge or delete secondary Facebook page. Consolidate all activity to primary page.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45152" y="1828800"/>
            <a:ext cx="41605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45152" y="1828800"/>
            <a:ext cx="54864" cy="9692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9744" y="1938528"/>
            <a:ext cx="402336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9744" y="1938528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03520" y="19202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Content Too Thin on Key Pages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9744" y="233172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Expand homepage to 400+ words; expand 'Benefits of Remedial Massage' blog to 800+ words.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45152" y="2907792"/>
            <a:ext cx="416052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45152" y="2907792"/>
            <a:ext cx="54864" cy="9692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09744" y="3017520"/>
            <a:ext cx="402336" cy="2560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9744" y="3017520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H7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303520" y="299923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"Art Gallery" Content on Service Page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809744" y="341071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Remove all Art Gallery sections from the Remedial Massage page immediately.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645152" y="3931920"/>
            <a:ext cx="4160520" cy="804672"/>
          </a:xfrm>
          <a:prstGeom prst="rect">
            <a:avLst/>
          </a:prstGeom>
          <a:solidFill>
            <a:srgbClr val="F0FBF9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773168" y="39959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See 30-Day Action Plan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773168" y="424281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Full prioritised fix schedule with week-by-week tasks and time estimates on the final slides.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AI Citability  —  22 / 100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1463040" cy="14630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5097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0040" y="15270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/100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" y="2258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AI Citability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03120" y="777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1170432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b="1" dirty="0">
                <a:solidFill>
                  <a:srgbClr val="0D9488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No FAQ structure eliminates the site from ~60–70% of question-form AI queries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03120" y="1572768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b="1" dirty="0">
                <a:solidFill>
                  <a:srgbClr val="0D9488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Absent meta descriptions — AI systems have no reliable page summary to cite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103120" y="1975104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b="1" dirty="0">
                <a:solidFill>
                  <a:srgbClr val="0D9488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Blog content at 150 words is structurally unusable for AI citation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103120" y="2377440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b="1" dirty="0">
                <a:solidFill>
                  <a:srgbClr val="0D9488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Case studies show clinical vocabulary but lack quantified outcomes and named authors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03120" y="2779776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b="1" dirty="0">
                <a:solidFill>
                  <a:srgbClr val="0D9488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Pricing data exists as an unlabelled list — not extractable by AI engines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92608" y="3200400"/>
            <a:ext cx="8558784" cy="1371600"/>
          </a:xfrm>
          <a:prstGeom prst="rect">
            <a:avLst/>
          </a:prstGeom>
          <a:solidFill>
            <a:srgbClr val="F0FBF9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92608" y="3200400"/>
            <a:ext cx="8558784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2004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REWRITE EXAMPLE — Citable pricing paragraph (current: raw price list  →  citable: self-contained prose)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8912" y="3511296"/>
            <a:ext cx="8302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A5248"/>
                </a:solidFill>
              </a:rPr>
              <a:t>"Brisbane Zinia Massage offers remedial and deep tissue massage at Level 1, Suite 2, 117 Queen St, Brisbane CBD, priced from $50 for 30 minutes to $180 for a two-hour session. A senior concession rate of $50/hr is available for clients aged 70+, and mobile massage to Brisbane CBD hotels is $150 per 60-minute session. Open daily 6am–9pm. Book by calling 0411 221 890."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2608" y="4626864"/>
            <a:ext cx="8558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This single self-contained passage would likely appear in Perplexity responses to 'massage prices Brisbane CBD' within weeks of indexing.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Brand Authority  —  27 / 100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1463040" cy="14630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5097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0040" y="15270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/100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" y="2258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Brand Authority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03120" y="777240"/>
            <a:ext cx="6720840" cy="292608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76272" y="777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Platform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34840" y="777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Status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720840" y="777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AI Signal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103120" y="1069848"/>
            <a:ext cx="67208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12848" y="1069848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Own Website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34840" y="1069848"/>
            <a:ext cx="2240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Active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20840" y="1069848"/>
            <a:ext cx="20299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</a:rPr>
              <a:t>Moderate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103120" y="1371600"/>
            <a:ext cx="6720840" cy="301752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12848" y="1371600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Google Search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34840" y="1371600"/>
            <a:ext cx="2240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Active (#1 brand)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720840" y="1371600"/>
            <a:ext cx="20299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</a:rPr>
              <a:t>Moderate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03120" y="1673352"/>
            <a:ext cx="67208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12848" y="1673352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Google Bus. Profile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34840" y="1673352"/>
            <a:ext cx="2240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Unconfirmed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20840" y="1673352"/>
            <a:ext cx="20299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A580C"/>
                </a:solidFill>
              </a:rPr>
              <a:t>Weak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103120" y="1975104"/>
            <a:ext cx="6720840" cy="301752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12848" y="197510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Fresha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34840" y="1975104"/>
            <a:ext cx="2240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Listed, 3.7 stars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20840" y="1975104"/>
            <a:ext cx="20299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</a:rPr>
              <a:t>Moderate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103120" y="2276856"/>
            <a:ext cx="67208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12848" y="2276856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Groupon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434840" y="2276856"/>
            <a:ext cx="2240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2 active deals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20840" y="2276856"/>
            <a:ext cx="20299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A580C"/>
                </a:solidFill>
              </a:rPr>
              <a:t>Weak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103120" y="2578608"/>
            <a:ext cx="6720840" cy="301752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12848" y="2578608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Facebook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434840" y="2578608"/>
            <a:ext cx="2240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2 pages (dup.)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20840" y="2578608"/>
            <a:ext cx="20299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A580C"/>
                </a:solidFill>
              </a:rPr>
              <a:t>Weak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103120" y="2880360"/>
            <a:ext cx="67208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12848" y="2880360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YouTube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434840" y="2880360"/>
            <a:ext cx="2240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Channel (minimal)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20840" y="2880360"/>
            <a:ext cx="20299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A580C"/>
                </a:solidFill>
              </a:rPr>
              <a:t>Weak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103120" y="3182112"/>
            <a:ext cx="6720840" cy="301752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12848" y="3182112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Instagram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434840" y="3182112"/>
            <a:ext cx="2240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Absent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720840" y="3182112"/>
            <a:ext cx="20299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None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103120" y="3483864"/>
            <a:ext cx="6720840" cy="3017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212848" y="348386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Reddit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434840" y="3483864"/>
            <a:ext cx="2240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Absent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20840" y="3483864"/>
            <a:ext cx="20299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None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103120" y="3785616"/>
            <a:ext cx="6720840" cy="301752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212848" y="3785616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LinkedIn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434840" y="3785616"/>
            <a:ext cx="2240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Absent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720840" y="3785616"/>
            <a:ext cx="20299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None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92608" y="416052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Critical gap: Zero editorial or community mentions (Reddit, news, blogs, third-party YouTube reviews). These unowned signals are what AI systems use to classify a business as verified and recommendable.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Content E-E-A-T  —  28 / 100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1463040" cy="14630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5097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0040" y="15270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/100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" y="2258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E-E-A-T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03120" y="777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E-E-A-T Dimension Scores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03120" y="1115568"/>
            <a:ext cx="6720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03120" y="1115568"/>
            <a:ext cx="54864" cy="7132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40864" y="1170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Experience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955280" y="117043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580C"/>
                </a:solidFill>
              </a:rPr>
              <a:t>38/100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340864" y="1463040"/>
            <a:ext cx="5029200" cy="1280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40864" y="1463040"/>
            <a:ext cx="1911096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40864" y="1591056"/>
            <a:ext cx="6355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Two case studies show hands-on clinical knowledge. Anonymous testimonials undermine credibility — no client names, outcomes, or dates.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103120" y="1920240"/>
            <a:ext cx="6720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103120" y="1920240"/>
            <a:ext cx="54864" cy="7132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40864" y="19751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Expertise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19751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18/100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340864" y="2267712"/>
            <a:ext cx="5029200" cy="1280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0864" y="2267712"/>
            <a:ext cx="90525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40864" y="2395728"/>
            <a:ext cx="6355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No qualifications published. Unsupported superlative claims throughout. 'Art Gallery' template content left on the Remedial Massage service page.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103120" y="2724912"/>
            <a:ext cx="6720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103120" y="2724912"/>
            <a:ext cx="54864" cy="7132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40864" y="277977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Authoritativeness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955280" y="277977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12/100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340864" y="3072384"/>
            <a:ext cx="5029200" cy="1280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0864" y="3072384"/>
            <a:ext cx="603504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40864" y="3200400"/>
            <a:ext cx="6355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No ATMS/AAMT/AMT membership. Zero media mentions. All content attributed to business entity name rather than named human expert.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103120" y="3529584"/>
            <a:ext cx="6720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103120" y="3529584"/>
            <a:ext cx="54864" cy="7132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40864" y="35844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Trustworthiness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955280" y="358444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42/100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340864" y="3877056"/>
            <a:ext cx="5029200" cy="1280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40864" y="3877056"/>
            <a:ext cx="2112264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40864" y="4005072"/>
            <a:ext cx="6355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Transparent specific pricing, precise suite-level address, health fund mention. But ABN not displayed, no review schema, no terms or privacy policy links.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92608" y="4443984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Critical gap: No published therapist credentials. Massage therapy is health-adjacent — AI systems deprioritise health content without verifiable practitioner qualifications.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Technical GEO  —  28 / 100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1463040" cy="14630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5097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20040" y="15270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/100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" y="2258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Technical GEO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03120" y="777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Component Scores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03120" y="1115568"/>
            <a:ext cx="67208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115568"/>
            <a:ext cx="73152" cy="58521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0" y="117043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AI Crawler Access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1170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18 / 20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144475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All crawlers permitted — robots.txt has no Disallow rules. Strong foundation.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03120" y="1737360"/>
            <a:ext cx="6720840" cy="585216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03120" y="1737360"/>
            <a:ext cx="73152" cy="5852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0" y="179222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llms.txt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0" y="17922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0 / 20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206654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404 — not present. AI systems must guess site scope from raw HTML alone.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103120" y="2359152"/>
            <a:ext cx="67208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03120" y="2359152"/>
            <a:ext cx="73152" cy="5852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0" y="241401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Meta Tags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0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3 / 20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2688336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Title present. Description, Open Graph, and Twitter Card all absent sitewide.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103120" y="2980944"/>
            <a:ext cx="6720840" cy="585216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03120" y="2980944"/>
            <a:ext cx="73152" cy="58521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0" y="303580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Technical Rendering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0" y="3035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13 / 15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86000" y="331012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WordPress SSR — all content crawlable without JavaScript execution.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103120" y="3602736"/>
            <a:ext cx="67208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03120" y="3602736"/>
            <a:ext cx="73152" cy="5852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36576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Sitemap Quality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0" y="36576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5 / 15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286000" y="39319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Exists but contains numeric-slug junk pages. No priority or changefreq values.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103120" y="4224528"/>
            <a:ext cx="6720840" cy="585216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03120" y="4224528"/>
            <a:ext cx="73152" cy="5852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86000" y="427939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Canonical / URL Structure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772400" y="42793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0 / 10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286000" y="455371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No canonical tags. Multiple near-duplicate variants indexed by AI engines.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92608" y="486460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Only technical GEO advantage: open crawler access + WordPress SSR. All other components absent or broken.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Schema &amp; Structured Data  —  0 / 100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92608" y="749808"/>
            <a:ext cx="1920240" cy="19202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92608" y="932688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0" b="1" dirty="0">
                <a:solidFill>
                  <a:srgbClr val="FFFFFF"/>
                </a:solidFill>
              </a:rPr>
              <a:t>0</a:t>
            </a:r>
            <a:endParaRPr lang="en-US" sz="8600" dirty="0"/>
          </a:p>
        </p:txBody>
      </p:sp>
      <p:sp>
        <p:nvSpPr>
          <p:cNvPr id="6" name="Text 4"/>
          <p:cNvSpPr/>
          <p:nvPr/>
        </p:nvSpPr>
        <p:spPr>
          <a:xfrm>
            <a:off x="292608" y="2011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/100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" y="28346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Zero structured data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on every page examined. WordPress + Yoast SEO are installed but producing no schema output — Yoast operating at default with no identity configuration.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68880" y="749808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Missing Schema Types — Priority Order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6355080" cy="292608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42032" y="10789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Schema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349240" y="10789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Priority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92240" y="10789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GEO Impact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468880" y="1371600"/>
            <a:ext cx="6355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42032" y="13716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LocalBusiness / MassageTherapist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1508760"/>
            <a:ext cx="1005840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0" y="15087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Critical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92240" y="13716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AI entity recognition, map pack, ChatGPT/Perplexity business citation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1938528"/>
            <a:ext cx="6355080" cy="566928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42032" y="19385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FAQPage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94960" y="2075688"/>
            <a:ext cx="1005840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20756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Critical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92240" y="193852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AI uses your exact FAQ wording to answer user queries directly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68880" y="2505456"/>
            <a:ext cx="6355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42032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Service + Offer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2642616"/>
            <a:ext cx="1005840" cy="29260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94960" y="26426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High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92240" y="2505456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AI surfaces pricing data in 'how much does massage cost' responses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3072384"/>
            <a:ext cx="6355080" cy="566928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42032" y="30723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AggregateRating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94960" y="3209544"/>
            <a:ext cx="1005840" cy="29260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94960" y="32095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High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92240" y="307238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Star ratings in SERPs; AI includes rating when recommending businesses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468880" y="3639312"/>
            <a:ext cx="6355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42032" y="363931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BreadcrumbList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394960" y="3776472"/>
            <a:ext cx="1005840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94960" y="37764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Medium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92240" y="363931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Site hierarchy signals — auto-generated by Yoast once configured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468880" y="4206240"/>
            <a:ext cx="6355080" cy="566928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2062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Article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394960" y="4343400"/>
            <a:ext cx="1005840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94960" y="43434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Medium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92240" y="420624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Content attribution to business entity in AI knowledge layer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Quick Wins — Implement This Week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92608" y="749808"/>
            <a:ext cx="855878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92608" y="749808"/>
            <a:ext cx="54864" cy="7315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896112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896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0" y="932688"/>
            <a:ext cx="914400" cy="228600"/>
          </a:xfrm>
          <a:prstGeom prst="rect">
            <a:avLst/>
          </a:prstGeom>
          <a:solidFill>
            <a:srgbClr val="CCFBF1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9326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7A70"/>
                </a:solidFill>
              </a:rPr>
              <a:t>~15 min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78992" y="82296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Deploy llms.txt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78992" y="1115568"/>
            <a:ext cx="6537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Upload the draft from the Technical GEO section to WordPress root. Signals all AI crawlers what this site is about and confirms indexing permission.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92608" y="1554480"/>
            <a:ext cx="855878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92608" y="1554480"/>
            <a:ext cx="54864" cy="7315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" y="1700784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0" y="1737360"/>
            <a:ext cx="914400" cy="228600"/>
          </a:xfrm>
          <a:prstGeom prst="rect">
            <a:avLst/>
          </a:prstGeom>
          <a:solidFill>
            <a:srgbClr val="CCFBF1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0" y="1737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7A70"/>
                </a:solidFill>
              </a:rPr>
              <a:t>~20 min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78992" y="1627632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Add LocalBusiness + MassageTherapist JSON-LD to Homepage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78992" y="1920240"/>
            <a:ext cx="6537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Paste production-ready schema into the page head via 'Insert Headers and Footers' WordPress plugin. Unlocks AI entity recognition and map pack eligibility.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92608" y="2359152"/>
            <a:ext cx="855878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92608" y="2359152"/>
            <a:ext cx="54864" cy="7315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2505456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0" y="2542032"/>
            <a:ext cx="914400" cy="228600"/>
          </a:xfrm>
          <a:prstGeom prst="rect">
            <a:avLst/>
          </a:prstGeom>
          <a:solidFill>
            <a:srgbClr val="CCFBF1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0" y="25420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7A70"/>
                </a:solidFill>
              </a:rPr>
              <a:t>~60 min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78992" y="2432304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Write Meta Descriptions for All 16 Pages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78992" y="2724912"/>
            <a:ext cx="6537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Add unique 120–155 character descriptions in Yoast SEO snippet editor. Priority: homepage, remedial massage, and both 'massage near me' pages.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92608" y="3163824"/>
            <a:ext cx="855878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92608" y="3163824"/>
            <a:ext cx="54864" cy="7315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" y="3310128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772400" y="3346704"/>
            <a:ext cx="914400" cy="228600"/>
          </a:xfrm>
          <a:prstGeom prst="rect">
            <a:avLst/>
          </a:prstGeom>
          <a:solidFill>
            <a:srgbClr val="CCFBF1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0" y="334670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7A70"/>
                </a:solidFill>
              </a:rPr>
              <a:t>~5 min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78992" y="3236976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Rewrite Pricing Block as Self-Contained Prose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78992" y="3529584"/>
            <a:ext cx="6537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Above the existing price table on the homepage, add the context paragraph from the AI Citability slide. Highest-citability content change on the site.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92608" y="3968496"/>
            <a:ext cx="855878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92608" y="3968496"/>
            <a:ext cx="54864" cy="7315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" y="411480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772400" y="4151376"/>
            <a:ext cx="914400" cy="228600"/>
          </a:xfrm>
          <a:prstGeom prst="rect">
            <a:avLst/>
          </a:prstGeom>
          <a:solidFill>
            <a:srgbClr val="CCFBF1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0" y="415137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7A70"/>
                </a:solidFill>
              </a:rPr>
              <a:t>~45 min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78992" y="4041648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Add 5 FAQ Questions to the Remedial Massage Page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078992" y="4334256"/>
            <a:ext cx="6537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Use FAQ questions from the Schema section as visible H3 headings + paragraph answers, then apply FAQPage JSON-LD. Positions the site for question-form AI queries immediately.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30-Day Action Plan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01168" y="749808"/>
            <a:ext cx="2084832" cy="54864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1168" y="749808"/>
            <a:ext cx="20848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Week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01168" y="100584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EC9"/>
                </a:solidFill>
              </a:rPr>
              <a:t>Days 1–7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1168" y="1298448"/>
            <a:ext cx="2084832" cy="310896"/>
          </a:xfrm>
          <a:prstGeom prst="rect">
            <a:avLst/>
          </a:prstGeom>
          <a:solidFill>
            <a:srgbClr val="F0F9F7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" y="1298448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D40"/>
                </a:solidFill>
              </a:rPr>
              <a:t>Technical Foundation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1168" y="1609344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" y="1773936"/>
            <a:ext cx="36576" cy="18288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" y="1609344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Upload llms.txt to WordPress root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01168" y="2121408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" y="2286000"/>
            <a:ext cx="36576" cy="18288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" y="2121408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Add LocalBusiness + MassageTherapist JSON-LD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01168" y="2633472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" y="2798064"/>
            <a:ext cx="36576" cy="18288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0896" y="2633472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Write meta descriptions for all 16 pages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01168" y="3145536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" y="3310128"/>
            <a:ext cx="36576" cy="18288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0896" y="3145536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Enable Open Graph + Twitter Card in Yoast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01168" y="3657600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168" y="3822192"/>
            <a:ext cx="36576" cy="18288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" y="3657600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Set numeric-slug pages to noindex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01168" y="4169664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1168" y="4334256"/>
            <a:ext cx="36576" cy="182880"/>
          </a:xfrm>
          <a:prstGeom prst="rect">
            <a:avLst/>
          </a:prstGeom>
          <a:solidFill>
            <a:srgbClr val="0F2D40"/>
          </a:solidFill>
          <a:ln w="12700">
            <a:solidFill>
              <a:srgbClr val="0F2D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" y="4169664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Claim / verify Google Business Profile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14016" y="749808"/>
            <a:ext cx="2084832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14016" y="749808"/>
            <a:ext cx="20848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Week 2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414016" y="100584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EC9"/>
                </a:solidFill>
              </a:rPr>
              <a:t>Days 8–14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14016" y="1298448"/>
            <a:ext cx="2084832" cy="310896"/>
          </a:xfrm>
          <a:prstGeom prst="rect">
            <a:avLst/>
          </a:prstGeom>
          <a:solidFill>
            <a:srgbClr val="F0F9F7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468880" y="1298448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9488"/>
                </a:solidFill>
              </a:rPr>
              <a:t>Content &amp; Schema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414016" y="1609344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14016" y="1773936"/>
            <a:ext cx="36576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23744" y="1609344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Remove 'Art Gallery' sections from service page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414016" y="2121408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14016" y="2286000"/>
            <a:ext cx="36576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23744" y="2121408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Add 5-question FAQ to Remedial Massage page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14016" y="2633472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14016" y="2798064"/>
            <a:ext cx="36576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23744" y="2633472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Add FAQPage + Service JSON-LD to service pages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414016" y="3145536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414016" y="3310128"/>
            <a:ext cx="36576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23744" y="3145536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Rewrite homepage pricing block as prose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414016" y="3657600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414016" y="3822192"/>
            <a:ext cx="36576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3744" y="3657600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Upload 10+ photos to Google Business Profile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414016" y="4169664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414016" y="4334256"/>
            <a:ext cx="36576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23744" y="4169664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Expand 'Benefits of Remedial Massage' to 800+ words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626864" y="749808"/>
            <a:ext cx="2084832" cy="54864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26864" y="749808"/>
            <a:ext cx="20848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Week 3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626864" y="100584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EC9"/>
                </a:solidFill>
              </a:rPr>
              <a:t>Days 15–21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26864" y="1298448"/>
            <a:ext cx="2084832" cy="310896"/>
          </a:xfrm>
          <a:prstGeom prst="rect">
            <a:avLst/>
          </a:prstGeom>
          <a:solidFill>
            <a:srgbClr val="F0F9F7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681728" y="1298448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580C"/>
                </a:solidFill>
              </a:rPr>
              <a:t>E-E-A-T &amp; Credentials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626864" y="1609344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26864" y="1773936"/>
            <a:ext cx="36576" cy="1828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36592" y="1609344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Create About page with full therapist bio + headshot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626864" y="2121408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26864" y="2286000"/>
            <a:ext cx="36576" cy="1828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36592" y="2121408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Change post author to therapist's full name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26864" y="2633472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626864" y="2798064"/>
            <a:ext cx="36576" cy="1828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36592" y="2633472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Add author bio block to all content pages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626864" y="3145536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626864" y="3310128"/>
            <a:ext cx="36576" cy="1828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736592" y="3145536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Display qualifications, health fund logos + ABN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626864" y="3657600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626864" y="3822192"/>
            <a:ext cx="36576" cy="1828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736592" y="3657600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Add research citation to at least one blog post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626864" y="4169664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626864" y="4334256"/>
            <a:ext cx="36576" cy="1828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736592" y="4169664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Create Instagram + post first 3 pieces of content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839712" y="749808"/>
            <a:ext cx="2084832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839712" y="749808"/>
            <a:ext cx="20848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Week 4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6839712" y="100584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BEC9"/>
                </a:solidFill>
              </a:rPr>
              <a:t>Days 22–30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839712" y="1298448"/>
            <a:ext cx="2084832" cy="310896"/>
          </a:xfrm>
          <a:prstGeom prst="rect">
            <a:avLst/>
          </a:prstGeom>
          <a:solidFill>
            <a:srgbClr val="F0F9F7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6894576" y="1298448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Brand &amp; Reviews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6839712" y="1609344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839712" y="1773936"/>
            <a:ext cx="36576" cy="182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949440" y="1609344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Launch Google review request campaign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839712" y="2121408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839712" y="2286000"/>
            <a:ext cx="36576" cy="182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49440" y="2121408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Add GBP booking button linked to Fresha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839712" y="2633472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839712" y="2798064"/>
            <a:ext cx="36576" cy="182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949440" y="2633472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Submit to Yellow Pages AU, Yelp AU, TripAdvisor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6839712" y="3145536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839712" y="3310128"/>
            <a:ext cx="36576" cy="182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949440" y="3145536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Begin weekly GBP posts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6839712" y="3657600"/>
            <a:ext cx="2084832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839712" y="3822192"/>
            <a:ext cx="36576" cy="182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949440" y="3657600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Publish 800+ word blog post with Article schema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6839712" y="4169664"/>
            <a:ext cx="2084832" cy="512064"/>
          </a:xfrm>
          <a:prstGeom prst="rect">
            <a:avLst/>
          </a:prstGeom>
          <a:solidFill>
            <a:srgbClr val="F1FE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839712" y="4334256"/>
            <a:ext cx="36576" cy="182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949440" y="4169664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</a:rPr>
              <a:t>Validate all schema in Rich Results Test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2560320"/>
            <a:ext cx="3474720" cy="3474720"/>
          </a:xfrm>
          <a:prstGeom prst="ellipse">
            <a:avLst/>
          </a:prstGeom>
          <a:solidFill>
            <a:srgbClr val="0A3D52">
              <a:alpha val="50000"/>
            </a:srgbClr>
          </a:solidFill>
          <a:ln w="12700">
            <a:solidFill>
              <a:srgbClr val="0A3D52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94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The opportunity is real.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BEC9"/>
                </a:solidFill>
              </a:rPr>
              <a:t>A score of </a:t>
            </a:r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23/100</a:t>
            </a:r>
            <a:pPr indent="0" marL="0">
              <a:buNone/>
            </a:pPr>
            <a:r>
              <a:rPr lang="en-US" sz="1300" dirty="0">
                <a:solidFill>
                  <a:srgbClr val="A0BEC9"/>
                </a:solidFill>
              </a:rPr>
              <a:t> sounds alarming — but this site's low score is almost entirely driven by </a:t>
            </a:r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missing technical configuration and content structure</a:t>
            </a:r>
            <a:pPr indent="0" marL="0">
              <a:buNone/>
            </a:pPr>
            <a:r>
              <a:rPr lang="en-US" sz="1300" dirty="0">
                <a:solidFill>
                  <a:srgbClr val="A0BEC9"/>
                </a:solidFill>
              </a:rPr>
              <a:t>. The underlying business is real: the pricing is transparent, the address is specific, and the clinical knowledge is present in the case studies.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D9488"/>
                </a:solidFill>
              </a:rPr>
              <a:t>Implementing the priority fixes could move the score from 23 to 55–65 within 30 days.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2606040" cy="1691640"/>
          </a:xfrm>
          <a:prstGeom prst="rect">
            <a:avLst/>
          </a:prstGeom>
          <a:solidFill>
            <a:srgbClr val="122D3E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2871216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91640" y="28712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This Week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82219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BEC9"/>
                </a:solidFill>
              </a:rPr>
              <a:t>llms.txt + JSON-LD + Meta Descriptions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456432" y="2834640"/>
            <a:ext cx="2606040" cy="1691640"/>
          </a:xfrm>
          <a:prstGeom prst="rect">
            <a:avLst/>
          </a:prstGeom>
          <a:solidFill>
            <a:srgbClr val="122D3E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7992" y="2871216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07992" y="28712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456432" y="3474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Week 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56432" y="382219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BEC9"/>
                </a:solidFill>
              </a:rPr>
              <a:t>FAQ Content + Schema + GBP Photos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72784" y="2834640"/>
            <a:ext cx="2606040" cy="1691640"/>
          </a:xfrm>
          <a:prstGeom prst="rect">
            <a:avLst/>
          </a:prstGeom>
          <a:solidFill>
            <a:srgbClr val="122D3E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24344" y="2871216"/>
            <a:ext cx="530352" cy="53035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24344" y="28712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272784" y="3474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Week 3–4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72784" y="382219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0BEC9"/>
                </a:solidFill>
              </a:rPr>
              <a:t>Credentials + Reviews + Brand Listings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47548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A7A8A"/>
                </a:solidFill>
              </a:rPr>
              <a:t>GEO Audit Framework  |  Benchmarks: Georgia Tech / Princeton / IIT Delhi 2024  |  brisbaneziniamassage.com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 Audit Report — Brisbane Zinia Massage</dc:title>
  <dc:subject>PptxGenJS Presentation</dc:subject>
  <dc:creator>PptxGenJS</dc:creator>
  <cp:lastModifiedBy>PptxGenJS</cp:lastModifiedBy>
  <cp:revision>1</cp:revision>
  <dcterms:created xsi:type="dcterms:W3CDTF">2026-05-18T14:07:17Z</dcterms:created>
  <dcterms:modified xsi:type="dcterms:W3CDTF">2026-05-18T14:07:17Z</dcterms:modified>
</cp:coreProperties>
</file>